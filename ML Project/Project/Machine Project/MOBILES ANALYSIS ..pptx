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ial Bold" charset="1" panose="020B0802020202020204"/>
      <p:regular r:id="rId22"/>
    </p:embeddedFont>
    <p:embeddedFont>
      <p:font typeface="Arial" charset="1" panose="020B0502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297534"/>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173721" y="6425645"/>
            <a:ext cx="3353748" cy="717442"/>
            <a:chOff x="0" y="0"/>
            <a:chExt cx="1899754" cy="406400"/>
          </a:xfrm>
        </p:grpSpPr>
        <p:sp>
          <p:nvSpPr>
            <p:cNvPr name="Freeform 4" id="4"/>
            <p:cNvSpPr/>
            <p:nvPr/>
          </p:nvSpPr>
          <p:spPr>
            <a:xfrm flipH="false" flipV="false" rot="0">
              <a:off x="0" y="0"/>
              <a:ext cx="1899754" cy="406400"/>
            </a:xfrm>
            <a:custGeom>
              <a:avLst/>
              <a:gdLst/>
              <a:ahLst/>
              <a:cxnLst/>
              <a:rect r="r" b="b" t="t" l="l"/>
              <a:pathLst>
                <a:path h="406400" w="1899754">
                  <a:moveTo>
                    <a:pt x="1696554" y="0"/>
                  </a:moveTo>
                  <a:cubicBezTo>
                    <a:pt x="1808778" y="0"/>
                    <a:pt x="1899754" y="90976"/>
                    <a:pt x="1899754" y="203200"/>
                  </a:cubicBezTo>
                  <a:cubicBezTo>
                    <a:pt x="1899754" y="315424"/>
                    <a:pt x="1808778" y="406400"/>
                    <a:pt x="16965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89975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1383774">
            <a:off x="7565571" y="197405"/>
            <a:ext cx="11226909" cy="14341591"/>
            <a:chOff x="0" y="0"/>
            <a:chExt cx="2956881" cy="3777209"/>
          </a:xfrm>
        </p:grpSpPr>
        <p:sp>
          <p:nvSpPr>
            <p:cNvPr name="Freeform 8" id="8"/>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10" id="10"/>
          <p:cNvGrpSpPr/>
          <p:nvPr/>
        </p:nvGrpSpPr>
        <p:grpSpPr>
          <a:xfrm rot="1383774">
            <a:off x="7012072" y="108644"/>
            <a:ext cx="10773748" cy="14341591"/>
            <a:chOff x="0" y="0"/>
            <a:chExt cx="2837530" cy="3777209"/>
          </a:xfrm>
        </p:grpSpPr>
        <p:sp>
          <p:nvSpPr>
            <p:cNvPr name="Freeform 11" id="11"/>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12" id="12"/>
            <p:cNvSpPr txBox="true"/>
            <p:nvPr/>
          </p:nvSpPr>
          <p:spPr>
            <a:xfrm>
              <a:off x="0" y="28575"/>
              <a:ext cx="2837530" cy="3748634"/>
            </a:xfrm>
            <a:prstGeom prst="rect">
              <a:avLst/>
            </a:prstGeom>
          </p:spPr>
          <p:txBody>
            <a:bodyPr anchor="ctr" rtlCol="false" tIns="50800" lIns="50800" bIns="50800" rIns="50800"/>
            <a:lstStyle/>
            <a:p>
              <a:pPr algn="ctr">
                <a:lnSpc>
                  <a:spcPts val="2267"/>
                </a:lnSpc>
              </a:pPr>
            </a:p>
          </p:txBody>
        </p:sp>
      </p:grpSp>
      <p:grpSp>
        <p:nvGrpSpPr>
          <p:cNvPr name="Group 13" id="13"/>
          <p:cNvGrpSpPr/>
          <p:nvPr/>
        </p:nvGrpSpPr>
        <p:grpSpPr>
          <a:xfrm rot="0">
            <a:off x="15154957" y="756844"/>
            <a:ext cx="2104343" cy="481425"/>
            <a:chOff x="0" y="0"/>
            <a:chExt cx="1776404" cy="406400"/>
          </a:xfrm>
        </p:grpSpPr>
        <p:sp>
          <p:nvSpPr>
            <p:cNvPr name="Freeform 14" id="1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15" id="1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849547" y="3267738"/>
            <a:ext cx="8020952" cy="2954517"/>
          </a:xfrm>
          <a:prstGeom prst="rect">
            <a:avLst/>
          </a:prstGeom>
        </p:spPr>
        <p:txBody>
          <a:bodyPr anchor="t" rtlCol="false" tIns="0" lIns="0" bIns="0" rIns="0">
            <a:spAutoFit/>
          </a:bodyPr>
          <a:lstStyle/>
          <a:p>
            <a:pPr algn="l">
              <a:lnSpc>
                <a:spcPts val="10302"/>
              </a:lnSpc>
            </a:pPr>
            <a:r>
              <a:rPr lang="en-US" sz="11707" spc="-187" b="true">
                <a:solidFill>
                  <a:srgbClr val="FFFFFF"/>
                </a:solidFill>
                <a:latin typeface="Arial Bold"/>
                <a:ea typeface="Arial Bold"/>
                <a:cs typeface="Arial Bold"/>
                <a:sym typeface="Arial Bold"/>
              </a:rPr>
              <a:t> MOBILES</a:t>
            </a:r>
          </a:p>
          <a:p>
            <a:pPr algn="l">
              <a:lnSpc>
                <a:spcPts val="10302"/>
              </a:lnSpc>
            </a:pPr>
            <a:r>
              <a:rPr lang="en-US" sz="11707" spc="-187" b="true">
                <a:solidFill>
                  <a:srgbClr val="FFFFFF"/>
                </a:solidFill>
                <a:latin typeface="Arial Bold"/>
                <a:ea typeface="Arial Bold"/>
                <a:cs typeface="Arial Bold"/>
                <a:sym typeface="Arial Bold"/>
              </a:rPr>
              <a:t>ANALYSIS</a:t>
            </a:r>
          </a:p>
        </p:txBody>
      </p:sp>
      <p:sp>
        <p:nvSpPr>
          <p:cNvPr name="TextBox 17" id="17"/>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8" id="18"/>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9" id="19"/>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20" id="20"/>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21" id="21"/>
          <p:cNvSpPr txBox="true"/>
          <p:nvPr/>
        </p:nvSpPr>
        <p:spPr>
          <a:xfrm rot="0">
            <a:off x="2617728" y="6650330"/>
            <a:ext cx="2587398" cy="363694"/>
          </a:xfrm>
          <a:prstGeom prst="rect">
            <a:avLst/>
          </a:prstGeom>
        </p:spPr>
        <p:txBody>
          <a:bodyPr anchor="t" rtlCol="false" tIns="0" lIns="0" bIns="0" rIns="0">
            <a:spAutoFit/>
          </a:bodyPr>
          <a:lstStyle/>
          <a:p>
            <a:pPr algn="l">
              <a:lnSpc>
                <a:spcPts val="2306"/>
              </a:lnSpc>
            </a:pPr>
            <a:r>
              <a:rPr lang="en-US" sz="2621">
                <a:solidFill>
                  <a:srgbClr val="FFFFFF"/>
                </a:solidFill>
                <a:latin typeface="Arial"/>
                <a:ea typeface="Arial"/>
                <a:cs typeface="Arial"/>
                <a:sym typeface="Arial"/>
              </a:rPr>
              <a:t> ML PROJECT</a:t>
            </a:r>
          </a:p>
        </p:txBody>
      </p:sp>
      <p:sp>
        <p:nvSpPr>
          <p:cNvPr name="AutoShape 22" id="22"/>
          <p:cNvSpPr/>
          <p:nvPr/>
        </p:nvSpPr>
        <p:spPr>
          <a:xfrm>
            <a:off x="8475431" y="5124450"/>
            <a:ext cx="6492240" cy="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4011154">
            <a:off x="14044924" y="1464134"/>
            <a:ext cx="17403374" cy="18180272"/>
            <a:chOff x="0" y="0"/>
            <a:chExt cx="4583605" cy="4788220"/>
          </a:xfrm>
        </p:grpSpPr>
        <p:sp>
          <p:nvSpPr>
            <p:cNvPr name="Freeform 4" id="4"/>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4583605" cy="4769170"/>
            </a:xfrm>
            <a:prstGeom prst="rect">
              <a:avLst/>
            </a:prstGeom>
          </p:spPr>
          <p:txBody>
            <a:bodyPr anchor="ctr" rtlCol="false" tIns="50800" lIns="50800" bIns="50800" rIns="50800"/>
            <a:lstStyle/>
            <a:p>
              <a:pPr algn="ctr">
                <a:lnSpc>
                  <a:spcPts val="1387"/>
                </a:lnSpc>
              </a:pPr>
            </a:p>
          </p:txBody>
        </p:sp>
      </p:grpSp>
      <p:grpSp>
        <p:nvGrpSpPr>
          <p:cNvPr name="Group 6" id="6"/>
          <p:cNvGrpSpPr/>
          <p:nvPr/>
        </p:nvGrpSpPr>
        <p:grpSpPr>
          <a:xfrm rot="0">
            <a:off x="15154957" y="756844"/>
            <a:ext cx="2104343" cy="481425"/>
            <a:chOff x="0" y="0"/>
            <a:chExt cx="1776404" cy="406400"/>
          </a:xfrm>
        </p:grpSpPr>
        <p:sp>
          <p:nvSpPr>
            <p:cNvPr name="Freeform 7" id="7"/>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8" id="8"/>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054482" y="4949018"/>
            <a:ext cx="5784422" cy="3959411"/>
            <a:chOff x="0" y="0"/>
            <a:chExt cx="1523469" cy="1042808"/>
          </a:xfrm>
        </p:grpSpPr>
        <p:sp>
          <p:nvSpPr>
            <p:cNvPr name="Freeform 10" id="10"/>
            <p:cNvSpPr/>
            <p:nvPr/>
          </p:nvSpPr>
          <p:spPr>
            <a:xfrm flipH="false" flipV="false" rot="0">
              <a:off x="0" y="0"/>
              <a:ext cx="1523469" cy="1042808"/>
            </a:xfrm>
            <a:custGeom>
              <a:avLst/>
              <a:gdLst/>
              <a:ahLst/>
              <a:cxnLst/>
              <a:rect r="r" b="b" t="t" l="l"/>
              <a:pathLst>
                <a:path h="1042808" w="1523469">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true">
              <a:gsLst>
                <a:gs pos="0">
                  <a:srgbClr val="141519">
                    <a:alpha val="0"/>
                  </a:srgbClr>
                </a:gs>
                <a:gs pos="100000">
                  <a:srgbClr val="141519">
                    <a:alpha val="57000"/>
                  </a:srgbClr>
                </a:gs>
              </a:gsLst>
              <a:lin ang="5400000"/>
            </a:gradFill>
          </p:spPr>
        </p:sp>
        <p:sp>
          <p:nvSpPr>
            <p:cNvPr name="TextBox 11" id="11"/>
            <p:cNvSpPr txBox="true"/>
            <p:nvPr/>
          </p:nvSpPr>
          <p:spPr>
            <a:xfrm>
              <a:off x="0" y="19050"/>
              <a:ext cx="1523469" cy="1023758"/>
            </a:xfrm>
            <a:prstGeom prst="rect">
              <a:avLst/>
            </a:prstGeom>
          </p:spPr>
          <p:txBody>
            <a:bodyPr anchor="ctr" rtlCol="false" tIns="50800" lIns="50800" bIns="50800" rIns="50800"/>
            <a:lstStyle/>
            <a:p>
              <a:pPr algn="ctr">
                <a:lnSpc>
                  <a:spcPts val="1387"/>
                </a:lnSpc>
              </a:pPr>
            </a:p>
          </p:txBody>
        </p:sp>
      </p:grpSp>
      <p:grpSp>
        <p:nvGrpSpPr>
          <p:cNvPr name="Group 12" id="12"/>
          <p:cNvGrpSpPr/>
          <p:nvPr/>
        </p:nvGrpSpPr>
        <p:grpSpPr>
          <a:xfrm rot="0">
            <a:off x="5150661" y="756844"/>
            <a:ext cx="5590013" cy="1286859"/>
            <a:chOff x="0" y="0"/>
            <a:chExt cx="1458234" cy="335695"/>
          </a:xfrm>
        </p:grpSpPr>
        <p:sp>
          <p:nvSpPr>
            <p:cNvPr name="Freeform 13" id="13"/>
            <p:cNvSpPr/>
            <p:nvPr/>
          </p:nvSpPr>
          <p:spPr>
            <a:xfrm flipH="false" flipV="false" rot="0">
              <a:off x="0" y="0"/>
              <a:ext cx="1458234" cy="335695"/>
            </a:xfrm>
            <a:custGeom>
              <a:avLst/>
              <a:gdLst/>
              <a:ahLst/>
              <a:cxnLst/>
              <a:rect r="r" b="b" t="t" l="l"/>
              <a:pathLst>
                <a:path h="335695" w="1458234">
                  <a:moveTo>
                    <a:pt x="29084" y="0"/>
                  </a:moveTo>
                  <a:lnTo>
                    <a:pt x="1429150" y="0"/>
                  </a:lnTo>
                  <a:cubicBezTo>
                    <a:pt x="1445213" y="0"/>
                    <a:pt x="1458234" y="13021"/>
                    <a:pt x="1458234" y="29084"/>
                  </a:cubicBezTo>
                  <a:lnTo>
                    <a:pt x="1458234" y="306611"/>
                  </a:lnTo>
                  <a:cubicBezTo>
                    <a:pt x="1458234" y="322674"/>
                    <a:pt x="1445213" y="335695"/>
                    <a:pt x="1429150" y="335695"/>
                  </a:cubicBezTo>
                  <a:lnTo>
                    <a:pt x="29084" y="335695"/>
                  </a:lnTo>
                  <a:cubicBezTo>
                    <a:pt x="13021" y="335695"/>
                    <a:pt x="0" y="322674"/>
                    <a:pt x="0" y="306611"/>
                  </a:cubicBezTo>
                  <a:lnTo>
                    <a:pt x="0" y="29084"/>
                  </a:lnTo>
                  <a:cubicBezTo>
                    <a:pt x="0" y="13021"/>
                    <a:pt x="13021" y="0"/>
                    <a:pt x="29084" y="0"/>
                  </a:cubicBezTo>
                  <a:close/>
                </a:path>
              </a:pathLst>
            </a:custGeom>
            <a:solidFill>
              <a:srgbClr val="202127"/>
            </a:solidFill>
          </p:spPr>
        </p:sp>
        <p:sp>
          <p:nvSpPr>
            <p:cNvPr name="TextBox 14" id="14"/>
            <p:cNvSpPr txBox="true"/>
            <p:nvPr/>
          </p:nvSpPr>
          <p:spPr>
            <a:xfrm>
              <a:off x="0" y="19050"/>
              <a:ext cx="1458234" cy="316645"/>
            </a:xfrm>
            <a:prstGeom prst="rect">
              <a:avLst/>
            </a:prstGeom>
          </p:spPr>
          <p:txBody>
            <a:bodyPr anchor="ctr" rtlCol="false" tIns="50800" lIns="50800" bIns="50800" rIns="50800"/>
            <a:lstStyle/>
            <a:p>
              <a:pPr algn="ctr">
                <a:lnSpc>
                  <a:spcPts val="1387"/>
                </a:lnSpc>
              </a:pPr>
            </a:p>
          </p:txBody>
        </p:sp>
      </p:grpSp>
      <p:grpSp>
        <p:nvGrpSpPr>
          <p:cNvPr name="Group 15" id="15"/>
          <p:cNvGrpSpPr/>
          <p:nvPr/>
        </p:nvGrpSpPr>
        <p:grpSpPr>
          <a:xfrm rot="0">
            <a:off x="9339229" y="2176688"/>
            <a:ext cx="5290615" cy="1146409"/>
            <a:chOff x="0" y="0"/>
            <a:chExt cx="1380132" cy="299057"/>
          </a:xfrm>
        </p:grpSpPr>
        <p:sp>
          <p:nvSpPr>
            <p:cNvPr name="Freeform 16" id="16"/>
            <p:cNvSpPr/>
            <p:nvPr/>
          </p:nvSpPr>
          <p:spPr>
            <a:xfrm flipH="false" flipV="false" rot="0">
              <a:off x="0" y="0"/>
              <a:ext cx="1380132" cy="299057"/>
            </a:xfrm>
            <a:custGeom>
              <a:avLst/>
              <a:gdLst/>
              <a:ahLst/>
              <a:cxnLst/>
              <a:rect r="r" b="b" t="t" l="l"/>
              <a:pathLst>
                <a:path h="299057" w="1380132">
                  <a:moveTo>
                    <a:pt x="30730" y="0"/>
                  </a:moveTo>
                  <a:lnTo>
                    <a:pt x="1349402" y="0"/>
                  </a:lnTo>
                  <a:cubicBezTo>
                    <a:pt x="1357552" y="0"/>
                    <a:pt x="1365368" y="3238"/>
                    <a:pt x="1371131" y="9001"/>
                  </a:cubicBezTo>
                  <a:cubicBezTo>
                    <a:pt x="1376894" y="14764"/>
                    <a:pt x="1380132" y="22580"/>
                    <a:pt x="1380132" y="30730"/>
                  </a:cubicBezTo>
                  <a:lnTo>
                    <a:pt x="1380132" y="268327"/>
                  </a:lnTo>
                  <a:cubicBezTo>
                    <a:pt x="1380132" y="285299"/>
                    <a:pt x="1366374" y="299057"/>
                    <a:pt x="1349402" y="299057"/>
                  </a:cubicBezTo>
                  <a:lnTo>
                    <a:pt x="30730" y="299057"/>
                  </a:lnTo>
                  <a:cubicBezTo>
                    <a:pt x="13758" y="299057"/>
                    <a:pt x="0" y="285299"/>
                    <a:pt x="0" y="268327"/>
                  </a:cubicBezTo>
                  <a:lnTo>
                    <a:pt x="0" y="30730"/>
                  </a:lnTo>
                  <a:cubicBezTo>
                    <a:pt x="0" y="13758"/>
                    <a:pt x="13758" y="0"/>
                    <a:pt x="30730" y="0"/>
                  </a:cubicBezTo>
                  <a:close/>
                </a:path>
              </a:pathLst>
            </a:custGeom>
            <a:solidFill>
              <a:srgbClr val="202127"/>
            </a:solidFill>
          </p:spPr>
        </p:sp>
        <p:sp>
          <p:nvSpPr>
            <p:cNvPr name="TextBox 17" id="17"/>
            <p:cNvSpPr txBox="true"/>
            <p:nvPr/>
          </p:nvSpPr>
          <p:spPr>
            <a:xfrm>
              <a:off x="0" y="19050"/>
              <a:ext cx="1380132" cy="280007"/>
            </a:xfrm>
            <a:prstGeom prst="rect">
              <a:avLst/>
            </a:prstGeom>
          </p:spPr>
          <p:txBody>
            <a:bodyPr anchor="ctr" rtlCol="false" tIns="50800" lIns="50800" bIns="50800" rIns="50800"/>
            <a:lstStyle/>
            <a:p>
              <a:pPr algn="ctr">
                <a:lnSpc>
                  <a:spcPts val="1387"/>
                </a:lnSpc>
              </a:pPr>
            </a:p>
          </p:txBody>
        </p:sp>
      </p:grpSp>
      <p:grpSp>
        <p:nvGrpSpPr>
          <p:cNvPr name="Group 18" id="18"/>
          <p:cNvGrpSpPr/>
          <p:nvPr/>
        </p:nvGrpSpPr>
        <p:grpSpPr>
          <a:xfrm rot="0">
            <a:off x="5322691" y="3569803"/>
            <a:ext cx="5589465" cy="1188332"/>
            <a:chOff x="0" y="0"/>
            <a:chExt cx="1458091" cy="309993"/>
          </a:xfrm>
        </p:grpSpPr>
        <p:sp>
          <p:nvSpPr>
            <p:cNvPr name="Freeform 19" id="19"/>
            <p:cNvSpPr/>
            <p:nvPr/>
          </p:nvSpPr>
          <p:spPr>
            <a:xfrm flipH="false" flipV="false" rot="0">
              <a:off x="0" y="0"/>
              <a:ext cx="1458091" cy="309993"/>
            </a:xfrm>
            <a:custGeom>
              <a:avLst/>
              <a:gdLst/>
              <a:ahLst/>
              <a:cxnLst/>
              <a:rect r="r" b="b" t="t" l="l"/>
              <a:pathLst>
                <a:path h="309993" w="1458091">
                  <a:moveTo>
                    <a:pt x="29087" y="0"/>
                  </a:moveTo>
                  <a:lnTo>
                    <a:pt x="1429005" y="0"/>
                  </a:lnTo>
                  <a:cubicBezTo>
                    <a:pt x="1445069" y="0"/>
                    <a:pt x="1458091" y="13023"/>
                    <a:pt x="1458091" y="29087"/>
                  </a:cubicBezTo>
                  <a:lnTo>
                    <a:pt x="1458091" y="280906"/>
                  </a:lnTo>
                  <a:cubicBezTo>
                    <a:pt x="1458091" y="296971"/>
                    <a:pt x="1445069" y="309993"/>
                    <a:pt x="1429005" y="309993"/>
                  </a:cubicBezTo>
                  <a:lnTo>
                    <a:pt x="29087" y="309993"/>
                  </a:lnTo>
                  <a:cubicBezTo>
                    <a:pt x="13023" y="309993"/>
                    <a:pt x="0" y="296971"/>
                    <a:pt x="0" y="280906"/>
                  </a:cubicBezTo>
                  <a:lnTo>
                    <a:pt x="0" y="29087"/>
                  </a:lnTo>
                  <a:cubicBezTo>
                    <a:pt x="0" y="13023"/>
                    <a:pt x="13023" y="0"/>
                    <a:pt x="29087" y="0"/>
                  </a:cubicBezTo>
                  <a:close/>
                </a:path>
              </a:pathLst>
            </a:custGeom>
            <a:solidFill>
              <a:srgbClr val="202127"/>
            </a:solidFill>
          </p:spPr>
        </p:sp>
        <p:sp>
          <p:nvSpPr>
            <p:cNvPr name="TextBox 20" id="20"/>
            <p:cNvSpPr txBox="true"/>
            <p:nvPr/>
          </p:nvSpPr>
          <p:spPr>
            <a:xfrm>
              <a:off x="0" y="19050"/>
              <a:ext cx="1458091" cy="290943"/>
            </a:xfrm>
            <a:prstGeom prst="rect">
              <a:avLst/>
            </a:prstGeom>
          </p:spPr>
          <p:txBody>
            <a:bodyPr anchor="ctr" rtlCol="false" tIns="50800" lIns="50800" bIns="50800" rIns="50800"/>
            <a:lstStyle/>
            <a:p>
              <a:pPr algn="ctr">
                <a:lnSpc>
                  <a:spcPts val="1387"/>
                </a:lnSpc>
              </a:pPr>
            </a:p>
          </p:txBody>
        </p:sp>
      </p:grpSp>
      <p:grpSp>
        <p:nvGrpSpPr>
          <p:cNvPr name="Group 21" id="21"/>
          <p:cNvGrpSpPr/>
          <p:nvPr/>
        </p:nvGrpSpPr>
        <p:grpSpPr>
          <a:xfrm rot="0">
            <a:off x="11440081" y="4617938"/>
            <a:ext cx="5485844" cy="1191321"/>
            <a:chOff x="0" y="0"/>
            <a:chExt cx="1431060" cy="310773"/>
          </a:xfrm>
        </p:grpSpPr>
        <p:sp>
          <p:nvSpPr>
            <p:cNvPr name="Freeform 22" id="22"/>
            <p:cNvSpPr/>
            <p:nvPr/>
          </p:nvSpPr>
          <p:spPr>
            <a:xfrm flipH="false" flipV="false" rot="0">
              <a:off x="0" y="0"/>
              <a:ext cx="1431060" cy="310773"/>
            </a:xfrm>
            <a:custGeom>
              <a:avLst/>
              <a:gdLst/>
              <a:ahLst/>
              <a:cxnLst/>
              <a:rect r="r" b="b" t="t" l="l"/>
              <a:pathLst>
                <a:path h="310773" w="1431060">
                  <a:moveTo>
                    <a:pt x="29636" y="0"/>
                  </a:moveTo>
                  <a:lnTo>
                    <a:pt x="1401424" y="0"/>
                  </a:lnTo>
                  <a:cubicBezTo>
                    <a:pt x="1417792" y="0"/>
                    <a:pt x="1431060" y="13269"/>
                    <a:pt x="1431060" y="29636"/>
                  </a:cubicBezTo>
                  <a:lnTo>
                    <a:pt x="1431060" y="281137"/>
                  </a:lnTo>
                  <a:cubicBezTo>
                    <a:pt x="1431060" y="288997"/>
                    <a:pt x="1427938" y="296535"/>
                    <a:pt x="1422380" y="302093"/>
                  </a:cubicBezTo>
                  <a:cubicBezTo>
                    <a:pt x="1416822" y="307651"/>
                    <a:pt x="1409284" y="310773"/>
                    <a:pt x="1401424" y="310773"/>
                  </a:cubicBezTo>
                  <a:lnTo>
                    <a:pt x="29636" y="310773"/>
                  </a:lnTo>
                  <a:cubicBezTo>
                    <a:pt x="21776" y="310773"/>
                    <a:pt x="14238" y="307651"/>
                    <a:pt x="8680" y="302093"/>
                  </a:cubicBezTo>
                  <a:cubicBezTo>
                    <a:pt x="3122" y="296535"/>
                    <a:pt x="0" y="288997"/>
                    <a:pt x="0" y="281137"/>
                  </a:cubicBezTo>
                  <a:lnTo>
                    <a:pt x="0" y="29636"/>
                  </a:lnTo>
                  <a:cubicBezTo>
                    <a:pt x="0" y="21776"/>
                    <a:pt x="3122" y="14238"/>
                    <a:pt x="8680" y="8680"/>
                  </a:cubicBezTo>
                  <a:cubicBezTo>
                    <a:pt x="14238" y="3122"/>
                    <a:pt x="21776" y="0"/>
                    <a:pt x="29636" y="0"/>
                  </a:cubicBezTo>
                  <a:close/>
                </a:path>
              </a:pathLst>
            </a:custGeom>
            <a:solidFill>
              <a:srgbClr val="202127"/>
            </a:solidFill>
          </p:spPr>
        </p:sp>
        <p:sp>
          <p:nvSpPr>
            <p:cNvPr name="TextBox 23" id="23"/>
            <p:cNvSpPr txBox="true"/>
            <p:nvPr/>
          </p:nvSpPr>
          <p:spPr>
            <a:xfrm>
              <a:off x="0" y="19050"/>
              <a:ext cx="1431060" cy="291723"/>
            </a:xfrm>
            <a:prstGeom prst="rect">
              <a:avLst/>
            </a:prstGeom>
          </p:spPr>
          <p:txBody>
            <a:bodyPr anchor="ctr" rtlCol="false" tIns="50800" lIns="50800" bIns="50800" rIns="50800"/>
            <a:lstStyle/>
            <a:p>
              <a:pPr algn="ctr">
                <a:lnSpc>
                  <a:spcPts val="1387"/>
                </a:lnSpc>
              </a:pPr>
            </a:p>
          </p:txBody>
        </p:sp>
      </p:grpSp>
      <p:grpSp>
        <p:nvGrpSpPr>
          <p:cNvPr name="Group 24" id="24"/>
          <p:cNvGrpSpPr/>
          <p:nvPr/>
        </p:nvGrpSpPr>
        <p:grpSpPr>
          <a:xfrm rot="0">
            <a:off x="5747939" y="5809260"/>
            <a:ext cx="5709388" cy="1346724"/>
            <a:chOff x="0" y="0"/>
            <a:chExt cx="1489375" cy="351312"/>
          </a:xfrm>
        </p:grpSpPr>
        <p:sp>
          <p:nvSpPr>
            <p:cNvPr name="Freeform 25" id="25"/>
            <p:cNvSpPr/>
            <p:nvPr/>
          </p:nvSpPr>
          <p:spPr>
            <a:xfrm flipH="false" flipV="false" rot="0">
              <a:off x="0" y="0"/>
              <a:ext cx="1489375" cy="351312"/>
            </a:xfrm>
            <a:custGeom>
              <a:avLst/>
              <a:gdLst/>
              <a:ahLst/>
              <a:cxnLst/>
              <a:rect r="r" b="b" t="t" l="l"/>
              <a:pathLst>
                <a:path h="351312" w="1489375">
                  <a:moveTo>
                    <a:pt x="28476" y="0"/>
                  </a:moveTo>
                  <a:lnTo>
                    <a:pt x="1460899" y="0"/>
                  </a:lnTo>
                  <a:cubicBezTo>
                    <a:pt x="1468451" y="0"/>
                    <a:pt x="1475694" y="3000"/>
                    <a:pt x="1481035" y="8340"/>
                  </a:cubicBezTo>
                  <a:cubicBezTo>
                    <a:pt x="1486375" y="13681"/>
                    <a:pt x="1489375" y="20924"/>
                    <a:pt x="1489375" y="28476"/>
                  </a:cubicBezTo>
                  <a:lnTo>
                    <a:pt x="1489375" y="322836"/>
                  </a:lnTo>
                  <a:cubicBezTo>
                    <a:pt x="1489375" y="330388"/>
                    <a:pt x="1486375" y="337631"/>
                    <a:pt x="1481035" y="342972"/>
                  </a:cubicBezTo>
                  <a:cubicBezTo>
                    <a:pt x="1475694" y="348312"/>
                    <a:pt x="1468451" y="351312"/>
                    <a:pt x="1460899" y="351312"/>
                  </a:cubicBezTo>
                  <a:lnTo>
                    <a:pt x="28476" y="351312"/>
                  </a:lnTo>
                  <a:cubicBezTo>
                    <a:pt x="20924" y="351312"/>
                    <a:pt x="13681" y="348312"/>
                    <a:pt x="8340" y="342972"/>
                  </a:cubicBezTo>
                  <a:cubicBezTo>
                    <a:pt x="3000" y="337631"/>
                    <a:pt x="0" y="330388"/>
                    <a:pt x="0" y="322836"/>
                  </a:cubicBezTo>
                  <a:lnTo>
                    <a:pt x="0" y="28476"/>
                  </a:lnTo>
                  <a:cubicBezTo>
                    <a:pt x="0" y="20924"/>
                    <a:pt x="3000" y="13681"/>
                    <a:pt x="8340" y="8340"/>
                  </a:cubicBezTo>
                  <a:cubicBezTo>
                    <a:pt x="13681" y="3000"/>
                    <a:pt x="20924" y="0"/>
                    <a:pt x="28476" y="0"/>
                  </a:cubicBezTo>
                  <a:close/>
                </a:path>
              </a:pathLst>
            </a:custGeom>
            <a:solidFill>
              <a:srgbClr val="202127"/>
            </a:solidFill>
          </p:spPr>
        </p:sp>
        <p:sp>
          <p:nvSpPr>
            <p:cNvPr name="TextBox 26" id="26"/>
            <p:cNvSpPr txBox="true"/>
            <p:nvPr/>
          </p:nvSpPr>
          <p:spPr>
            <a:xfrm>
              <a:off x="0" y="19050"/>
              <a:ext cx="1489375" cy="332262"/>
            </a:xfrm>
            <a:prstGeom prst="rect">
              <a:avLst/>
            </a:prstGeom>
          </p:spPr>
          <p:txBody>
            <a:bodyPr anchor="ctr" rtlCol="false" tIns="50800" lIns="50800" bIns="50800" rIns="50800"/>
            <a:lstStyle/>
            <a:p>
              <a:pPr algn="ctr">
                <a:lnSpc>
                  <a:spcPts val="1387"/>
                </a:lnSpc>
              </a:pPr>
            </a:p>
          </p:txBody>
        </p:sp>
      </p:grpSp>
      <p:grpSp>
        <p:nvGrpSpPr>
          <p:cNvPr name="Group 27" id="27"/>
          <p:cNvGrpSpPr/>
          <p:nvPr/>
        </p:nvGrpSpPr>
        <p:grpSpPr>
          <a:xfrm rot="0">
            <a:off x="9784451" y="7383207"/>
            <a:ext cx="5640111" cy="1201353"/>
            <a:chOff x="0" y="0"/>
            <a:chExt cx="1471303" cy="313390"/>
          </a:xfrm>
        </p:grpSpPr>
        <p:sp>
          <p:nvSpPr>
            <p:cNvPr name="Freeform 28" id="28"/>
            <p:cNvSpPr/>
            <p:nvPr/>
          </p:nvSpPr>
          <p:spPr>
            <a:xfrm flipH="false" flipV="false" rot="0">
              <a:off x="0" y="0"/>
              <a:ext cx="1471303" cy="313390"/>
            </a:xfrm>
            <a:custGeom>
              <a:avLst/>
              <a:gdLst/>
              <a:ahLst/>
              <a:cxnLst/>
              <a:rect r="r" b="b" t="t" l="l"/>
              <a:pathLst>
                <a:path h="313390" w="1471303">
                  <a:moveTo>
                    <a:pt x="28826" y="0"/>
                  </a:moveTo>
                  <a:lnTo>
                    <a:pt x="1442477" y="0"/>
                  </a:lnTo>
                  <a:cubicBezTo>
                    <a:pt x="1458397" y="0"/>
                    <a:pt x="1471303" y="12906"/>
                    <a:pt x="1471303" y="28826"/>
                  </a:cubicBezTo>
                  <a:lnTo>
                    <a:pt x="1471303" y="284564"/>
                  </a:lnTo>
                  <a:cubicBezTo>
                    <a:pt x="1471303" y="292209"/>
                    <a:pt x="1468266" y="299541"/>
                    <a:pt x="1462860" y="304947"/>
                  </a:cubicBezTo>
                  <a:cubicBezTo>
                    <a:pt x="1457454" y="310353"/>
                    <a:pt x="1450122" y="313390"/>
                    <a:pt x="1442477" y="313390"/>
                  </a:cubicBezTo>
                  <a:lnTo>
                    <a:pt x="28826" y="313390"/>
                  </a:lnTo>
                  <a:cubicBezTo>
                    <a:pt x="12906" y="313390"/>
                    <a:pt x="0" y="300484"/>
                    <a:pt x="0" y="284564"/>
                  </a:cubicBezTo>
                  <a:lnTo>
                    <a:pt x="0" y="28826"/>
                  </a:lnTo>
                  <a:cubicBezTo>
                    <a:pt x="0" y="21181"/>
                    <a:pt x="3037" y="13849"/>
                    <a:pt x="8443" y="8443"/>
                  </a:cubicBezTo>
                  <a:cubicBezTo>
                    <a:pt x="13849" y="3037"/>
                    <a:pt x="21181" y="0"/>
                    <a:pt x="28826" y="0"/>
                  </a:cubicBezTo>
                  <a:close/>
                </a:path>
              </a:pathLst>
            </a:custGeom>
            <a:solidFill>
              <a:srgbClr val="202127"/>
            </a:solidFill>
          </p:spPr>
        </p:sp>
        <p:sp>
          <p:nvSpPr>
            <p:cNvPr name="TextBox 29" id="29"/>
            <p:cNvSpPr txBox="true"/>
            <p:nvPr/>
          </p:nvSpPr>
          <p:spPr>
            <a:xfrm>
              <a:off x="0" y="19050"/>
              <a:ext cx="1471303" cy="294340"/>
            </a:xfrm>
            <a:prstGeom prst="rect">
              <a:avLst/>
            </a:prstGeom>
          </p:spPr>
          <p:txBody>
            <a:bodyPr anchor="ctr" rtlCol="false" tIns="50800" lIns="50800" bIns="50800" rIns="50800"/>
            <a:lstStyle/>
            <a:p>
              <a:pPr algn="ctr">
                <a:lnSpc>
                  <a:spcPts val="1387"/>
                </a:lnSpc>
              </a:pPr>
            </a:p>
          </p:txBody>
        </p:sp>
      </p:grpSp>
      <p:sp>
        <p:nvSpPr>
          <p:cNvPr name="TextBox 30" id="30"/>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31" id="31"/>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32" id="32"/>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33" id="33"/>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34" id="34"/>
          <p:cNvSpPr txBox="true"/>
          <p:nvPr/>
        </p:nvSpPr>
        <p:spPr>
          <a:xfrm rot="0">
            <a:off x="5267202" y="864849"/>
            <a:ext cx="3755577" cy="1393607"/>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 Mahmoud Ashery   Mahmoud</a:t>
            </a:r>
          </a:p>
          <a:p>
            <a:pPr algn="l">
              <a:lnSpc>
                <a:spcPts val="1793"/>
              </a:lnSpc>
            </a:pPr>
          </a:p>
          <a:p>
            <a:pPr algn="l">
              <a:lnSpc>
                <a:spcPts val="1793"/>
              </a:lnSpc>
            </a:pPr>
            <a:r>
              <a:rPr lang="en-US" sz="2037">
                <a:solidFill>
                  <a:srgbClr val="FFFFFF"/>
                </a:solidFill>
                <a:latin typeface="Arial"/>
                <a:ea typeface="Arial"/>
                <a:cs typeface="Arial"/>
                <a:sym typeface="Arial"/>
              </a:rPr>
              <a:t>2302594</a:t>
            </a:r>
          </a:p>
          <a:p>
            <a:pPr algn="l">
              <a:lnSpc>
                <a:spcPts val="1793"/>
              </a:lnSpc>
            </a:pPr>
          </a:p>
          <a:p>
            <a:pPr algn="l">
              <a:lnSpc>
                <a:spcPts val="1793"/>
              </a:lnSpc>
            </a:pPr>
            <a:r>
              <a:rPr lang="en-US" sz="2037">
                <a:solidFill>
                  <a:srgbClr val="FFFFFF"/>
                </a:solidFill>
                <a:latin typeface="Arial"/>
                <a:ea typeface="Arial"/>
                <a:cs typeface="Arial"/>
                <a:sym typeface="Arial"/>
              </a:rPr>
              <a:t>Section 8</a:t>
            </a:r>
          </a:p>
          <a:p>
            <a:pPr algn="l">
              <a:lnSpc>
                <a:spcPts val="1793"/>
              </a:lnSpc>
            </a:pPr>
          </a:p>
        </p:txBody>
      </p:sp>
      <p:sp>
        <p:nvSpPr>
          <p:cNvPr name="TextBox 35" id="35"/>
          <p:cNvSpPr txBox="true"/>
          <p:nvPr/>
        </p:nvSpPr>
        <p:spPr>
          <a:xfrm rot="0">
            <a:off x="9545109" y="2230295"/>
            <a:ext cx="3733891" cy="1171966"/>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 Moaz Mohamed Mahmoud</a:t>
            </a:r>
          </a:p>
          <a:p>
            <a:pPr algn="l">
              <a:lnSpc>
                <a:spcPts val="1793"/>
              </a:lnSpc>
            </a:pPr>
          </a:p>
          <a:p>
            <a:pPr algn="l">
              <a:lnSpc>
                <a:spcPts val="1793"/>
              </a:lnSpc>
            </a:pPr>
            <a:r>
              <a:rPr lang="en-US" sz="2037">
                <a:solidFill>
                  <a:srgbClr val="FFFFFF"/>
                </a:solidFill>
                <a:latin typeface="Arial"/>
                <a:ea typeface="Arial"/>
                <a:cs typeface="Arial"/>
                <a:sym typeface="Arial"/>
              </a:rPr>
              <a:t>2302596</a:t>
            </a:r>
          </a:p>
          <a:p>
            <a:pPr algn="l">
              <a:lnSpc>
                <a:spcPts val="1793"/>
              </a:lnSpc>
            </a:pPr>
          </a:p>
          <a:p>
            <a:pPr algn="l">
              <a:lnSpc>
                <a:spcPts val="1793"/>
              </a:lnSpc>
            </a:pPr>
            <a:r>
              <a:rPr lang="en-US" sz="2037">
                <a:solidFill>
                  <a:srgbClr val="FFFFFF"/>
                </a:solidFill>
                <a:latin typeface="Arial"/>
                <a:ea typeface="Arial"/>
                <a:cs typeface="Arial"/>
                <a:sym typeface="Arial"/>
              </a:rPr>
              <a:t>Section 8</a:t>
            </a:r>
          </a:p>
        </p:txBody>
      </p:sp>
      <p:sp>
        <p:nvSpPr>
          <p:cNvPr name="TextBox 36" id="36"/>
          <p:cNvSpPr txBox="true"/>
          <p:nvPr/>
        </p:nvSpPr>
        <p:spPr>
          <a:xfrm rot="0">
            <a:off x="1028700" y="2928931"/>
            <a:ext cx="4238502" cy="3465949"/>
          </a:xfrm>
          <a:prstGeom prst="rect">
            <a:avLst/>
          </a:prstGeom>
        </p:spPr>
        <p:txBody>
          <a:bodyPr anchor="t" rtlCol="false" tIns="0" lIns="0" bIns="0" rIns="0">
            <a:spAutoFit/>
          </a:bodyPr>
          <a:lstStyle/>
          <a:p>
            <a:pPr algn="l">
              <a:lnSpc>
                <a:spcPts val="6406"/>
              </a:lnSpc>
            </a:pPr>
            <a:r>
              <a:rPr lang="en-US" sz="7280" spc="-116" b="true">
                <a:solidFill>
                  <a:srgbClr val="27DDDF"/>
                </a:solidFill>
                <a:latin typeface="Arial Bold"/>
                <a:ea typeface="Arial Bold"/>
                <a:cs typeface="Arial Bold"/>
                <a:sym typeface="Arial Bold"/>
              </a:rPr>
              <a:t>This </a:t>
            </a:r>
          </a:p>
          <a:p>
            <a:pPr algn="l">
              <a:lnSpc>
                <a:spcPts val="6406"/>
              </a:lnSpc>
            </a:pPr>
            <a:r>
              <a:rPr lang="en-US" sz="7280" spc="-116" b="true">
                <a:solidFill>
                  <a:srgbClr val="27DDDF"/>
                </a:solidFill>
                <a:latin typeface="Arial Bold"/>
                <a:ea typeface="Arial Bold"/>
                <a:cs typeface="Arial Bold"/>
                <a:sym typeface="Arial Bold"/>
              </a:rPr>
              <a:t>Project</a:t>
            </a:r>
          </a:p>
          <a:p>
            <a:pPr algn="l">
              <a:lnSpc>
                <a:spcPts val="6406"/>
              </a:lnSpc>
            </a:pPr>
            <a:r>
              <a:rPr lang="en-US" sz="7280" spc="-116" b="true">
                <a:solidFill>
                  <a:srgbClr val="27DDDF"/>
                </a:solidFill>
                <a:latin typeface="Arial Bold"/>
                <a:ea typeface="Arial Bold"/>
                <a:cs typeface="Arial Bold"/>
                <a:sym typeface="Arial Bold"/>
              </a:rPr>
              <a:t>Created </a:t>
            </a:r>
          </a:p>
          <a:p>
            <a:pPr algn="l">
              <a:lnSpc>
                <a:spcPts val="6406"/>
              </a:lnSpc>
            </a:pPr>
            <a:r>
              <a:rPr lang="en-US" sz="7280" spc="-116" b="true">
                <a:solidFill>
                  <a:srgbClr val="27DDDF"/>
                </a:solidFill>
                <a:latin typeface="Arial Bold"/>
                <a:ea typeface="Arial Bold"/>
                <a:cs typeface="Arial Bold"/>
                <a:sym typeface="Arial Bold"/>
              </a:rPr>
              <a:t>By:</a:t>
            </a:r>
          </a:p>
        </p:txBody>
      </p:sp>
      <p:sp>
        <p:nvSpPr>
          <p:cNvPr name="TextBox 37" id="37"/>
          <p:cNvSpPr txBox="true"/>
          <p:nvPr/>
        </p:nvSpPr>
        <p:spPr>
          <a:xfrm rot="0">
            <a:off x="5645703" y="3641908"/>
            <a:ext cx="3899406" cy="1171966"/>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 Sohila  Abdelnasser Mohamed</a:t>
            </a:r>
          </a:p>
          <a:p>
            <a:pPr algn="l">
              <a:lnSpc>
                <a:spcPts val="1793"/>
              </a:lnSpc>
            </a:pPr>
          </a:p>
          <a:p>
            <a:pPr algn="l">
              <a:lnSpc>
                <a:spcPts val="1793"/>
              </a:lnSpc>
            </a:pPr>
            <a:r>
              <a:rPr lang="en-US" sz="2037">
                <a:solidFill>
                  <a:srgbClr val="FFFFFF"/>
                </a:solidFill>
                <a:latin typeface="Arial"/>
                <a:ea typeface="Arial"/>
                <a:cs typeface="Arial"/>
                <a:sym typeface="Arial"/>
              </a:rPr>
              <a:t>2300255</a:t>
            </a:r>
          </a:p>
          <a:p>
            <a:pPr algn="l">
              <a:lnSpc>
                <a:spcPts val="1793"/>
              </a:lnSpc>
            </a:pPr>
          </a:p>
          <a:p>
            <a:pPr algn="l">
              <a:lnSpc>
                <a:spcPts val="1793"/>
              </a:lnSpc>
            </a:pPr>
            <a:r>
              <a:rPr lang="en-US" sz="2037">
                <a:solidFill>
                  <a:srgbClr val="FFFFFF"/>
                </a:solidFill>
                <a:latin typeface="Arial"/>
                <a:ea typeface="Arial"/>
                <a:cs typeface="Arial"/>
                <a:sym typeface="Arial"/>
              </a:rPr>
              <a:t>Section 2</a:t>
            </a:r>
          </a:p>
        </p:txBody>
      </p:sp>
      <p:sp>
        <p:nvSpPr>
          <p:cNvPr name="TextBox 38" id="38"/>
          <p:cNvSpPr txBox="true"/>
          <p:nvPr/>
        </p:nvSpPr>
        <p:spPr>
          <a:xfrm rot="0">
            <a:off x="11634829" y="4730504"/>
            <a:ext cx="3088392" cy="1171966"/>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 Alyaa Hesham Ismail</a:t>
            </a:r>
          </a:p>
          <a:p>
            <a:pPr algn="l">
              <a:lnSpc>
                <a:spcPts val="1793"/>
              </a:lnSpc>
            </a:pPr>
          </a:p>
          <a:p>
            <a:pPr algn="l">
              <a:lnSpc>
                <a:spcPts val="1793"/>
              </a:lnSpc>
            </a:pPr>
            <a:r>
              <a:rPr lang="en-US" sz="2037">
                <a:solidFill>
                  <a:srgbClr val="FFFFFF"/>
                </a:solidFill>
                <a:latin typeface="Arial"/>
                <a:ea typeface="Arial"/>
                <a:cs typeface="Arial"/>
                <a:sym typeface="Arial"/>
              </a:rPr>
              <a:t>2302807</a:t>
            </a:r>
          </a:p>
          <a:p>
            <a:pPr algn="l">
              <a:lnSpc>
                <a:spcPts val="1793"/>
              </a:lnSpc>
            </a:pPr>
          </a:p>
          <a:p>
            <a:pPr algn="l">
              <a:lnSpc>
                <a:spcPts val="1793"/>
              </a:lnSpc>
            </a:pPr>
            <a:r>
              <a:rPr lang="en-US" sz="2037">
                <a:solidFill>
                  <a:srgbClr val="FFFFFF"/>
                </a:solidFill>
                <a:latin typeface="Arial"/>
                <a:ea typeface="Arial"/>
                <a:cs typeface="Arial"/>
                <a:sym typeface="Arial"/>
              </a:rPr>
              <a:t>Section 8</a:t>
            </a:r>
          </a:p>
        </p:txBody>
      </p:sp>
      <p:sp>
        <p:nvSpPr>
          <p:cNvPr name="TextBox 39" id="39"/>
          <p:cNvSpPr txBox="true"/>
          <p:nvPr/>
        </p:nvSpPr>
        <p:spPr>
          <a:xfrm rot="0">
            <a:off x="6009165" y="5984017"/>
            <a:ext cx="3435970" cy="1171966"/>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 Jumana Hazim Salah Elden</a:t>
            </a:r>
          </a:p>
          <a:p>
            <a:pPr algn="l">
              <a:lnSpc>
                <a:spcPts val="1793"/>
              </a:lnSpc>
            </a:pPr>
          </a:p>
          <a:p>
            <a:pPr algn="l">
              <a:lnSpc>
                <a:spcPts val="1793"/>
              </a:lnSpc>
            </a:pPr>
            <a:r>
              <a:rPr lang="en-US" sz="2037">
                <a:solidFill>
                  <a:srgbClr val="FFFFFF"/>
                </a:solidFill>
                <a:latin typeface="Arial"/>
                <a:ea typeface="Arial"/>
                <a:cs typeface="Arial"/>
                <a:sym typeface="Arial"/>
              </a:rPr>
              <a:t>2300232</a:t>
            </a:r>
          </a:p>
          <a:p>
            <a:pPr algn="l">
              <a:lnSpc>
                <a:spcPts val="1793"/>
              </a:lnSpc>
            </a:pPr>
          </a:p>
          <a:p>
            <a:pPr algn="l">
              <a:lnSpc>
                <a:spcPts val="1793"/>
              </a:lnSpc>
            </a:pPr>
            <a:r>
              <a:rPr lang="en-US" sz="2037">
                <a:solidFill>
                  <a:srgbClr val="FFFFFF"/>
                </a:solidFill>
                <a:latin typeface="Arial"/>
                <a:ea typeface="Arial"/>
                <a:cs typeface="Arial"/>
                <a:sym typeface="Arial"/>
              </a:rPr>
              <a:t>Section 1</a:t>
            </a:r>
          </a:p>
        </p:txBody>
      </p:sp>
      <p:sp>
        <p:nvSpPr>
          <p:cNvPr name="TextBox 40" id="40"/>
          <p:cNvSpPr txBox="true"/>
          <p:nvPr/>
        </p:nvSpPr>
        <p:spPr>
          <a:xfrm rot="0">
            <a:off x="9991549" y="7455748"/>
            <a:ext cx="4323678" cy="1171966"/>
          </a:xfrm>
          <a:prstGeom prst="rect">
            <a:avLst/>
          </a:prstGeom>
        </p:spPr>
        <p:txBody>
          <a:bodyPr anchor="t" rtlCol="false" tIns="0" lIns="0" bIns="0" rIns="0">
            <a:spAutoFit/>
          </a:bodyPr>
          <a:lstStyle/>
          <a:p>
            <a:pPr algn="l">
              <a:lnSpc>
                <a:spcPts val="1793"/>
              </a:lnSpc>
            </a:pPr>
            <a:r>
              <a:rPr lang="en-US" sz="2037">
                <a:solidFill>
                  <a:srgbClr val="FFFFFF"/>
                </a:solidFill>
                <a:latin typeface="Arial"/>
                <a:ea typeface="Arial"/>
                <a:cs typeface="Arial"/>
                <a:sym typeface="Arial"/>
              </a:rPr>
              <a:t>Fatma Elzahraa Mohamed Ahmed</a:t>
            </a:r>
          </a:p>
          <a:p>
            <a:pPr algn="l">
              <a:lnSpc>
                <a:spcPts val="1793"/>
              </a:lnSpc>
            </a:pPr>
          </a:p>
          <a:p>
            <a:pPr algn="l">
              <a:lnSpc>
                <a:spcPts val="1793"/>
              </a:lnSpc>
            </a:pPr>
            <a:r>
              <a:rPr lang="en-US" sz="2037">
                <a:solidFill>
                  <a:srgbClr val="FFFFFF"/>
                </a:solidFill>
                <a:latin typeface="Arial"/>
                <a:ea typeface="Arial"/>
                <a:cs typeface="Arial"/>
                <a:sym typeface="Arial"/>
              </a:rPr>
              <a:t>2300281</a:t>
            </a:r>
          </a:p>
          <a:p>
            <a:pPr algn="l">
              <a:lnSpc>
                <a:spcPts val="1793"/>
              </a:lnSpc>
            </a:pPr>
          </a:p>
          <a:p>
            <a:pPr algn="l">
              <a:lnSpc>
                <a:spcPts val="1793"/>
              </a:lnSpc>
            </a:pPr>
            <a:r>
              <a:rPr lang="en-US" sz="2037">
                <a:solidFill>
                  <a:srgbClr val="FFFFFF"/>
                </a:solidFill>
                <a:latin typeface="Arial"/>
                <a:ea typeface="Arial"/>
                <a:cs typeface="Arial"/>
                <a:sym typeface="Arial"/>
              </a:rPr>
              <a:t>Section 2</a:t>
            </a:r>
          </a:p>
        </p:txBody>
      </p:sp>
      <p:sp>
        <p:nvSpPr>
          <p:cNvPr name="TextBox 41" id="41"/>
          <p:cNvSpPr txBox="true"/>
          <p:nvPr/>
        </p:nvSpPr>
        <p:spPr>
          <a:xfrm rot="0">
            <a:off x="6198688" y="9060829"/>
            <a:ext cx="6819381" cy="1211168"/>
          </a:xfrm>
          <a:prstGeom prst="rect">
            <a:avLst/>
          </a:prstGeom>
        </p:spPr>
        <p:txBody>
          <a:bodyPr anchor="t" rtlCol="false" tIns="0" lIns="0" bIns="0" rIns="0">
            <a:spAutoFit/>
          </a:bodyPr>
          <a:lstStyle/>
          <a:p>
            <a:pPr algn="ctr">
              <a:lnSpc>
                <a:spcPts val="4682"/>
              </a:lnSpc>
            </a:pPr>
            <a:r>
              <a:rPr lang="en-US" sz="3344">
                <a:solidFill>
                  <a:srgbClr val="FFFFFF"/>
                </a:solidFill>
                <a:latin typeface="Arial"/>
                <a:ea typeface="Arial"/>
                <a:cs typeface="Arial"/>
                <a:sym typeface="Arial"/>
              </a:rPr>
              <a:t>Under Supervision : DR Mayar Aly   </a:t>
            </a:r>
          </a:p>
          <a:p>
            <a:pPr algn="ctr">
              <a:lnSpc>
                <a:spcPts val="4682"/>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5334" y="0"/>
            <a:ext cx="9457763" cy="10287000"/>
            <a:chOff x="0" y="0"/>
            <a:chExt cx="2490933" cy="2709333"/>
          </a:xfrm>
        </p:grpSpPr>
        <p:sp>
          <p:nvSpPr>
            <p:cNvPr name="Freeform 3" id="3"/>
            <p:cNvSpPr/>
            <p:nvPr/>
          </p:nvSpPr>
          <p:spPr>
            <a:xfrm flipH="false" flipV="false" rot="0">
              <a:off x="0" y="0"/>
              <a:ext cx="2490933" cy="2709333"/>
            </a:xfrm>
            <a:custGeom>
              <a:avLst/>
              <a:gdLst/>
              <a:ahLst/>
              <a:cxnLst/>
              <a:rect r="r" b="b" t="t" l="l"/>
              <a:pathLst>
                <a:path h="2709333" w="2490933">
                  <a:moveTo>
                    <a:pt x="0" y="0"/>
                  </a:moveTo>
                  <a:lnTo>
                    <a:pt x="2490933" y="0"/>
                  </a:lnTo>
                  <a:lnTo>
                    <a:pt x="2490933" y="2709333"/>
                  </a:lnTo>
                  <a:lnTo>
                    <a:pt x="0" y="2709333"/>
                  </a:lnTo>
                  <a:close/>
                </a:path>
              </a:pathLst>
            </a:custGeom>
            <a:gradFill rotWithShape="true">
              <a:gsLst>
                <a:gs pos="0">
                  <a:srgbClr val="141519">
                    <a:alpha val="100000"/>
                  </a:srgbClr>
                </a:gs>
                <a:gs pos="100000">
                  <a:srgbClr val="141519">
                    <a:alpha val="0"/>
                  </a:srgbClr>
                </a:gs>
              </a:gsLst>
              <a:lin ang="0"/>
            </a:gradFill>
          </p:spPr>
        </p:sp>
        <p:sp>
          <p:nvSpPr>
            <p:cNvPr name="TextBox 4" id="4"/>
            <p:cNvSpPr txBox="true"/>
            <p:nvPr/>
          </p:nvSpPr>
          <p:spPr>
            <a:xfrm>
              <a:off x="0" y="19050"/>
              <a:ext cx="2490933" cy="2690283"/>
            </a:xfrm>
            <a:prstGeom prst="rect">
              <a:avLst/>
            </a:prstGeom>
          </p:spPr>
          <p:txBody>
            <a:bodyPr anchor="ctr" rtlCol="false" tIns="50800" lIns="50800" bIns="50800" rIns="50800"/>
            <a:lstStyle/>
            <a:p>
              <a:pPr algn="ctr">
                <a:lnSpc>
                  <a:spcPts val="1387"/>
                </a:lnSpc>
              </a:pPr>
            </a:p>
          </p:txBody>
        </p:sp>
      </p:grpSp>
      <p:sp>
        <p:nvSpPr>
          <p:cNvPr name="Freeform 5" id="5"/>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154957" y="756844"/>
            <a:ext cx="2104343" cy="481425"/>
            <a:chOff x="0" y="0"/>
            <a:chExt cx="1776404" cy="406400"/>
          </a:xfrm>
        </p:grpSpPr>
        <p:sp>
          <p:nvSpPr>
            <p:cNvPr name="Freeform 7" id="7"/>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8" id="8"/>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4011154">
            <a:off x="12755358" y="3032614"/>
            <a:ext cx="17403374" cy="15009081"/>
            <a:chOff x="0" y="0"/>
            <a:chExt cx="4583605" cy="3953009"/>
          </a:xfrm>
        </p:grpSpPr>
        <p:sp>
          <p:nvSpPr>
            <p:cNvPr name="Freeform 10" id="10"/>
            <p:cNvSpPr/>
            <p:nvPr/>
          </p:nvSpPr>
          <p:spPr>
            <a:xfrm flipH="false" flipV="false" rot="0">
              <a:off x="0" y="0"/>
              <a:ext cx="4583605" cy="3953009"/>
            </a:xfrm>
            <a:custGeom>
              <a:avLst/>
              <a:gdLst/>
              <a:ahLst/>
              <a:cxnLst/>
              <a:rect r="r" b="b" t="t" l="l"/>
              <a:pathLst>
                <a:path h="3953009" w="4583605">
                  <a:moveTo>
                    <a:pt x="0" y="0"/>
                  </a:moveTo>
                  <a:lnTo>
                    <a:pt x="4583605" y="0"/>
                  </a:lnTo>
                  <a:lnTo>
                    <a:pt x="4583605" y="3953009"/>
                  </a:lnTo>
                  <a:lnTo>
                    <a:pt x="0" y="3953009"/>
                  </a:lnTo>
                  <a:close/>
                </a:path>
              </a:pathLst>
            </a:custGeom>
            <a:gradFill rotWithShape="true">
              <a:gsLst>
                <a:gs pos="0">
                  <a:srgbClr val="27DDDF">
                    <a:alpha val="0"/>
                  </a:srgbClr>
                </a:gs>
                <a:gs pos="100000">
                  <a:srgbClr val="27DDDF">
                    <a:alpha val="100000"/>
                  </a:srgbClr>
                </a:gs>
              </a:gsLst>
              <a:lin ang="5400000"/>
            </a:gradFill>
          </p:spPr>
        </p:sp>
        <p:sp>
          <p:nvSpPr>
            <p:cNvPr name="TextBox 11" id="11"/>
            <p:cNvSpPr txBox="true"/>
            <p:nvPr/>
          </p:nvSpPr>
          <p:spPr>
            <a:xfrm>
              <a:off x="0" y="19050"/>
              <a:ext cx="4583605" cy="3933959"/>
            </a:xfrm>
            <a:prstGeom prst="rect">
              <a:avLst/>
            </a:prstGeom>
          </p:spPr>
          <p:txBody>
            <a:bodyPr anchor="ctr" rtlCol="false" tIns="50800" lIns="50800" bIns="50800" rIns="50800"/>
            <a:lstStyle/>
            <a:p>
              <a:pPr algn="ctr">
                <a:lnSpc>
                  <a:spcPts val="1387"/>
                </a:lnSpc>
              </a:pPr>
            </a:p>
          </p:txBody>
        </p:sp>
      </p:grpSp>
      <p:sp>
        <p:nvSpPr>
          <p:cNvPr name="Freeform 12" id="12"/>
          <p:cNvSpPr/>
          <p:nvPr/>
        </p:nvSpPr>
        <p:spPr>
          <a:xfrm flipH="false" flipV="false" rot="0">
            <a:off x="-805176" y="-1584873"/>
            <a:ext cx="18842782" cy="12561855"/>
          </a:xfrm>
          <a:custGeom>
            <a:avLst/>
            <a:gdLst/>
            <a:ahLst/>
            <a:cxnLst/>
            <a:rect r="r" b="b" t="t" l="l"/>
            <a:pathLst>
              <a:path h="12561855" w="18842782">
                <a:moveTo>
                  <a:pt x="0" y="0"/>
                </a:moveTo>
                <a:lnTo>
                  <a:pt x="18842782" y="0"/>
                </a:lnTo>
                <a:lnTo>
                  <a:pt x="18842782" y="12561855"/>
                </a:lnTo>
                <a:lnTo>
                  <a:pt x="0" y="12561855"/>
                </a:lnTo>
                <a:lnTo>
                  <a:pt x="0" y="0"/>
                </a:lnTo>
                <a:close/>
              </a:path>
            </a:pathLst>
          </a:custGeom>
          <a:blipFill>
            <a:blip r:embed="rId4"/>
            <a:stretch>
              <a:fillRect l="0" t="0" r="0" b="0"/>
            </a:stretch>
          </a:blipFill>
        </p:spPr>
      </p:sp>
      <p:sp>
        <p:nvSpPr>
          <p:cNvPr name="TextBox 13" id="13"/>
          <p:cNvSpPr txBox="true"/>
          <p:nvPr/>
        </p:nvSpPr>
        <p:spPr>
          <a:xfrm rot="0">
            <a:off x="800970" y="3449360"/>
            <a:ext cx="10178409" cy="5374925"/>
          </a:xfrm>
          <a:prstGeom prst="rect">
            <a:avLst/>
          </a:prstGeom>
        </p:spPr>
        <p:txBody>
          <a:bodyPr anchor="t" rtlCol="false" tIns="0" lIns="0" bIns="0" rIns="0">
            <a:spAutoFit/>
          </a:bodyPr>
          <a:lstStyle/>
          <a:p>
            <a:pPr algn="just">
              <a:lnSpc>
                <a:spcPts val="3878"/>
              </a:lnSpc>
            </a:pPr>
            <a:r>
              <a:rPr lang="en-US" sz="2770">
                <a:solidFill>
                  <a:srgbClr val="FFFFFF"/>
                </a:solidFill>
                <a:latin typeface="Arial"/>
                <a:ea typeface="Arial"/>
                <a:cs typeface="Arial"/>
                <a:sym typeface="Arial"/>
              </a:rPr>
              <a:t>   we aimed to develop a model that predicts mobile phone prices based on feature such as RAM across USA The dataset contains information about various mobile phones available in multiple international markets.</a:t>
            </a:r>
          </a:p>
          <a:p>
            <a:pPr algn="just">
              <a:lnSpc>
                <a:spcPts val="3878"/>
              </a:lnSpc>
            </a:pPr>
          </a:p>
          <a:p>
            <a:pPr algn="just">
              <a:lnSpc>
                <a:spcPts val="3878"/>
              </a:lnSpc>
              <a:spcBef>
                <a:spcPct val="0"/>
              </a:spcBef>
            </a:pPr>
            <a:r>
              <a:rPr lang="en-US" sz="2770">
                <a:solidFill>
                  <a:srgbClr val="FFFFFF"/>
                </a:solidFill>
                <a:latin typeface="Arial"/>
                <a:ea typeface="Arial"/>
                <a:cs typeface="Arial"/>
                <a:sym typeface="Arial"/>
              </a:rPr>
              <a:t>We began with the basic steps like data cleaning, where we removed invalid values, imputed missing values, and handled outliers. Then, we moved to the next step of modeling using algorithms like Random Forest. Finally, we evaluated the models using several metrics such as Root Mean Squared Error (RMSE), Mean Absolute Error (MAE), and R² score.</a:t>
            </a:r>
          </a:p>
        </p:txBody>
      </p:sp>
      <p:sp>
        <p:nvSpPr>
          <p:cNvPr name="TextBox 14" id="14"/>
          <p:cNvSpPr txBox="true"/>
          <p:nvPr/>
        </p:nvSpPr>
        <p:spPr>
          <a:xfrm rot="0">
            <a:off x="1324347" y="48333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5" id="15"/>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6" id="16"/>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7" id="17"/>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8" id="18"/>
          <p:cNvSpPr txBox="true"/>
          <p:nvPr/>
        </p:nvSpPr>
        <p:spPr>
          <a:xfrm rot="0">
            <a:off x="1074577" y="2272250"/>
            <a:ext cx="6198198" cy="722974"/>
          </a:xfrm>
          <a:prstGeom prst="rect">
            <a:avLst/>
          </a:prstGeom>
        </p:spPr>
        <p:txBody>
          <a:bodyPr anchor="t" rtlCol="false" tIns="0" lIns="0" bIns="0" rIns="0">
            <a:spAutoFit/>
          </a:bodyPr>
          <a:lstStyle/>
          <a:p>
            <a:pPr algn="l">
              <a:lnSpc>
                <a:spcPts val="4672"/>
              </a:lnSpc>
            </a:pPr>
            <a:r>
              <a:rPr lang="en-US" sz="4817" spc="-77" b="true">
                <a:solidFill>
                  <a:srgbClr val="FFFFFF"/>
                </a:solidFill>
                <a:latin typeface="Arial Bold"/>
                <a:ea typeface="Arial Bold"/>
                <a:cs typeface="Arial Bold"/>
                <a:sym typeface="Arial Bold"/>
              </a:rPr>
              <a:t> In this project,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561484" y="1853223"/>
            <a:ext cx="7235082" cy="7235082"/>
          </a:xfrm>
          <a:custGeom>
            <a:avLst/>
            <a:gdLst/>
            <a:ahLst/>
            <a:cxnLst/>
            <a:rect r="r" b="b" t="t" l="l"/>
            <a:pathLst>
              <a:path h="7235082" w="7235082">
                <a:moveTo>
                  <a:pt x="0" y="0"/>
                </a:moveTo>
                <a:lnTo>
                  <a:pt x="7235083" y="0"/>
                </a:lnTo>
                <a:lnTo>
                  <a:pt x="7235083" y="7235082"/>
                </a:lnTo>
                <a:lnTo>
                  <a:pt x="0" y="7235082"/>
                </a:lnTo>
                <a:lnTo>
                  <a:pt x="0" y="0"/>
                </a:lnTo>
                <a:close/>
              </a:path>
            </a:pathLst>
          </a:custGeom>
          <a:blipFill>
            <a:blip r:embed="rId8"/>
            <a:stretch>
              <a:fillRect l="0" t="0" r="0" b="0"/>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826022" y="1824648"/>
            <a:ext cx="7089518" cy="1119495"/>
          </a:xfrm>
          <a:prstGeom prst="rect">
            <a:avLst/>
          </a:prstGeom>
        </p:spPr>
        <p:txBody>
          <a:bodyPr anchor="t" rtlCol="false" tIns="0" lIns="0" bIns="0" rIns="0">
            <a:spAutoFit/>
          </a:bodyPr>
          <a:lstStyle/>
          <a:p>
            <a:pPr algn="l">
              <a:lnSpc>
                <a:spcPts val="7453"/>
              </a:lnSpc>
            </a:pPr>
            <a:r>
              <a:rPr lang="en-US" sz="7166" spc="-300" b="true">
                <a:solidFill>
                  <a:srgbClr val="FFFFFF"/>
                </a:solidFill>
                <a:latin typeface="Arial Bold"/>
                <a:ea typeface="Arial Bold"/>
                <a:cs typeface="Arial Bold"/>
                <a:sym typeface="Arial Bold"/>
              </a:rPr>
              <a:t> Dataset Details:</a:t>
            </a:r>
          </a:p>
        </p:txBody>
      </p:sp>
      <p:sp>
        <p:nvSpPr>
          <p:cNvPr name="TextBox 14" id="14"/>
          <p:cNvSpPr txBox="true"/>
          <p:nvPr/>
        </p:nvSpPr>
        <p:spPr>
          <a:xfrm rot="0">
            <a:off x="1074577" y="3959328"/>
            <a:ext cx="8069423" cy="3953556"/>
          </a:xfrm>
          <a:prstGeom prst="rect">
            <a:avLst/>
          </a:prstGeom>
        </p:spPr>
        <p:txBody>
          <a:bodyPr anchor="t" rtlCol="false" tIns="0" lIns="0" bIns="0" rIns="0">
            <a:spAutoFit/>
          </a:bodyPr>
          <a:lstStyle/>
          <a:p>
            <a:pPr algn="l">
              <a:lnSpc>
                <a:spcPts val="2552"/>
              </a:lnSpc>
            </a:pPr>
            <a:r>
              <a:rPr lang="en-US" sz="2454" spc="-103" b="true">
                <a:solidFill>
                  <a:srgbClr val="FFFFFF"/>
                </a:solidFill>
                <a:latin typeface="Arial Bold"/>
                <a:ea typeface="Arial Bold"/>
                <a:cs typeface="Arial Bold"/>
                <a:sym typeface="Arial Bold"/>
              </a:rPr>
              <a:t> The dataset used in this project contains various details about mobile phones launched in  USA. The data includes variables such as:</a:t>
            </a:r>
          </a:p>
          <a:p>
            <a:pPr algn="l">
              <a:lnSpc>
                <a:spcPts val="2552"/>
              </a:lnSpc>
            </a:pPr>
          </a:p>
          <a:p>
            <a:pPr algn="l">
              <a:lnSpc>
                <a:spcPts val="2552"/>
              </a:lnSpc>
            </a:pPr>
            <a:r>
              <a:rPr lang="en-US" sz="2454" spc="-103" b="true">
                <a:solidFill>
                  <a:srgbClr val="FFFFFF"/>
                </a:solidFill>
                <a:latin typeface="Arial Bold"/>
                <a:ea typeface="Arial Bold"/>
                <a:cs typeface="Arial Bold"/>
                <a:sym typeface="Arial Bold"/>
              </a:rPr>
              <a:t>RAM: Refers to the amount of random-access memory in the mobile phone.</a:t>
            </a:r>
          </a:p>
          <a:p>
            <a:pPr algn="l">
              <a:lnSpc>
                <a:spcPts val="2552"/>
              </a:lnSpc>
            </a:pPr>
          </a:p>
          <a:p>
            <a:pPr algn="l">
              <a:lnSpc>
                <a:spcPts val="2552"/>
              </a:lnSpc>
            </a:pPr>
            <a:r>
              <a:rPr lang="en-US" sz="2454" spc="-103" b="true">
                <a:solidFill>
                  <a:srgbClr val="FFFFFF"/>
                </a:solidFill>
                <a:latin typeface="Arial Bold"/>
                <a:ea typeface="Arial Bold"/>
                <a:cs typeface="Arial Bold"/>
                <a:sym typeface="Arial Bold"/>
              </a:rPr>
              <a:t>Launched Price in USA: The price at which the phone was launched in USA</a:t>
            </a:r>
          </a:p>
          <a:p>
            <a:pPr algn="l">
              <a:lnSpc>
                <a:spcPts val="2552"/>
              </a:lnSpc>
            </a:pPr>
          </a:p>
          <a:p>
            <a:pPr algn="l">
              <a:lnSpc>
                <a:spcPts val="2552"/>
              </a:lnSpc>
            </a:pPr>
            <a:r>
              <a:rPr lang="en-US" sz="2454" spc="-103" b="true">
                <a:solidFill>
                  <a:srgbClr val="FFFFFF"/>
                </a:solidFill>
                <a:latin typeface="Arial Bold"/>
                <a:ea typeface="Arial Bold"/>
                <a:cs typeface="Arial Bold"/>
                <a:sym typeface="Arial Bold"/>
              </a:rPr>
              <a:t>  </a:t>
            </a:r>
          </a:p>
          <a:p>
            <a:pPr algn="l">
              <a:lnSpc>
                <a:spcPts val="255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018736" y="2023218"/>
            <a:ext cx="6240564" cy="6240564"/>
          </a:xfrm>
          <a:custGeom>
            <a:avLst/>
            <a:gdLst/>
            <a:ahLst/>
            <a:cxnLst/>
            <a:rect r="r" b="b" t="t" l="l"/>
            <a:pathLst>
              <a:path h="6240564" w="6240564">
                <a:moveTo>
                  <a:pt x="0" y="0"/>
                </a:moveTo>
                <a:lnTo>
                  <a:pt x="6240564" y="0"/>
                </a:lnTo>
                <a:lnTo>
                  <a:pt x="6240564" y="6240564"/>
                </a:lnTo>
                <a:lnTo>
                  <a:pt x="0" y="6240564"/>
                </a:lnTo>
                <a:lnTo>
                  <a:pt x="0" y="0"/>
                </a:lnTo>
                <a:close/>
              </a:path>
            </a:pathLst>
          </a:custGeom>
          <a:blipFill>
            <a:blip r:embed="rId8"/>
            <a:stretch>
              <a:fillRect l="0" t="0" r="0" b="0"/>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826022" y="1824648"/>
            <a:ext cx="7089518" cy="1119495"/>
          </a:xfrm>
          <a:prstGeom prst="rect">
            <a:avLst/>
          </a:prstGeom>
        </p:spPr>
        <p:txBody>
          <a:bodyPr anchor="t" rtlCol="false" tIns="0" lIns="0" bIns="0" rIns="0">
            <a:spAutoFit/>
          </a:bodyPr>
          <a:lstStyle/>
          <a:p>
            <a:pPr algn="l">
              <a:lnSpc>
                <a:spcPts val="7453"/>
              </a:lnSpc>
            </a:pPr>
            <a:r>
              <a:rPr lang="en-US" sz="7166" spc="-300" b="true">
                <a:solidFill>
                  <a:srgbClr val="FFFFFF"/>
                </a:solidFill>
                <a:latin typeface="Arial Bold"/>
                <a:ea typeface="Arial Bold"/>
                <a:cs typeface="Arial Bold"/>
                <a:sym typeface="Arial Bold"/>
              </a:rPr>
              <a:t> Data Size:</a:t>
            </a:r>
          </a:p>
        </p:txBody>
      </p:sp>
      <p:sp>
        <p:nvSpPr>
          <p:cNvPr name="TextBox 14" id="14"/>
          <p:cNvSpPr txBox="true"/>
          <p:nvPr/>
        </p:nvSpPr>
        <p:spPr>
          <a:xfrm rot="0">
            <a:off x="1028700" y="3389977"/>
            <a:ext cx="10019201" cy="1277261"/>
          </a:xfrm>
          <a:prstGeom prst="rect">
            <a:avLst/>
          </a:prstGeom>
        </p:spPr>
        <p:txBody>
          <a:bodyPr anchor="t" rtlCol="false" tIns="0" lIns="0" bIns="0" rIns="0">
            <a:spAutoFit/>
          </a:bodyPr>
          <a:lstStyle/>
          <a:p>
            <a:pPr algn="l">
              <a:lnSpc>
                <a:spcPts val="3169"/>
              </a:lnSpc>
            </a:pPr>
            <a:r>
              <a:rPr lang="en-US" sz="3047" spc="-127" b="true">
                <a:solidFill>
                  <a:srgbClr val="FFFFFF"/>
                </a:solidFill>
                <a:latin typeface="Arial Bold"/>
                <a:ea typeface="Arial Bold"/>
                <a:cs typeface="Arial Bold"/>
                <a:sym typeface="Arial Bold"/>
              </a:rPr>
              <a:t> The dataset consists of multiple records representing different mobile phones, with some columns containing missing or invalid data.</a:t>
            </a:r>
          </a:p>
        </p:txBody>
      </p:sp>
      <p:sp>
        <p:nvSpPr>
          <p:cNvPr name="TextBox 15" id="15"/>
          <p:cNvSpPr txBox="true"/>
          <p:nvPr/>
        </p:nvSpPr>
        <p:spPr>
          <a:xfrm rot="0">
            <a:off x="1028700" y="5371708"/>
            <a:ext cx="8379989" cy="1119495"/>
          </a:xfrm>
          <a:prstGeom prst="rect">
            <a:avLst/>
          </a:prstGeom>
        </p:spPr>
        <p:txBody>
          <a:bodyPr anchor="t" rtlCol="false" tIns="0" lIns="0" bIns="0" rIns="0">
            <a:spAutoFit/>
          </a:bodyPr>
          <a:lstStyle/>
          <a:p>
            <a:pPr algn="l">
              <a:lnSpc>
                <a:spcPts val="7453"/>
              </a:lnSpc>
            </a:pPr>
            <a:r>
              <a:rPr lang="en-US" sz="7166" spc="-300" b="true">
                <a:solidFill>
                  <a:srgbClr val="FFFFFF"/>
                </a:solidFill>
                <a:latin typeface="Arial Bold"/>
                <a:ea typeface="Arial Bold"/>
                <a:cs typeface="Arial Bold"/>
                <a:sym typeface="Arial Bold"/>
              </a:rPr>
              <a:t> Goal of the Dataset:</a:t>
            </a:r>
          </a:p>
        </p:txBody>
      </p:sp>
      <p:sp>
        <p:nvSpPr>
          <p:cNvPr name="TextBox 16" id="16"/>
          <p:cNvSpPr txBox="true"/>
          <p:nvPr/>
        </p:nvSpPr>
        <p:spPr>
          <a:xfrm rot="0">
            <a:off x="1074577" y="6938878"/>
            <a:ext cx="10019201" cy="1277261"/>
          </a:xfrm>
          <a:prstGeom prst="rect">
            <a:avLst/>
          </a:prstGeom>
        </p:spPr>
        <p:txBody>
          <a:bodyPr anchor="t" rtlCol="false" tIns="0" lIns="0" bIns="0" rIns="0">
            <a:spAutoFit/>
          </a:bodyPr>
          <a:lstStyle/>
          <a:p>
            <a:pPr algn="l">
              <a:lnSpc>
                <a:spcPts val="3169"/>
              </a:lnSpc>
            </a:pPr>
            <a:r>
              <a:rPr lang="en-US" sz="3047" spc="-127" b="true">
                <a:solidFill>
                  <a:srgbClr val="FFFFFF"/>
                </a:solidFill>
                <a:latin typeface="Arial Bold"/>
                <a:ea typeface="Arial Bold"/>
                <a:cs typeface="Arial Bold"/>
                <a:sym typeface="Arial Bold"/>
              </a:rPr>
              <a:t> The primary goal is to use this data to build a model that predicts mobile phone prices based on technical specifications (like 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420453"/>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3082818" y="1292919"/>
            <a:ext cx="12680760" cy="3428914"/>
          </a:xfrm>
          <a:custGeom>
            <a:avLst/>
            <a:gdLst/>
            <a:ahLst/>
            <a:cxnLst/>
            <a:rect r="r" b="b" t="t" l="l"/>
            <a:pathLst>
              <a:path h="3428914" w="12680760">
                <a:moveTo>
                  <a:pt x="0" y="0"/>
                </a:moveTo>
                <a:lnTo>
                  <a:pt x="12680760" y="0"/>
                </a:lnTo>
                <a:lnTo>
                  <a:pt x="12680760" y="3428914"/>
                </a:lnTo>
                <a:lnTo>
                  <a:pt x="0" y="3428914"/>
                </a:lnTo>
                <a:lnTo>
                  <a:pt x="0" y="0"/>
                </a:lnTo>
                <a:close/>
              </a:path>
            </a:pathLst>
          </a:custGeom>
          <a:blipFill>
            <a:blip r:embed="rId8"/>
            <a:stretch>
              <a:fillRect l="-3921" t="-16903" r="-3246" b="-14068"/>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48503" y="562460"/>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380402" y="629338"/>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566966" y="680215"/>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476700" y="5110557"/>
            <a:ext cx="6428526" cy="696396"/>
          </a:xfrm>
          <a:prstGeom prst="rect">
            <a:avLst/>
          </a:prstGeom>
        </p:spPr>
        <p:txBody>
          <a:bodyPr anchor="t" rtlCol="false" tIns="0" lIns="0" bIns="0" rIns="0">
            <a:spAutoFit/>
          </a:bodyPr>
          <a:lstStyle/>
          <a:p>
            <a:pPr algn="l">
              <a:lnSpc>
                <a:spcPts val="4627"/>
              </a:lnSpc>
            </a:pPr>
            <a:r>
              <a:rPr lang="en-US" sz="4449" spc="-186" b="true">
                <a:solidFill>
                  <a:srgbClr val="FFFFFF"/>
                </a:solidFill>
                <a:latin typeface="Arial Bold"/>
                <a:ea typeface="Arial Bold"/>
                <a:cs typeface="Arial Bold"/>
                <a:sym typeface="Arial Bold"/>
              </a:rPr>
              <a:t> Missing Values Analysis:</a:t>
            </a:r>
          </a:p>
        </p:txBody>
      </p:sp>
      <p:sp>
        <p:nvSpPr>
          <p:cNvPr name="TextBox 14" id="14"/>
          <p:cNvSpPr txBox="true"/>
          <p:nvPr/>
        </p:nvSpPr>
        <p:spPr>
          <a:xfrm rot="0">
            <a:off x="9684582" y="6357255"/>
            <a:ext cx="8941545" cy="2188860"/>
          </a:xfrm>
          <a:prstGeom prst="rect">
            <a:avLst/>
          </a:prstGeom>
        </p:spPr>
        <p:txBody>
          <a:bodyPr anchor="t" rtlCol="false" tIns="0" lIns="0" bIns="0" rIns="0">
            <a:spAutoFit/>
          </a:bodyPr>
          <a:lstStyle/>
          <a:p>
            <a:pPr algn="l">
              <a:lnSpc>
                <a:spcPts val="2828"/>
              </a:lnSpc>
            </a:pPr>
            <a:r>
              <a:rPr lang="en-US" sz="2719" spc="-114">
                <a:solidFill>
                  <a:srgbClr val="FFFFFF"/>
                </a:solidFill>
                <a:latin typeface="Arial"/>
                <a:ea typeface="Arial"/>
                <a:cs typeface="Arial"/>
                <a:sym typeface="Arial"/>
              </a:rPr>
              <a:t> Non-Numeric Characters: Some columns had unwanted characters (like currency signs), so we cleaned them using regular expressions (str.replace('[^0-9.]', '', regex=True)).</a:t>
            </a:r>
          </a:p>
          <a:p>
            <a:pPr algn="l">
              <a:lnSpc>
                <a:spcPts val="2828"/>
              </a:lnSpc>
            </a:pPr>
          </a:p>
          <a:p>
            <a:pPr algn="l">
              <a:lnSpc>
                <a:spcPts val="2828"/>
              </a:lnSpc>
            </a:pPr>
            <a:r>
              <a:rPr lang="en-US" sz="2719" spc="-114">
                <a:solidFill>
                  <a:srgbClr val="FFFFFF"/>
                </a:solidFill>
                <a:latin typeface="Arial"/>
                <a:ea typeface="Arial"/>
                <a:cs typeface="Arial"/>
                <a:sym typeface="Arial"/>
              </a:rPr>
              <a:t>Conversion to Numeric: After cleaning, we converted these columns to numeric types using pd.to_numeric().</a:t>
            </a:r>
          </a:p>
        </p:txBody>
      </p:sp>
      <p:sp>
        <p:nvSpPr>
          <p:cNvPr name="TextBox 15" id="15"/>
          <p:cNvSpPr txBox="true"/>
          <p:nvPr/>
        </p:nvSpPr>
        <p:spPr>
          <a:xfrm rot="0">
            <a:off x="9684582" y="5168365"/>
            <a:ext cx="4576745" cy="732835"/>
          </a:xfrm>
          <a:prstGeom prst="rect">
            <a:avLst/>
          </a:prstGeom>
        </p:spPr>
        <p:txBody>
          <a:bodyPr anchor="t" rtlCol="false" tIns="0" lIns="0" bIns="0" rIns="0">
            <a:spAutoFit/>
          </a:bodyPr>
          <a:lstStyle/>
          <a:p>
            <a:pPr algn="l">
              <a:lnSpc>
                <a:spcPts val="4811"/>
              </a:lnSpc>
            </a:pPr>
            <a:r>
              <a:rPr lang="en-US" sz="4626" spc="-194" b="true">
                <a:solidFill>
                  <a:srgbClr val="FFFFFF"/>
                </a:solidFill>
                <a:latin typeface="Arial Bold"/>
                <a:ea typeface="Arial Bold"/>
                <a:cs typeface="Arial Bold"/>
                <a:sym typeface="Arial Bold"/>
              </a:rPr>
              <a:t> Data Cleaning:</a:t>
            </a:r>
          </a:p>
        </p:txBody>
      </p:sp>
      <p:sp>
        <p:nvSpPr>
          <p:cNvPr name="TextBox 16" id="16"/>
          <p:cNvSpPr txBox="true"/>
          <p:nvPr/>
        </p:nvSpPr>
        <p:spPr>
          <a:xfrm rot="0">
            <a:off x="476700" y="6195676"/>
            <a:ext cx="8946498" cy="3256531"/>
          </a:xfrm>
          <a:prstGeom prst="rect">
            <a:avLst/>
          </a:prstGeom>
        </p:spPr>
        <p:txBody>
          <a:bodyPr anchor="t" rtlCol="false" tIns="0" lIns="0" bIns="0" rIns="0">
            <a:spAutoFit/>
          </a:bodyPr>
          <a:lstStyle/>
          <a:p>
            <a:pPr algn="l">
              <a:lnSpc>
                <a:spcPts val="2829"/>
              </a:lnSpc>
            </a:pPr>
            <a:r>
              <a:rPr lang="en-US" sz="2721" spc="-114">
                <a:solidFill>
                  <a:srgbClr val="FFFFFF"/>
                </a:solidFill>
                <a:latin typeface="Arial"/>
                <a:ea typeface="Arial"/>
                <a:cs typeface="Arial"/>
                <a:sym typeface="Arial"/>
              </a:rPr>
              <a:t> We checked for missing values across all columns using .isnull().sum().</a:t>
            </a:r>
          </a:p>
          <a:p>
            <a:pPr algn="l">
              <a:lnSpc>
                <a:spcPts val="2829"/>
              </a:lnSpc>
            </a:pPr>
          </a:p>
          <a:p>
            <a:pPr algn="l">
              <a:lnSpc>
                <a:spcPts val="2829"/>
              </a:lnSpc>
            </a:pPr>
            <a:r>
              <a:rPr lang="en-US" sz="2721" spc="-114">
                <a:solidFill>
                  <a:srgbClr val="FFFFFF"/>
                </a:solidFill>
                <a:latin typeface="Arial"/>
                <a:ea typeface="Arial"/>
                <a:cs typeface="Arial"/>
                <a:sym typeface="Arial"/>
              </a:rPr>
              <a:t>Columns with missing values were carefully inspected.</a:t>
            </a:r>
          </a:p>
          <a:p>
            <a:pPr algn="l">
              <a:lnSpc>
                <a:spcPts val="2829"/>
              </a:lnSpc>
            </a:pPr>
          </a:p>
          <a:p>
            <a:pPr algn="l">
              <a:lnSpc>
                <a:spcPts val="2829"/>
              </a:lnSpc>
            </a:pPr>
            <a:r>
              <a:rPr lang="en-US" sz="2721" spc="-114">
                <a:solidFill>
                  <a:srgbClr val="FFFFFF"/>
                </a:solidFill>
                <a:latin typeface="Arial"/>
                <a:ea typeface="Arial"/>
                <a:cs typeface="Arial"/>
                <a:sym typeface="Arial"/>
              </a:rPr>
              <a:t>Rows with missing critical values (especially in RAM and Launched Price) were removed to maintain data integrity.</a:t>
            </a:r>
          </a:p>
          <a:p>
            <a:pPr algn="l">
              <a:lnSpc>
                <a:spcPts val="2829"/>
              </a:lnSpc>
            </a:pPr>
          </a:p>
          <a:p>
            <a:pPr algn="l">
              <a:lnSpc>
                <a:spcPts val="282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79623" y="1831000"/>
            <a:ext cx="13327506" cy="2622013"/>
          </a:xfrm>
          <a:custGeom>
            <a:avLst/>
            <a:gdLst/>
            <a:ahLst/>
            <a:cxnLst/>
            <a:rect r="r" b="b" t="t" l="l"/>
            <a:pathLst>
              <a:path h="2622013" w="13327506">
                <a:moveTo>
                  <a:pt x="0" y="0"/>
                </a:moveTo>
                <a:lnTo>
                  <a:pt x="13327506" y="0"/>
                </a:lnTo>
                <a:lnTo>
                  <a:pt x="13327506" y="2622013"/>
                </a:lnTo>
                <a:lnTo>
                  <a:pt x="0" y="2622013"/>
                </a:lnTo>
                <a:lnTo>
                  <a:pt x="0" y="0"/>
                </a:lnTo>
                <a:close/>
              </a:path>
            </a:pathLst>
          </a:custGeom>
          <a:blipFill>
            <a:blip r:embed="rId8"/>
            <a:stretch>
              <a:fillRect l="-5142" t="-23868" r="-5590" b="-23439"/>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1074577" y="4730149"/>
            <a:ext cx="7448196"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Duplicate Records:</a:t>
            </a:r>
          </a:p>
        </p:txBody>
      </p:sp>
      <p:sp>
        <p:nvSpPr>
          <p:cNvPr name="TextBox 14" id="14"/>
          <p:cNvSpPr txBox="true"/>
          <p:nvPr/>
        </p:nvSpPr>
        <p:spPr>
          <a:xfrm rot="0">
            <a:off x="1324347" y="5640657"/>
            <a:ext cx="10875505" cy="1682041"/>
          </a:xfrm>
          <a:prstGeom prst="rect">
            <a:avLst/>
          </a:prstGeom>
        </p:spPr>
        <p:txBody>
          <a:bodyPr anchor="t" rtlCol="false" tIns="0" lIns="0" bIns="0" rIns="0">
            <a:spAutoFit/>
          </a:bodyPr>
          <a:lstStyle/>
          <a:p>
            <a:pPr algn="l">
              <a:lnSpc>
                <a:spcPts val="3213"/>
              </a:lnSpc>
            </a:pPr>
            <a:r>
              <a:rPr lang="en-US" sz="3090" spc="-129" b="true">
                <a:solidFill>
                  <a:srgbClr val="FFFFFF"/>
                </a:solidFill>
                <a:latin typeface="Arial Bold"/>
                <a:ea typeface="Arial Bold"/>
                <a:cs typeface="Arial Bold"/>
                <a:sym typeface="Arial Bold"/>
              </a:rPr>
              <a:t> We used .duplicated().sum() to check for duplicate rows.</a:t>
            </a:r>
          </a:p>
          <a:p>
            <a:pPr algn="l">
              <a:lnSpc>
                <a:spcPts val="3213"/>
              </a:lnSpc>
            </a:pPr>
          </a:p>
          <a:p>
            <a:pPr algn="l">
              <a:lnSpc>
                <a:spcPts val="3213"/>
              </a:lnSpc>
            </a:pPr>
            <a:r>
              <a:rPr lang="en-US" sz="3090" spc="-129" b="true">
                <a:solidFill>
                  <a:srgbClr val="FFFFFF"/>
                </a:solidFill>
                <a:latin typeface="Arial Bold"/>
                <a:ea typeface="Arial Bold"/>
                <a:cs typeface="Arial Bold"/>
                <a:sym typeface="Arial Bold"/>
              </a:rPr>
              <a:t>Duplicate entries were found and removed to prevent bias in model training.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550437"/>
            <a:ext cx="465784" cy="469196"/>
          </a:xfrm>
          <a:custGeom>
            <a:avLst/>
            <a:gdLst/>
            <a:ahLst/>
            <a:cxnLst/>
            <a:rect r="r" b="b" t="t" l="l"/>
            <a:pathLst>
              <a:path h="469196" w="465784">
                <a:moveTo>
                  <a:pt x="0" y="0"/>
                </a:moveTo>
                <a:lnTo>
                  <a:pt x="465784" y="0"/>
                </a:lnTo>
                <a:lnTo>
                  <a:pt x="465784" y="469196"/>
                </a:lnTo>
                <a:lnTo>
                  <a:pt x="0" y="4691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398377"/>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3923200" y="540384"/>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7" id="7"/>
          <p:cNvSpPr txBox="true"/>
          <p:nvPr/>
        </p:nvSpPr>
        <p:spPr>
          <a:xfrm rot="0">
            <a:off x="1028700" y="5495543"/>
            <a:ext cx="3456036" cy="3447076"/>
          </a:xfrm>
          <a:prstGeom prst="rect">
            <a:avLst/>
          </a:prstGeom>
        </p:spPr>
        <p:txBody>
          <a:bodyPr anchor="t" rtlCol="false" tIns="0" lIns="0" bIns="0" rIns="0">
            <a:spAutoFit/>
          </a:bodyPr>
          <a:lstStyle/>
          <a:p>
            <a:pPr algn="l">
              <a:lnSpc>
                <a:spcPts val="5246"/>
              </a:lnSpc>
            </a:pPr>
            <a:r>
              <a:rPr lang="en-US" sz="5044" spc="-211" b="true">
                <a:solidFill>
                  <a:srgbClr val="FFFFFF"/>
                </a:solidFill>
                <a:latin typeface="Arial Bold"/>
                <a:ea typeface="Arial Bold"/>
                <a:cs typeface="Arial Bold"/>
                <a:sym typeface="Arial Bold"/>
              </a:rPr>
              <a:t>Outlier Detection and Removal:</a:t>
            </a:r>
          </a:p>
          <a:p>
            <a:pPr algn="l">
              <a:lnSpc>
                <a:spcPts val="5246"/>
              </a:lnSpc>
            </a:pPr>
            <a:r>
              <a:rPr lang="en-US" sz="5044" spc="-211" b="true">
                <a:solidFill>
                  <a:srgbClr val="FFFFFF"/>
                </a:solidFill>
                <a:latin typeface="Arial Bold"/>
                <a:ea typeface="Arial Bold"/>
                <a:cs typeface="Arial Bold"/>
                <a:sym typeface="Arial Bold"/>
              </a:rPr>
              <a:t> </a:t>
            </a:r>
          </a:p>
        </p:txBody>
      </p:sp>
      <p:sp>
        <p:nvSpPr>
          <p:cNvPr name="TextBox 8" id="8"/>
          <p:cNvSpPr txBox="true"/>
          <p:nvPr/>
        </p:nvSpPr>
        <p:spPr>
          <a:xfrm rot="0">
            <a:off x="3966405" y="5505068"/>
            <a:ext cx="12959520" cy="4280227"/>
          </a:xfrm>
          <a:prstGeom prst="rect">
            <a:avLst/>
          </a:prstGeom>
        </p:spPr>
        <p:txBody>
          <a:bodyPr anchor="t" rtlCol="false" tIns="0" lIns="0" bIns="0" rIns="0">
            <a:spAutoFit/>
          </a:bodyPr>
          <a:lstStyle/>
          <a:p>
            <a:pPr algn="l">
              <a:lnSpc>
                <a:spcPts val="2616"/>
              </a:lnSpc>
            </a:pPr>
            <a:r>
              <a:rPr lang="en-US" sz="2516" spc="-105" b="true">
                <a:solidFill>
                  <a:srgbClr val="FFFFFF"/>
                </a:solidFill>
                <a:latin typeface="Arial Bold"/>
                <a:ea typeface="Arial Bold"/>
                <a:cs typeface="Arial Bold"/>
                <a:sym typeface="Arial Bold"/>
              </a:rPr>
              <a:t> Interquartile Range (IQR) Method:</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We calculated Q1 (25th percentile) and Q3 (75th percentile).</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Outliers were identified as points lying below Q1 - 1.5*IQR or above Q3 + 1.5*IQR.</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We applied this method particularly on key features like RAM and Launched Price (USA).</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Z-Score Method:</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We calculated the Z-score for the price data.</a:t>
            </a:r>
          </a:p>
          <a:p>
            <a:pPr algn="l">
              <a:lnSpc>
                <a:spcPts val="2616"/>
              </a:lnSpc>
            </a:pPr>
          </a:p>
          <a:p>
            <a:pPr algn="l">
              <a:lnSpc>
                <a:spcPts val="2616"/>
              </a:lnSpc>
            </a:pPr>
            <a:r>
              <a:rPr lang="en-US" sz="2516" spc="-105" b="true">
                <a:solidFill>
                  <a:srgbClr val="FFFFFF"/>
                </a:solidFill>
                <a:latin typeface="Arial Bold"/>
                <a:ea typeface="Arial Bold"/>
                <a:cs typeface="Arial Bold"/>
                <a:sym typeface="Arial Bold"/>
              </a:rPr>
              <a:t>Any record with a Z-score greater than 3 (or less than -3) was flagged as an outlier.</a:t>
            </a:r>
          </a:p>
        </p:txBody>
      </p:sp>
      <p:sp>
        <p:nvSpPr>
          <p:cNvPr name="Freeform 9" id="9"/>
          <p:cNvSpPr/>
          <p:nvPr/>
        </p:nvSpPr>
        <p:spPr>
          <a:xfrm flipH="false" flipV="false" rot="0">
            <a:off x="2913842" y="785035"/>
            <a:ext cx="10265183" cy="4277104"/>
          </a:xfrm>
          <a:custGeom>
            <a:avLst/>
            <a:gdLst/>
            <a:ahLst/>
            <a:cxnLst/>
            <a:rect r="r" b="b" t="t" l="l"/>
            <a:pathLst>
              <a:path h="4277104" w="10265183">
                <a:moveTo>
                  <a:pt x="0" y="0"/>
                </a:moveTo>
                <a:lnTo>
                  <a:pt x="10265184" y="0"/>
                </a:lnTo>
                <a:lnTo>
                  <a:pt x="10265184" y="4277104"/>
                </a:lnTo>
                <a:lnTo>
                  <a:pt x="0" y="4277104"/>
                </a:lnTo>
                <a:lnTo>
                  <a:pt x="0" y="0"/>
                </a:lnTo>
                <a:close/>
              </a:path>
            </a:pathLst>
          </a:custGeom>
          <a:blipFill>
            <a:blip r:embed="rId4"/>
            <a:stretch>
              <a:fillRect l="-5422" t="-10648" r="-4670" b="-14198"/>
            </a:stretch>
          </a:blipFill>
        </p:spPr>
      </p:sp>
      <p:sp>
        <p:nvSpPr>
          <p:cNvPr name="TextBox 10" id="10"/>
          <p:cNvSpPr txBox="true"/>
          <p:nvPr/>
        </p:nvSpPr>
        <p:spPr>
          <a:xfrm rot="0">
            <a:off x="1553123" y="667664"/>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1" id="11"/>
          <p:cNvSpPr txBox="true"/>
          <p:nvPr/>
        </p:nvSpPr>
        <p:spPr>
          <a:xfrm rot="0">
            <a:off x="13179026" y="333976"/>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4174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3099" y="2074474"/>
            <a:ext cx="9178754" cy="6809188"/>
          </a:xfrm>
          <a:custGeom>
            <a:avLst/>
            <a:gdLst/>
            <a:ahLst/>
            <a:cxnLst/>
            <a:rect r="r" b="b" t="t" l="l"/>
            <a:pathLst>
              <a:path h="6809188" w="9178754">
                <a:moveTo>
                  <a:pt x="0" y="0"/>
                </a:moveTo>
                <a:lnTo>
                  <a:pt x="9178755" y="0"/>
                </a:lnTo>
                <a:lnTo>
                  <a:pt x="9178755" y="6809189"/>
                </a:lnTo>
                <a:lnTo>
                  <a:pt x="0" y="6809189"/>
                </a:lnTo>
                <a:lnTo>
                  <a:pt x="0" y="0"/>
                </a:lnTo>
                <a:close/>
              </a:path>
            </a:pathLst>
          </a:custGeom>
          <a:blipFill>
            <a:blip r:embed="rId8"/>
            <a:stretch>
              <a:fillRect l="-4771" t="-6003" r="-5407" b="-6431"/>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811104" y="1878301"/>
            <a:ext cx="5819920"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Data Visualization:</a:t>
            </a:r>
          </a:p>
        </p:txBody>
      </p:sp>
      <p:sp>
        <p:nvSpPr>
          <p:cNvPr name="TextBox 14" id="14"/>
          <p:cNvSpPr txBox="true"/>
          <p:nvPr/>
        </p:nvSpPr>
        <p:spPr>
          <a:xfrm rot="0">
            <a:off x="9712415" y="2925093"/>
            <a:ext cx="8069423" cy="4602820"/>
          </a:xfrm>
          <a:prstGeom prst="rect">
            <a:avLst/>
          </a:prstGeom>
        </p:spPr>
        <p:txBody>
          <a:bodyPr anchor="t" rtlCol="false" tIns="0" lIns="0" bIns="0" rIns="0">
            <a:spAutoFit/>
          </a:bodyPr>
          <a:lstStyle/>
          <a:p>
            <a:pPr algn="l">
              <a:lnSpc>
                <a:spcPts val="2552"/>
              </a:lnSpc>
            </a:pPr>
            <a:r>
              <a:rPr lang="en-US" sz="2454" spc="-103" b="true">
                <a:solidFill>
                  <a:srgbClr val="FFFFFF"/>
                </a:solidFill>
                <a:latin typeface="Arial Bold"/>
                <a:ea typeface="Arial Bold"/>
                <a:cs typeface="Arial Bold"/>
                <a:sym typeface="Arial Bold"/>
              </a:rPr>
              <a:t> Scatter Plot:</a:t>
            </a:r>
          </a:p>
          <a:p>
            <a:pPr algn="l">
              <a:lnSpc>
                <a:spcPts val="2552"/>
              </a:lnSpc>
            </a:pPr>
          </a:p>
          <a:p>
            <a:pPr algn="l">
              <a:lnSpc>
                <a:spcPts val="2552"/>
              </a:lnSpc>
            </a:pPr>
            <a:r>
              <a:rPr lang="en-US" sz="2454" spc="-103">
                <a:solidFill>
                  <a:srgbClr val="FFFFFF"/>
                </a:solidFill>
                <a:latin typeface="Arial"/>
                <a:ea typeface="Arial"/>
                <a:cs typeface="Arial"/>
                <a:sym typeface="Arial"/>
              </a:rPr>
              <a:t>We created scatter plots of RAM vs. Launched Price (USA).</a:t>
            </a:r>
          </a:p>
          <a:p>
            <a:pPr algn="l">
              <a:lnSpc>
                <a:spcPts val="2552"/>
              </a:lnSpc>
            </a:pPr>
          </a:p>
          <a:p>
            <a:pPr algn="l">
              <a:lnSpc>
                <a:spcPts val="2552"/>
              </a:lnSpc>
            </a:pPr>
            <a:r>
              <a:rPr lang="en-US" sz="2454" spc="-103">
                <a:solidFill>
                  <a:srgbClr val="FFFFFF"/>
                </a:solidFill>
                <a:latin typeface="Arial"/>
                <a:ea typeface="Arial"/>
                <a:cs typeface="Arial"/>
                <a:sym typeface="Arial"/>
              </a:rPr>
              <a:t>Different colors were used for different companies to visually inspect how the RAM affects the price for various brands.</a:t>
            </a:r>
          </a:p>
          <a:p>
            <a:pPr algn="l">
              <a:lnSpc>
                <a:spcPts val="2552"/>
              </a:lnSpc>
            </a:pPr>
          </a:p>
          <a:p>
            <a:pPr algn="l">
              <a:lnSpc>
                <a:spcPts val="2552"/>
              </a:lnSpc>
            </a:pPr>
            <a:r>
              <a:rPr lang="en-US" sz="2454" spc="-103" b="true">
                <a:solidFill>
                  <a:srgbClr val="FFFFFF"/>
                </a:solidFill>
                <a:latin typeface="Arial Bold"/>
                <a:ea typeface="Arial Bold"/>
                <a:cs typeface="Arial Bold"/>
                <a:sym typeface="Arial Bold"/>
              </a:rPr>
              <a:t>Observations from the Scatter Plot:</a:t>
            </a:r>
          </a:p>
          <a:p>
            <a:pPr algn="l">
              <a:lnSpc>
                <a:spcPts val="2552"/>
              </a:lnSpc>
            </a:pPr>
          </a:p>
          <a:p>
            <a:pPr algn="l">
              <a:lnSpc>
                <a:spcPts val="2552"/>
              </a:lnSpc>
            </a:pPr>
            <a:r>
              <a:rPr lang="en-US" sz="2454" spc="-103">
                <a:solidFill>
                  <a:srgbClr val="FFFFFF"/>
                </a:solidFill>
                <a:latin typeface="Arial"/>
                <a:ea typeface="Arial"/>
                <a:cs typeface="Arial"/>
                <a:sym typeface="Arial"/>
              </a:rPr>
              <a:t>Clear trend: Higher RAM generally corresponded to higher launch prices.</a:t>
            </a:r>
          </a:p>
          <a:p>
            <a:pPr algn="l">
              <a:lnSpc>
                <a:spcPts val="2552"/>
              </a:lnSpc>
            </a:pPr>
          </a:p>
          <a:p>
            <a:pPr algn="l">
              <a:lnSpc>
                <a:spcPts val="2552"/>
              </a:lnSpc>
            </a:pPr>
            <a:r>
              <a:rPr lang="en-US" sz="2454" spc="-103">
                <a:solidFill>
                  <a:srgbClr val="FFFFFF"/>
                </a:solidFill>
                <a:latin typeface="Arial"/>
                <a:ea typeface="Arial"/>
                <a:cs typeface="Arial"/>
                <a:sym typeface="Arial"/>
              </a:rPr>
              <a:t>Some brands offered more RAM at relatively lower prices, revealing market segmentation strategies.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3099" y="2074474"/>
            <a:ext cx="9178754" cy="6809188"/>
          </a:xfrm>
          <a:custGeom>
            <a:avLst/>
            <a:gdLst/>
            <a:ahLst/>
            <a:cxnLst/>
            <a:rect r="r" b="b" t="t" l="l"/>
            <a:pathLst>
              <a:path h="6809188" w="9178754">
                <a:moveTo>
                  <a:pt x="0" y="0"/>
                </a:moveTo>
                <a:lnTo>
                  <a:pt x="9178755" y="0"/>
                </a:lnTo>
                <a:lnTo>
                  <a:pt x="9178755" y="6809189"/>
                </a:lnTo>
                <a:lnTo>
                  <a:pt x="0" y="6809189"/>
                </a:lnTo>
                <a:lnTo>
                  <a:pt x="0" y="0"/>
                </a:lnTo>
                <a:close/>
              </a:path>
            </a:pathLst>
          </a:custGeom>
          <a:blipFill>
            <a:blip r:embed="rId8"/>
            <a:stretch>
              <a:fillRect l="-4771" t="-6003" r="-5407" b="-6431"/>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811104" y="1878301"/>
            <a:ext cx="5819920"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Data Visualization:</a:t>
            </a:r>
          </a:p>
        </p:txBody>
      </p:sp>
      <p:sp>
        <p:nvSpPr>
          <p:cNvPr name="TextBox 14" id="14"/>
          <p:cNvSpPr txBox="true"/>
          <p:nvPr/>
        </p:nvSpPr>
        <p:spPr>
          <a:xfrm rot="0">
            <a:off x="9712415" y="2925093"/>
            <a:ext cx="8069423" cy="4926670"/>
          </a:xfrm>
          <a:prstGeom prst="rect">
            <a:avLst/>
          </a:prstGeom>
        </p:spPr>
        <p:txBody>
          <a:bodyPr anchor="t" rtlCol="false" tIns="0" lIns="0" bIns="0" rIns="0">
            <a:spAutoFit/>
          </a:bodyPr>
          <a:lstStyle/>
          <a:p>
            <a:pPr algn="l">
              <a:lnSpc>
                <a:spcPts val="2552"/>
              </a:lnSpc>
            </a:pPr>
            <a:r>
              <a:rPr lang="en-US" sz="2454" spc="-103" b="true">
                <a:solidFill>
                  <a:srgbClr val="FFFFFF"/>
                </a:solidFill>
                <a:latin typeface="Arial Bold"/>
                <a:ea typeface="Arial Bold"/>
                <a:cs typeface="Arial Bold"/>
                <a:sym typeface="Arial Bold"/>
              </a:rPr>
              <a:t> Summary of EDA Findings:</a:t>
            </a:r>
          </a:p>
          <a:p>
            <a:pPr algn="l">
              <a:lnSpc>
                <a:spcPts val="2552"/>
              </a:lnSpc>
            </a:pPr>
          </a:p>
          <a:p>
            <a:pPr algn="l">
              <a:lnSpc>
                <a:spcPts val="2552"/>
              </a:lnSpc>
            </a:pPr>
            <a:r>
              <a:rPr lang="en-US" sz="2454" spc="-103">
                <a:solidFill>
                  <a:srgbClr val="FFFFFF"/>
                </a:solidFill>
                <a:latin typeface="Arial"/>
                <a:ea typeface="Arial"/>
                <a:cs typeface="Arial"/>
                <a:sym typeface="Arial"/>
              </a:rPr>
              <a:t>The dataset contained missing values and duplicates that needed to be cleaned.</a:t>
            </a:r>
          </a:p>
          <a:p>
            <a:pPr algn="l">
              <a:lnSpc>
                <a:spcPts val="2552"/>
              </a:lnSpc>
            </a:pPr>
          </a:p>
          <a:p>
            <a:pPr algn="l">
              <a:lnSpc>
                <a:spcPts val="2552"/>
              </a:lnSpc>
            </a:pPr>
            <a:r>
              <a:rPr lang="en-US" sz="2454" spc="-103">
                <a:solidFill>
                  <a:srgbClr val="FFFFFF"/>
                </a:solidFill>
                <a:latin typeface="Arial"/>
                <a:ea typeface="Arial"/>
                <a:cs typeface="Arial"/>
                <a:sym typeface="Arial"/>
              </a:rPr>
              <a:t>Outliers in RAM and Price were present and were removed.</a:t>
            </a:r>
          </a:p>
          <a:p>
            <a:pPr algn="l">
              <a:lnSpc>
                <a:spcPts val="2552"/>
              </a:lnSpc>
            </a:pPr>
          </a:p>
          <a:p>
            <a:pPr algn="l">
              <a:lnSpc>
                <a:spcPts val="2552"/>
              </a:lnSpc>
            </a:pPr>
            <a:r>
              <a:rPr lang="en-US" sz="2454" spc="-103">
                <a:solidFill>
                  <a:srgbClr val="FFFFFF"/>
                </a:solidFill>
                <a:latin typeface="Arial"/>
                <a:ea typeface="Arial"/>
                <a:cs typeface="Arial"/>
                <a:sym typeface="Arial"/>
              </a:rPr>
              <a:t>After cleaning, the relationship between RAM and Launched Price became clearer.</a:t>
            </a:r>
          </a:p>
          <a:p>
            <a:pPr algn="l">
              <a:lnSpc>
                <a:spcPts val="2552"/>
              </a:lnSpc>
            </a:pPr>
          </a:p>
          <a:p>
            <a:pPr algn="l">
              <a:lnSpc>
                <a:spcPts val="2552"/>
              </a:lnSpc>
            </a:pPr>
            <a:r>
              <a:rPr lang="en-US" sz="2454" spc="-103">
                <a:solidFill>
                  <a:srgbClr val="FFFFFF"/>
                </a:solidFill>
                <a:latin typeface="Arial"/>
                <a:ea typeface="Arial"/>
                <a:cs typeface="Arial"/>
                <a:sym typeface="Arial"/>
              </a:rPr>
              <a:t>Company names and RAM were found to be significant factors influencing the price.</a:t>
            </a:r>
          </a:p>
          <a:p>
            <a:pPr algn="l">
              <a:lnSpc>
                <a:spcPts val="2552"/>
              </a:lnSpc>
            </a:pPr>
          </a:p>
          <a:p>
            <a:pPr algn="l">
              <a:lnSpc>
                <a:spcPts val="2552"/>
              </a:lnSpc>
            </a:pPr>
            <a:r>
              <a:rPr lang="en-US" sz="2454" spc="-103">
                <a:solidFill>
                  <a:srgbClr val="FFFFFF"/>
                </a:solidFill>
                <a:latin typeface="Arial"/>
                <a:ea typeface="Arial"/>
                <a:cs typeface="Arial"/>
                <a:sym typeface="Arial"/>
              </a:rPr>
              <a:t>EDA confirmed that the data was ready for modeling with minimal assumptions violated.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3099" y="2074474"/>
            <a:ext cx="9178754" cy="6809188"/>
          </a:xfrm>
          <a:custGeom>
            <a:avLst/>
            <a:gdLst/>
            <a:ahLst/>
            <a:cxnLst/>
            <a:rect r="r" b="b" t="t" l="l"/>
            <a:pathLst>
              <a:path h="6809188" w="9178754">
                <a:moveTo>
                  <a:pt x="0" y="0"/>
                </a:moveTo>
                <a:lnTo>
                  <a:pt x="9178755" y="0"/>
                </a:lnTo>
                <a:lnTo>
                  <a:pt x="9178755" y="6809189"/>
                </a:lnTo>
                <a:lnTo>
                  <a:pt x="0" y="6809189"/>
                </a:lnTo>
                <a:lnTo>
                  <a:pt x="0" y="0"/>
                </a:lnTo>
                <a:close/>
              </a:path>
            </a:pathLst>
          </a:custGeom>
          <a:blipFill>
            <a:blip r:embed="rId8"/>
            <a:stretch>
              <a:fillRect l="-4771" t="-6003" r="-5407" b="-6431"/>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811104" y="1878301"/>
            <a:ext cx="5819920"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Data Visualization:</a:t>
            </a:r>
          </a:p>
        </p:txBody>
      </p:sp>
      <p:sp>
        <p:nvSpPr>
          <p:cNvPr name="TextBox 14" id="14"/>
          <p:cNvSpPr txBox="true"/>
          <p:nvPr/>
        </p:nvSpPr>
        <p:spPr>
          <a:xfrm rot="0">
            <a:off x="9712415" y="2925093"/>
            <a:ext cx="8069423" cy="3307420"/>
          </a:xfrm>
          <a:prstGeom prst="rect">
            <a:avLst/>
          </a:prstGeom>
        </p:spPr>
        <p:txBody>
          <a:bodyPr anchor="t" rtlCol="false" tIns="0" lIns="0" bIns="0" rIns="0">
            <a:spAutoFit/>
          </a:bodyPr>
          <a:lstStyle/>
          <a:p>
            <a:pPr algn="l">
              <a:lnSpc>
                <a:spcPts val="2552"/>
              </a:lnSpc>
            </a:pPr>
            <a:r>
              <a:rPr lang="en-US" sz="2454" spc="-103" b="true">
                <a:solidFill>
                  <a:srgbClr val="FFFFFF"/>
                </a:solidFill>
                <a:latin typeface="Arial Bold"/>
                <a:ea typeface="Arial Bold"/>
                <a:cs typeface="Arial Bold"/>
                <a:sym typeface="Arial Bold"/>
              </a:rPr>
              <a:t>  📊 Why EDA Was Important:</a:t>
            </a:r>
          </a:p>
          <a:p>
            <a:pPr algn="l">
              <a:lnSpc>
                <a:spcPts val="2552"/>
              </a:lnSpc>
            </a:pPr>
          </a:p>
          <a:p>
            <a:pPr algn="l">
              <a:lnSpc>
                <a:spcPts val="2552"/>
              </a:lnSpc>
            </a:pPr>
            <a:r>
              <a:rPr lang="en-US" sz="2454" spc="-103">
                <a:solidFill>
                  <a:srgbClr val="FFFFFF"/>
                </a:solidFill>
                <a:latin typeface="Arial"/>
                <a:ea typeface="Arial"/>
                <a:cs typeface="Arial"/>
                <a:sym typeface="Arial"/>
              </a:rPr>
              <a:t>It improved the quality of data and ensured that the models trained would be reliable.</a:t>
            </a:r>
          </a:p>
          <a:p>
            <a:pPr algn="l">
              <a:lnSpc>
                <a:spcPts val="2552"/>
              </a:lnSpc>
            </a:pPr>
          </a:p>
          <a:p>
            <a:pPr algn="l">
              <a:lnSpc>
                <a:spcPts val="2552"/>
              </a:lnSpc>
            </a:pPr>
            <a:r>
              <a:rPr lang="en-US" sz="2454" spc="-103">
                <a:solidFill>
                  <a:srgbClr val="FFFFFF"/>
                </a:solidFill>
                <a:latin typeface="Arial"/>
                <a:ea typeface="Arial"/>
                <a:cs typeface="Arial"/>
                <a:sym typeface="Arial"/>
              </a:rPr>
              <a:t>Helped in choosing the best features and appropriate preprocessing steps.</a:t>
            </a:r>
          </a:p>
          <a:p>
            <a:pPr algn="l">
              <a:lnSpc>
                <a:spcPts val="2552"/>
              </a:lnSpc>
            </a:pPr>
          </a:p>
          <a:p>
            <a:pPr algn="l">
              <a:lnSpc>
                <a:spcPts val="2552"/>
              </a:lnSpc>
            </a:pPr>
            <a:r>
              <a:rPr lang="en-US" sz="2454" spc="-103">
                <a:solidFill>
                  <a:srgbClr val="FFFFFF"/>
                </a:solidFill>
                <a:latin typeface="Arial"/>
                <a:ea typeface="Arial"/>
                <a:cs typeface="Arial"/>
                <a:sym typeface="Arial"/>
              </a:rPr>
              <a:t>Allowed detection of potential errors and inconsistencies early in the project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749546" y="2515728"/>
            <a:ext cx="8601941" cy="5663366"/>
          </a:xfrm>
          <a:custGeom>
            <a:avLst/>
            <a:gdLst/>
            <a:ahLst/>
            <a:cxnLst/>
            <a:rect r="r" b="b" t="t" l="l"/>
            <a:pathLst>
              <a:path h="5663366" w="8601941">
                <a:moveTo>
                  <a:pt x="0" y="0"/>
                </a:moveTo>
                <a:lnTo>
                  <a:pt x="8601941" y="0"/>
                </a:lnTo>
                <a:lnTo>
                  <a:pt x="8601941" y="5663366"/>
                </a:lnTo>
                <a:lnTo>
                  <a:pt x="0" y="5663366"/>
                </a:lnTo>
                <a:lnTo>
                  <a:pt x="0" y="0"/>
                </a:lnTo>
                <a:close/>
              </a:path>
            </a:pathLst>
          </a:custGeom>
          <a:blipFill>
            <a:blip r:embed="rId8"/>
            <a:stretch>
              <a:fillRect l="0" t="-2317" r="0" b="-6837"/>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883072" y="1339473"/>
            <a:ext cx="7539368" cy="8028544"/>
          </a:xfrm>
          <a:prstGeom prst="rect">
            <a:avLst/>
          </a:prstGeom>
        </p:spPr>
        <p:txBody>
          <a:bodyPr anchor="t" rtlCol="false" tIns="0" lIns="0" bIns="0" rIns="0">
            <a:spAutoFit/>
          </a:bodyPr>
          <a:lstStyle/>
          <a:p>
            <a:pPr algn="l">
              <a:lnSpc>
                <a:spcPts val="2384"/>
              </a:lnSpc>
            </a:pPr>
            <a:r>
              <a:rPr lang="en-US" sz="2293" spc="-96">
                <a:solidFill>
                  <a:srgbClr val="FFFFFF"/>
                </a:solidFill>
                <a:latin typeface="Arial"/>
                <a:ea typeface="Arial"/>
                <a:cs typeface="Arial"/>
                <a:sym typeface="Arial"/>
              </a:rPr>
              <a:t> W</a:t>
            </a:r>
            <a:r>
              <a:rPr lang="en-US" sz="2293" spc="-96" b="true">
                <a:solidFill>
                  <a:srgbClr val="FFFFFF"/>
                </a:solidFill>
                <a:latin typeface="Arial Bold"/>
                <a:ea typeface="Arial Bold"/>
                <a:cs typeface="Arial Bold"/>
                <a:sym typeface="Arial Bold"/>
              </a:rPr>
              <a:t>hat is a Scatter Plot?</a:t>
            </a:r>
          </a:p>
          <a:p>
            <a:pPr algn="l">
              <a:lnSpc>
                <a:spcPts val="2384"/>
              </a:lnSpc>
            </a:pPr>
            <a:r>
              <a:rPr lang="en-US" sz="2293" spc="-96">
                <a:solidFill>
                  <a:srgbClr val="FFFFFF"/>
                </a:solidFill>
                <a:latin typeface="Arial"/>
                <a:ea typeface="Arial"/>
                <a:cs typeface="Arial"/>
                <a:sym typeface="Arial"/>
              </a:rPr>
              <a:t>A Scatter Plot is a graph used to show the relationship between two variables.</a:t>
            </a:r>
          </a:p>
          <a:p>
            <a:pPr algn="l">
              <a:lnSpc>
                <a:spcPts val="2384"/>
              </a:lnSpc>
            </a:pPr>
          </a:p>
          <a:p>
            <a:pPr algn="l">
              <a:lnSpc>
                <a:spcPts val="2384"/>
              </a:lnSpc>
            </a:pPr>
            <a:r>
              <a:rPr lang="en-US" sz="2293" spc="-96">
                <a:solidFill>
                  <a:srgbClr val="FFFFFF"/>
                </a:solidFill>
                <a:latin typeface="Arial"/>
                <a:ea typeface="Arial"/>
                <a:cs typeface="Arial"/>
                <a:sym typeface="Arial"/>
              </a:rPr>
              <a:t>Each point on the graph represents a data record, with its position determined by the values on the x-axis and y-axis.</a:t>
            </a:r>
          </a:p>
          <a:p>
            <a:pPr algn="l">
              <a:lnSpc>
                <a:spcPts val="2384"/>
              </a:lnSpc>
            </a:pPr>
          </a:p>
          <a:p>
            <a:pPr algn="l">
              <a:lnSpc>
                <a:spcPts val="2384"/>
              </a:lnSpc>
            </a:pPr>
            <a:r>
              <a:rPr lang="en-US" sz="2293" spc="-96">
                <a:solidFill>
                  <a:srgbClr val="FFFFFF"/>
                </a:solidFill>
                <a:latin typeface="Arial"/>
                <a:ea typeface="Arial"/>
                <a:cs typeface="Arial"/>
                <a:sym typeface="Arial"/>
              </a:rPr>
              <a:t>In your case, you're using the Scatter Plot to visualize the relationship between RAM and Launched Price in the USA.</a:t>
            </a:r>
          </a:p>
          <a:p>
            <a:pPr algn="l">
              <a:lnSpc>
                <a:spcPts val="2384"/>
              </a:lnSpc>
            </a:pPr>
          </a:p>
          <a:p>
            <a:pPr algn="l">
              <a:lnSpc>
                <a:spcPts val="2384"/>
              </a:lnSpc>
            </a:pPr>
            <a:r>
              <a:rPr lang="en-US" sz="2293" spc="-96">
                <a:solidFill>
                  <a:srgbClr val="FFFFFF"/>
                </a:solidFill>
                <a:latin typeface="Arial"/>
                <a:ea typeface="Arial"/>
                <a:cs typeface="Arial"/>
                <a:sym typeface="Arial"/>
              </a:rPr>
              <a:t>Plot Details:</a:t>
            </a:r>
          </a:p>
          <a:p>
            <a:pPr algn="l">
              <a:lnSpc>
                <a:spcPts val="2384"/>
              </a:lnSpc>
            </a:pPr>
            <a:r>
              <a:rPr lang="en-US" sz="2293" spc="-96">
                <a:solidFill>
                  <a:srgbClr val="FFFFFF"/>
                </a:solidFill>
                <a:latin typeface="Arial"/>
                <a:ea typeface="Arial"/>
                <a:cs typeface="Arial"/>
                <a:sym typeface="Arial"/>
              </a:rPr>
              <a:t>X-axis: Represents RAM.</a:t>
            </a:r>
          </a:p>
          <a:p>
            <a:pPr algn="l">
              <a:lnSpc>
                <a:spcPts val="2384"/>
              </a:lnSpc>
            </a:pPr>
          </a:p>
          <a:p>
            <a:pPr algn="l">
              <a:lnSpc>
                <a:spcPts val="2384"/>
              </a:lnSpc>
            </a:pPr>
            <a:r>
              <a:rPr lang="en-US" sz="2293" spc="-96">
                <a:solidFill>
                  <a:srgbClr val="FFFFFF"/>
                </a:solidFill>
                <a:latin typeface="Arial"/>
                <a:ea typeface="Arial"/>
                <a:cs typeface="Arial"/>
                <a:sym typeface="Arial"/>
              </a:rPr>
              <a:t>Y-axis: Represents Launched Price (USA).</a:t>
            </a:r>
          </a:p>
          <a:p>
            <a:pPr algn="l">
              <a:lnSpc>
                <a:spcPts val="2384"/>
              </a:lnSpc>
            </a:pPr>
          </a:p>
          <a:p>
            <a:pPr algn="l">
              <a:lnSpc>
                <a:spcPts val="2384"/>
              </a:lnSpc>
            </a:pPr>
            <a:r>
              <a:rPr lang="en-US" sz="2293" spc="-96">
                <a:solidFill>
                  <a:srgbClr val="FFFFFF"/>
                </a:solidFill>
                <a:latin typeface="Arial"/>
                <a:ea typeface="Arial"/>
                <a:cs typeface="Arial"/>
                <a:sym typeface="Arial"/>
              </a:rPr>
              <a:t>Points: Each point represents a mobile phone, where its position is determined by the RAM and the price.</a:t>
            </a:r>
          </a:p>
          <a:p>
            <a:pPr algn="l">
              <a:lnSpc>
                <a:spcPts val="2384"/>
              </a:lnSpc>
            </a:pPr>
          </a:p>
          <a:p>
            <a:pPr algn="l">
              <a:lnSpc>
                <a:spcPts val="2384"/>
              </a:lnSpc>
            </a:pPr>
            <a:r>
              <a:rPr lang="en-US" sz="2293" spc="-96">
                <a:solidFill>
                  <a:srgbClr val="FFFFFF"/>
                </a:solidFill>
                <a:latin typeface="Arial"/>
                <a:ea typeface="Arial"/>
                <a:cs typeface="Arial"/>
                <a:sym typeface="Arial"/>
              </a:rPr>
              <a:t>Colors: Represent Company Name, with each company having a different color, helping to compare prices across different companies.</a:t>
            </a:r>
          </a:p>
          <a:p>
            <a:pPr algn="l">
              <a:lnSpc>
                <a:spcPts val="2384"/>
              </a:lnSpc>
            </a:pPr>
          </a:p>
          <a:p>
            <a:pPr algn="l">
              <a:lnSpc>
                <a:spcPts val="2384"/>
              </a:lnSpc>
            </a:pPr>
            <a:r>
              <a:rPr lang="en-US" sz="2293" spc="-96">
                <a:solidFill>
                  <a:srgbClr val="FFFFFF"/>
                </a:solidFill>
                <a:latin typeface="Arial"/>
                <a:ea typeface="Arial"/>
                <a:cs typeface="Arial"/>
                <a:sym typeface="Arial"/>
              </a:rPr>
              <a:t>Why Use a Scatter Plot?</a:t>
            </a:r>
          </a:p>
          <a:p>
            <a:pPr algn="l">
              <a:lnSpc>
                <a:spcPts val="2384"/>
              </a:lnSpc>
            </a:pPr>
            <a:r>
              <a:rPr lang="en-US" sz="2293" spc="-96">
                <a:solidFill>
                  <a:srgbClr val="FFFFFF"/>
                </a:solidFill>
                <a:latin typeface="Arial"/>
                <a:ea typeface="Arial"/>
                <a:cs typeface="Arial"/>
                <a:sym typeface="Arial"/>
              </a:rPr>
              <a:t>To compare how RAM affects Price. For example, does a higher RAM correspond to a higher price?</a:t>
            </a:r>
          </a:p>
          <a:p>
            <a:pPr algn="l">
              <a:lnSpc>
                <a:spcPts val="2384"/>
              </a:lnSpc>
            </a:pPr>
          </a:p>
          <a:p>
            <a:pPr algn="l">
              <a:lnSpc>
                <a:spcPts val="2384"/>
              </a:lnSpc>
            </a:pPr>
            <a:r>
              <a:rPr lang="en-US" sz="2293" spc="-96">
                <a:solidFill>
                  <a:srgbClr val="FFFFFF"/>
                </a:solidFill>
                <a:latin typeface="Arial"/>
                <a:ea typeface="Arial"/>
                <a:cs typeface="Arial"/>
                <a:sym typeface="Arial"/>
              </a:rPr>
              <a:t>To discover relationships or patterns between the variables.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56381" y="1576306"/>
            <a:ext cx="7722085" cy="8465683"/>
          </a:xfrm>
          <a:custGeom>
            <a:avLst/>
            <a:gdLst/>
            <a:ahLst/>
            <a:cxnLst/>
            <a:rect r="r" b="b" t="t" l="l"/>
            <a:pathLst>
              <a:path h="8465683" w="7722085">
                <a:moveTo>
                  <a:pt x="0" y="0"/>
                </a:moveTo>
                <a:lnTo>
                  <a:pt x="7722085" y="0"/>
                </a:lnTo>
                <a:lnTo>
                  <a:pt x="7722085" y="8465684"/>
                </a:lnTo>
                <a:lnTo>
                  <a:pt x="0" y="8465684"/>
                </a:lnTo>
                <a:lnTo>
                  <a:pt x="0" y="0"/>
                </a:lnTo>
                <a:close/>
              </a:path>
            </a:pathLst>
          </a:custGeom>
          <a:blipFill>
            <a:blip r:embed="rId8"/>
            <a:stretch>
              <a:fillRect l="-3736" t="-4054" r="-5135" b="-4684"/>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144000" y="1677855"/>
            <a:ext cx="7448196"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Modeling and Prediction:</a:t>
            </a:r>
          </a:p>
        </p:txBody>
      </p:sp>
      <p:sp>
        <p:nvSpPr>
          <p:cNvPr name="TextBox 14" id="14"/>
          <p:cNvSpPr txBox="true"/>
          <p:nvPr/>
        </p:nvSpPr>
        <p:spPr>
          <a:xfrm rot="0">
            <a:off x="8700694" y="2580570"/>
            <a:ext cx="9587306" cy="6185183"/>
          </a:xfrm>
          <a:prstGeom prst="rect">
            <a:avLst/>
          </a:prstGeom>
        </p:spPr>
        <p:txBody>
          <a:bodyPr anchor="t" rtlCol="false" tIns="0" lIns="0" bIns="0" rIns="0">
            <a:spAutoFit/>
          </a:bodyPr>
          <a:lstStyle/>
          <a:p>
            <a:pPr algn="l">
              <a:lnSpc>
                <a:spcPts val="2833"/>
              </a:lnSpc>
            </a:pPr>
            <a:r>
              <a:rPr lang="en-US" sz="2724" spc="-114" b="true">
                <a:solidFill>
                  <a:srgbClr val="FFFFFF"/>
                </a:solidFill>
                <a:latin typeface="Arial Bold"/>
                <a:ea typeface="Arial Bold"/>
                <a:cs typeface="Arial Bold"/>
                <a:sym typeface="Arial Bold"/>
              </a:rPr>
              <a:t> Splitting the Data into Training and Testing Sets:</a:t>
            </a:r>
          </a:p>
          <a:p>
            <a:pPr algn="l">
              <a:lnSpc>
                <a:spcPts val="2833"/>
              </a:lnSpc>
            </a:pPr>
          </a:p>
          <a:p>
            <a:pPr algn="l">
              <a:lnSpc>
                <a:spcPts val="2833"/>
              </a:lnSpc>
            </a:pPr>
            <a:r>
              <a:rPr lang="en-US" sz="2724" spc="-114" b="true">
                <a:solidFill>
                  <a:srgbClr val="FFFFFF"/>
                </a:solidFill>
                <a:latin typeface="Arial Bold"/>
                <a:ea typeface="Arial Bold"/>
                <a:cs typeface="Arial Bold"/>
                <a:sym typeface="Arial Bold"/>
              </a:rPr>
              <a:t> </a:t>
            </a:r>
            <a:r>
              <a:rPr lang="en-US" sz="2724" spc="-114">
                <a:solidFill>
                  <a:srgbClr val="FFFFFF"/>
                </a:solidFill>
                <a:latin typeface="Arial"/>
                <a:ea typeface="Arial"/>
                <a:cs typeface="Arial"/>
                <a:sym typeface="Arial"/>
              </a:rPr>
              <a:t>Used train_test_split() to divide the data into training and testing </a:t>
            </a:r>
          </a:p>
          <a:p>
            <a:pPr algn="l">
              <a:lnSpc>
                <a:spcPts val="2833"/>
              </a:lnSpc>
            </a:pPr>
          </a:p>
          <a:p>
            <a:pPr algn="l">
              <a:lnSpc>
                <a:spcPts val="2833"/>
              </a:lnSpc>
            </a:pPr>
            <a:r>
              <a:rPr lang="en-US" sz="2724" spc="-114">
                <a:solidFill>
                  <a:srgbClr val="FFFFFF"/>
                </a:solidFill>
                <a:latin typeface="Arial"/>
                <a:ea typeface="Arial"/>
                <a:cs typeface="Arial"/>
                <a:sym typeface="Arial"/>
              </a:rPr>
              <a:t>sets (80% training, 20% testing).</a:t>
            </a:r>
          </a:p>
          <a:p>
            <a:pPr algn="l">
              <a:lnSpc>
                <a:spcPts val="2833"/>
              </a:lnSpc>
            </a:pPr>
          </a:p>
          <a:p>
            <a:pPr algn="l">
              <a:lnSpc>
                <a:spcPts val="2833"/>
              </a:lnSpc>
            </a:pPr>
            <a:r>
              <a:rPr lang="en-US" sz="2724" spc="-114">
                <a:solidFill>
                  <a:srgbClr val="FFFFFF"/>
                </a:solidFill>
                <a:latin typeface="Arial"/>
                <a:ea typeface="Arial"/>
                <a:cs typeface="Arial"/>
                <a:sym typeface="Arial"/>
              </a:rPr>
              <a:t>Random Forest Model: We used the Random Forest Regressor to build the prediction model for mobile phone prices.</a:t>
            </a:r>
          </a:p>
          <a:p>
            <a:pPr algn="l">
              <a:lnSpc>
                <a:spcPts val="2833"/>
              </a:lnSpc>
            </a:pPr>
          </a:p>
          <a:p>
            <a:pPr algn="l">
              <a:lnSpc>
                <a:spcPts val="2833"/>
              </a:lnSpc>
            </a:pPr>
            <a:r>
              <a:rPr lang="en-US" sz="2724" spc="-114">
                <a:solidFill>
                  <a:srgbClr val="FFFFFF"/>
                </a:solidFill>
                <a:latin typeface="Arial"/>
                <a:ea typeface="Arial"/>
                <a:cs typeface="Arial"/>
                <a:sym typeface="Arial"/>
              </a:rPr>
              <a:t>Grid Search CV for Hyperparameter Tuning: We performed Grid </a:t>
            </a:r>
          </a:p>
          <a:p>
            <a:pPr algn="l">
              <a:lnSpc>
                <a:spcPts val="2833"/>
              </a:lnSpc>
            </a:pPr>
          </a:p>
          <a:p>
            <a:pPr algn="l">
              <a:lnSpc>
                <a:spcPts val="2833"/>
              </a:lnSpc>
            </a:pPr>
            <a:r>
              <a:rPr lang="en-US" sz="2724" spc="-114">
                <a:solidFill>
                  <a:srgbClr val="FFFFFF"/>
                </a:solidFill>
                <a:latin typeface="Arial"/>
                <a:ea typeface="Arial"/>
                <a:cs typeface="Arial"/>
                <a:sym typeface="Arial"/>
              </a:rPr>
              <a:t>Search CV to find the best hyperparameters for the Random </a:t>
            </a:r>
          </a:p>
          <a:p>
            <a:pPr algn="l">
              <a:lnSpc>
                <a:spcPts val="2833"/>
              </a:lnSpc>
            </a:pPr>
            <a:r>
              <a:rPr lang="en-US" sz="2724" spc="-114">
                <a:solidFill>
                  <a:srgbClr val="FFFFFF"/>
                </a:solidFill>
                <a:latin typeface="Arial"/>
                <a:ea typeface="Arial"/>
                <a:cs typeface="Arial"/>
                <a:sym typeface="Arial"/>
              </a:rPr>
              <a:t>Forest model.</a:t>
            </a:r>
          </a:p>
          <a:p>
            <a:pPr algn="l">
              <a:lnSpc>
                <a:spcPts val="2833"/>
              </a:lnSpc>
            </a:pPr>
          </a:p>
          <a:p>
            <a:pPr algn="l">
              <a:lnSpc>
                <a:spcPts val="2833"/>
              </a:lnSpc>
            </a:pPr>
            <a:r>
              <a:rPr lang="en-US" sz="2724" spc="-114">
                <a:solidFill>
                  <a:srgbClr val="FFFFFF"/>
                </a:solidFill>
                <a:latin typeface="Arial"/>
                <a:ea typeface="Arial"/>
                <a:cs typeface="Arial"/>
                <a:sym typeface="Arial"/>
              </a:rPr>
              <a:t>Model Selection: We selected the best model based on the </a:t>
            </a:r>
          </a:p>
          <a:p>
            <a:pPr algn="l">
              <a:lnSpc>
                <a:spcPts val="2833"/>
              </a:lnSpc>
            </a:pPr>
          </a:p>
          <a:p>
            <a:pPr algn="l">
              <a:lnSpc>
                <a:spcPts val="2833"/>
              </a:lnSpc>
            </a:pPr>
            <a:r>
              <a:rPr lang="en-US" sz="2724" spc="-114">
                <a:solidFill>
                  <a:srgbClr val="FFFFFF"/>
                </a:solidFill>
                <a:latin typeface="Arial"/>
                <a:ea typeface="Arial"/>
                <a:cs typeface="Arial"/>
                <a:sym typeface="Arial"/>
              </a:rPr>
              <a:t>hyperparameters found through cross-validation.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2879623" y="6261408"/>
            <a:ext cx="406389" cy="229794"/>
          </a:xfrm>
          <a:custGeom>
            <a:avLst/>
            <a:gdLst/>
            <a:ahLst/>
            <a:cxnLst/>
            <a:rect r="r" b="b" t="t" l="l"/>
            <a:pathLst>
              <a:path h="229794" w="406389">
                <a:moveTo>
                  <a:pt x="0" y="0"/>
                </a:moveTo>
                <a:lnTo>
                  <a:pt x="406389" y="0"/>
                </a:lnTo>
                <a:lnTo>
                  <a:pt x="406389" y="229795"/>
                </a:lnTo>
                <a:lnTo>
                  <a:pt x="0" y="2297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96288" y="2944143"/>
            <a:ext cx="489274" cy="455359"/>
          </a:xfrm>
          <a:custGeom>
            <a:avLst/>
            <a:gdLst/>
            <a:ahLst/>
            <a:cxnLst/>
            <a:rect r="r" b="b" t="t" l="l"/>
            <a:pathLst>
              <a:path h="455359" w="489274">
                <a:moveTo>
                  <a:pt x="0" y="0"/>
                </a:moveTo>
                <a:lnTo>
                  <a:pt x="489274" y="0"/>
                </a:lnTo>
                <a:lnTo>
                  <a:pt x="489274" y="455359"/>
                </a:lnTo>
                <a:lnTo>
                  <a:pt x="0" y="455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56381" y="1576306"/>
            <a:ext cx="7722085" cy="8465683"/>
          </a:xfrm>
          <a:custGeom>
            <a:avLst/>
            <a:gdLst/>
            <a:ahLst/>
            <a:cxnLst/>
            <a:rect r="r" b="b" t="t" l="l"/>
            <a:pathLst>
              <a:path h="8465683" w="7722085">
                <a:moveTo>
                  <a:pt x="0" y="0"/>
                </a:moveTo>
                <a:lnTo>
                  <a:pt x="7722085" y="0"/>
                </a:lnTo>
                <a:lnTo>
                  <a:pt x="7722085" y="8465684"/>
                </a:lnTo>
                <a:lnTo>
                  <a:pt x="0" y="8465684"/>
                </a:lnTo>
                <a:lnTo>
                  <a:pt x="0" y="0"/>
                </a:lnTo>
                <a:close/>
              </a:path>
            </a:pathLst>
          </a:custGeom>
          <a:blipFill>
            <a:blip r:embed="rId8"/>
            <a:stretch>
              <a:fillRect l="-3736" t="-4054" r="-5135" b="-4684"/>
            </a:stretch>
          </a:blipFill>
        </p:spPr>
      </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9144000" y="1677855"/>
            <a:ext cx="7448196" cy="807651"/>
          </a:xfrm>
          <a:prstGeom prst="rect">
            <a:avLst/>
          </a:prstGeom>
        </p:spPr>
        <p:txBody>
          <a:bodyPr anchor="t" rtlCol="false" tIns="0" lIns="0" bIns="0" rIns="0">
            <a:spAutoFit/>
          </a:bodyPr>
          <a:lstStyle/>
          <a:p>
            <a:pPr algn="l">
              <a:lnSpc>
                <a:spcPts val="5387"/>
              </a:lnSpc>
            </a:pPr>
            <a:r>
              <a:rPr lang="en-US" sz="5180" spc="-217" b="true">
                <a:solidFill>
                  <a:srgbClr val="FFFFFF"/>
                </a:solidFill>
                <a:latin typeface="Arial Bold"/>
                <a:ea typeface="Arial Bold"/>
                <a:cs typeface="Arial Bold"/>
                <a:sym typeface="Arial Bold"/>
              </a:rPr>
              <a:t> Model Evaluation:</a:t>
            </a:r>
          </a:p>
        </p:txBody>
      </p:sp>
      <p:sp>
        <p:nvSpPr>
          <p:cNvPr name="TextBox 14" id="14"/>
          <p:cNvSpPr txBox="true"/>
          <p:nvPr/>
        </p:nvSpPr>
        <p:spPr>
          <a:xfrm rot="0">
            <a:off x="8700694" y="2923657"/>
            <a:ext cx="9587306" cy="3246229"/>
          </a:xfrm>
          <a:prstGeom prst="rect">
            <a:avLst/>
          </a:prstGeom>
        </p:spPr>
        <p:txBody>
          <a:bodyPr anchor="t" rtlCol="false" tIns="0" lIns="0" bIns="0" rIns="0">
            <a:spAutoFit/>
          </a:bodyPr>
          <a:lstStyle/>
          <a:p>
            <a:pPr algn="l">
              <a:lnSpc>
                <a:spcPts val="2833"/>
              </a:lnSpc>
            </a:pPr>
            <a:r>
              <a:rPr lang="en-US" sz="2724" spc="-114" b="true">
                <a:solidFill>
                  <a:srgbClr val="FFFFFF"/>
                </a:solidFill>
                <a:latin typeface="Arial Bold"/>
                <a:ea typeface="Arial Bold"/>
                <a:cs typeface="Arial Bold"/>
                <a:sym typeface="Arial Bold"/>
              </a:rPr>
              <a:t> The model was evaluated using performance metrics such as:</a:t>
            </a:r>
          </a:p>
          <a:p>
            <a:pPr algn="l">
              <a:lnSpc>
                <a:spcPts val="2833"/>
              </a:lnSpc>
            </a:pPr>
          </a:p>
          <a:p>
            <a:pPr algn="l">
              <a:lnSpc>
                <a:spcPts val="2833"/>
              </a:lnSpc>
            </a:pPr>
            <a:r>
              <a:rPr lang="en-US" sz="2724" spc="-114">
                <a:solidFill>
                  <a:srgbClr val="FFFFFF"/>
                </a:solidFill>
                <a:latin typeface="Arial"/>
                <a:ea typeface="Arial"/>
                <a:cs typeface="Arial"/>
                <a:sym typeface="Arial"/>
              </a:rPr>
              <a:t>Root Mean Squared Error (RMSE): To measure the error in predictions.</a:t>
            </a:r>
          </a:p>
          <a:p>
            <a:pPr algn="l">
              <a:lnSpc>
                <a:spcPts val="2833"/>
              </a:lnSpc>
            </a:pPr>
          </a:p>
          <a:p>
            <a:pPr algn="l">
              <a:lnSpc>
                <a:spcPts val="2833"/>
              </a:lnSpc>
            </a:pPr>
            <a:r>
              <a:rPr lang="en-US" sz="2724" spc="-114">
                <a:solidFill>
                  <a:srgbClr val="FFFFFF"/>
                </a:solidFill>
                <a:latin typeface="Arial"/>
                <a:ea typeface="Arial"/>
                <a:cs typeface="Arial"/>
                <a:sym typeface="Arial"/>
              </a:rPr>
              <a:t>Mean Absolute Error (MAE): To measure the average absolute error.</a:t>
            </a:r>
          </a:p>
          <a:p>
            <a:pPr algn="l">
              <a:lnSpc>
                <a:spcPts val="2833"/>
              </a:lnSpc>
            </a:pPr>
          </a:p>
          <a:p>
            <a:pPr algn="l">
              <a:lnSpc>
                <a:spcPts val="2833"/>
              </a:lnSpc>
            </a:pPr>
            <a:r>
              <a:rPr lang="en-US" sz="2724" spc="-114">
                <a:solidFill>
                  <a:srgbClr val="FFFFFF"/>
                </a:solidFill>
                <a:latin typeface="Arial"/>
                <a:ea typeface="Arial"/>
                <a:cs typeface="Arial"/>
                <a:sym typeface="Arial"/>
              </a:rPr>
              <a:t>R² score: To assess how well the model predicts the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851681">
            <a:off x="808966" y="7541919"/>
            <a:ext cx="21825170" cy="18180272"/>
            <a:chOff x="0" y="0"/>
            <a:chExt cx="5748193" cy="4788220"/>
          </a:xfrm>
        </p:grpSpPr>
        <p:sp>
          <p:nvSpPr>
            <p:cNvPr name="Freeform 8" id="8"/>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9" id="9"/>
            <p:cNvSpPr txBox="true"/>
            <p:nvPr/>
          </p:nvSpPr>
          <p:spPr>
            <a:xfrm>
              <a:off x="0" y="19050"/>
              <a:ext cx="5748193" cy="4769170"/>
            </a:xfrm>
            <a:prstGeom prst="rect">
              <a:avLst/>
            </a:prstGeom>
          </p:spPr>
          <p:txBody>
            <a:bodyPr anchor="ctr" rtlCol="false" tIns="50800" lIns="50800" bIns="50800" rIns="50800"/>
            <a:lstStyle/>
            <a:p>
              <a:pPr algn="ctr">
                <a:lnSpc>
                  <a:spcPts val="1387"/>
                </a:lnSpc>
              </a:pPr>
            </a:p>
          </p:txBody>
        </p:sp>
      </p:grpSp>
      <p:sp>
        <p:nvSpPr>
          <p:cNvPr name="Freeform 10" id="10"/>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6"/>
            <a:stretch>
              <a:fillRect l="0" t="-3447" r="-3873" b="-19661"/>
            </a:stretch>
          </a:blipFill>
        </p:spPr>
      </p:sp>
      <p:sp>
        <p:nvSpPr>
          <p:cNvPr name="TextBox 11" id="11"/>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2" id="12"/>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3" id="13"/>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4" id="14"/>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5" id="15"/>
          <p:cNvSpPr txBox="true"/>
          <p:nvPr/>
        </p:nvSpPr>
        <p:spPr>
          <a:xfrm rot="0">
            <a:off x="4364800" y="2224750"/>
            <a:ext cx="9558399" cy="1505800"/>
          </a:xfrm>
          <a:prstGeom prst="rect">
            <a:avLst/>
          </a:prstGeom>
        </p:spPr>
        <p:txBody>
          <a:bodyPr anchor="t" rtlCol="false" tIns="0" lIns="0" bIns="0" rIns="0">
            <a:spAutoFit/>
          </a:bodyPr>
          <a:lstStyle/>
          <a:p>
            <a:pPr algn="ctr">
              <a:lnSpc>
                <a:spcPts val="10048"/>
              </a:lnSpc>
            </a:pPr>
            <a:r>
              <a:rPr lang="en-US" b="true" sz="9662" spc="-405">
                <a:solidFill>
                  <a:srgbClr val="FFFFFF"/>
                </a:solidFill>
                <a:latin typeface="Arial Bold"/>
                <a:ea typeface="Arial Bold"/>
                <a:cs typeface="Arial Bold"/>
                <a:sym typeface="Arial Bold"/>
              </a:rPr>
              <a:t>conclusion</a:t>
            </a:r>
          </a:p>
        </p:txBody>
      </p:sp>
      <p:sp>
        <p:nvSpPr>
          <p:cNvPr name="TextBox 16" id="16"/>
          <p:cNvSpPr txBox="true"/>
          <p:nvPr/>
        </p:nvSpPr>
        <p:spPr>
          <a:xfrm rot="0">
            <a:off x="589719" y="3742380"/>
            <a:ext cx="16994543" cy="3613783"/>
          </a:xfrm>
          <a:prstGeom prst="rect">
            <a:avLst/>
          </a:prstGeom>
        </p:spPr>
        <p:txBody>
          <a:bodyPr anchor="t" rtlCol="false" tIns="0" lIns="0" bIns="0" rIns="0">
            <a:spAutoFit/>
          </a:bodyPr>
          <a:lstStyle/>
          <a:p>
            <a:pPr algn="ctr">
              <a:lnSpc>
                <a:spcPts val="4118"/>
              </a:lnSpc>
            </a:pPr>
            <a:r>
              <a:rPr lang="en-US" sz="2394" b="true">
                <a:solidFill>
                  <a:srgbClr val="FFFFFF"/>
                </a:solidFill>
                <a:latin typeface="Arial Bold"/>
                <a:ea typeface="Arial Bold"/>
                <a:cs typeface="Arial Bold"/>
                <a:sym typeface="Arial Bold"/>
              </a:rPr>
              <a:t>In this project, we successfully developed a model to predict mobile phone prices using various modeling techniques. Through data cleaning and transformation, removing missing values, handling outliers, and using Random Forest with GridSearchCV for hyperparameter tuning, we were able to improve the accuracy of our model.</a:t>
            </a:r>
          </a:p>
          <a:p>
            <a:pPr algn="ctr">
              <a:lnSpc>
                <a:spcPts val="4118"/>
              </a:lnSpc>
            </a:pPr>
          </a:p>
          <a:p>
            <a:pPr algn="ctr">
              <a:lnSpc>
                <a:spcPts val="4118"/>
              </a:lnSpc>
            </a:pPr>
            <a:r>
              <a:rPr lang="en-US" b="true" sz="2394">
                <a:solidFill>
                  <a:srgbClr val="FFFFFF"/>
                </a:solidFill>
                <a:latin typeface="Arial Bold"/>
                <a:ea typeface="Arial Bold"/>
                <a:cs typeface="Arial Bold"/>
                <a:sym typeface="Arial Bold"/>
              </a:rPr>
              <a:t>Although the model performed well, there is always room for improvement by incorporating additional features or using more advanced techniques. In the future, we could enhance the model by adding more data such as user reviews or images of the phones to improve the prediction accuracy.</a:t>
            </a:r>
            <a:r>
              <a:rPr lang="en-US" b="true" sz="2394">
                <a:solidFill>
                  <a:srgbClr val="FFFFFF"/>
                </a:solidFill>
                <a:latin typeface="Arial Bold"/>
                <a:ea typeface="Arial Bold"/>
                <a:cs typeface="Arial Bold"/>
                <a:sym typeface="Arial Bold"/>
              </a:rPr>
              <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374770">
            <a:off x="-2091567" y="4693858"/>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a:lnSpc>
                  <a:spcPts val="1387"/>
                </a:lnSpc>
              </a:pPr>
            </a:p>
          </p:txBody>
        </p:sp>
      </p:grpSp>
      <p:grpSp>
        <p:nvGrpSpPr>
          <p:cNvPr name="Group 6" id="6"/>
          <p:cNvGrpSpPr/>
          <p:nvPr/>
        </p:nvGrpSpPr>
        <p:grpSpPr>
          <a:xfrm rot="0">
            <a:off x="15154957" y="756844"/>
            <a:ext cx="2104343" cy="481425"/>
            <a:chOff x="0" y="0"/>
            <a:chExt cx="1776404" cy="406400"/>
          </a:xfrm>
        </p:grpSpPr>
        <p:sp>
          <p:nvSpPr>
            <p:cNvPr name="Freeform 7" id="7"/>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 cap="sq">
              <a:solidFill>
                <a:srgbClr val="FFFFFF"/>
              </a:solidFill>
              <a:prstDash val="solid"/>
              <a:miter/>
            </a:ln>
          </p:spPr>
        </p:sp>
        <p:sp>
          <p:nvSpPr>
            <p:cNvPr name="TextBox 8" id="8"/>
            <p:cNvSpPr txBox="true"/>
            <p:nvPr/>
          </p:nvSpPr>
          <p:spPr>
            <a:xfrm>
              <a:off x="0" y="-38100"/>
              <a:ext cx="177640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95032" y="930452"/>
            <a:ext cx="1302079" cy="362467"/>
          </a:xfrm>
          <a:prstGeom prst="rect">
            <a:avLst/>
          </a:prstGeom>
        </p:spPr>
        <p:txBody>
          <a:bodyPr anchor="t" rtlCol="false" tIns="0" lIns="0" bIns="0" rIns="0">
            <a:spAutoFit/>
          </a:bodyPr>
          <a:lstStyle/>
          <a:p>
            <a:pPr algn="l">
              <a:lnSpc>
                <a:spcPts val="2267"/>
              </a:lnSpc>
            </a:pPr>
            <a:r>
              <a:rPr lang="en-US" sz="2576" spc="-41" b="true">
                <a:solidFill>
                  <a:srgbClr val="FFFFFF"/>
                </a:solidFill>
                <a:latin typeface="Arial Bold"/>
                <a:ea typeface="Arial Bold"/>
                <a:cs typeface="Arial Bold"/>
                <a:sym typeface="Arial Bold"/>
              </a:rPr>
              <a:t> ML</a:t>
            </a:r>
          </a:p>
        </p:txBody>
      </p:sp>
      <p:sp>
        <p:nvSpPr>
          <p:cNvPr name="TextBox 10" id="10"/>
          <p:cNvSpPr txBox="true"/>
          <p:nvPr/>
        </p:nvSpPr>
        <p:spPr>
          <a:xfrm rot="0">
            <a:off x="13923200" y="920927"/>
            <a:ext cx="300272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@reallygreatsite</a:t>
            </a:r>
          </a:p>
        </p:txBody>
      </p:sp>
      <p:sp>
        <p:nvSpPr>
          <p:cNvPr name="TextBox 11" id="11"/>
          <p:cNvSpPr txBox="true"/>
          <p:nvPr/>
        </p:nvSpPr>
        <p:spPr>
          <a:xfrm rot="0">
            <a:off x="13179026" y="920927"/>
            <a:ext cx="1136202"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About Us</a:t>
            </a:r>
          </a:p>
        </p:txBody>
      </p:sp>
      <p:sp>
        <p:nvSpPr>
          <p:cNvPr name="TextBox 12" id="12"/>
          <p:cNvSpPr txBox="true"/>
          <p:nvPr/>
        </p:nvSpPr>
        <p:spPr>
          <a:xfrm rot="0">
            <a:off x="11721551" y="920927"/>
            <a:ext cx="811975" cy="216460"/>
          </a:xfrm>
          <a:prstGeom prst="rect">
            <a:avLst/>
          </a:prstGeom>
        </p:spPr>
        <p:txBody>
          <a:bodyPr anchor="t" rtlCol="false" tIns="0" lIns="0" bIns="0" rIns="0">
            <a:spAutoFit/>
          </a:bodyPr>
          <a:lstStyle/>
          <a:p>
            <a:pPr algn="r">
              <a:lnSpc>
                <a:spcPts val="1387"/>
              </a:lnSpc>
            </a:pPr>
            <a:r>
              <a:rPr lang="en-US" sz="1576">
                <a:solidFill>
                  <a:srgbClr val="FFFFFF"/>
                </a:solidFill>
                <a:latin typeface="Arial"/>
                <a:ea typeface="Arial"/>
                <a:cs typeface="Arial"/>
                <a:sym typeface="Arial"/>
              </a:rPr>
              <a:t>Menu</a:t>
            </a:r>
          </a:p>
        </p:txBody>
      </p:sp>
      <p:sp>
        <p:nvSpPr>
          <p:cNvPr name="TextBox 13" id="13"/>
          <p:cNvSpPr txBox="true"/>
          <p:nvPr/>
        </p:nvSpPr>
        <p:spPr>
          <a:xfrm rot="0">
            <a:off x="2080871" y="4001801"/>
            <a:ext cx="14126257" cy="2226248"/>
          </a:xfrm>
          <a:prstGeom prst="rect">
            <a:avLst/>
          </a:prstGeom>
        </p:spPr>
        <p:txBody>
          <a:bodyPr anchor="t" rtlCol="false" tIns="0" lIns="0" bIns="0" rIns="0">
            <a:spAutoFit/>
          </a:bodyPr>
          <a:lstStyle/>
          <a:p>
            <a:pPr algn="ctr">
              <a:lnSpc>
                <a:spcPts val="14851"/>
              </a:lnSpc>
            </a:pPr>
            <a:r>
              <a:rPr lang="en-US" b="true" sz="14279" spc="-599">
                <a:solidFill>
                  <a:srgbClr val="FFFFFF"/>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DAGlexkmkmM</dc:identifier>
  <dcterms:modified xsi:type="dcterms:W3CDTF">2011-08-01T06:04:30Z</dcterms:modified>
  <cp:revision>1</cp:revision>
  <dc:title>MOBILES ANALYSIS</dc:title>
</cp:coreProperties>
</file>