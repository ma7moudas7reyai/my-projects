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40" r:id="rId1"/>
  </p:sldMasterIdLst>
  <p:notesMasterIdLst>
    <p:notesMasterId r:id="rId40"/>
  </p:notesMasterIdLst>
  <p:sldIdLst>
    <p:sldId id="256" r:id="rId2"/>
    <p:sldId id="258" r:id="rId3"/>
    <p:sldId id="259" r:id="rId4"/>
    <p:sldId id="260" r:id="rId5"/>
    <p:sldId id="261" r:id="rId6"/>
    <p:sldId id="264" r:id="rId7"/>
    <p:sldId id="265" r:id="rId8"/>
    <p:sldId id="266" r:id="rId9"/>
    <p:sldId id="263" r:id="rId10"/>
    <p:sldId id="267" r:id="rId11"/>
    <p:sldId id="269" r:id="rId12"/>
    <p:sldId id="270" r:id="rId13"/>
    <p:sldId id="288" r:id="rId14"/>
    <p:sldId id="280" r:id="rId15"/>
    <p:sldId id="281" r:id="rId16"/>
    <p:sldId id="285" r:id="rId17"/>
    <p:sldId id="286" r:id="rId18"/>
    <p:sldId id="271" r:id="rId19"/>
    <p:sldId id="272" r:id="rId20"/>
    <p:sldId id="273" r:id="rId21"/>
    <p:sldId id="292" r:id="rId22"/>
    <p:sldId id="274" r:id="rId23"/>
    <p:sldId id="293" r:id="rId24"/>
    <p:sldId id="275" r:id="rId25"/>
    <p:sldId id="289" r:id="rId26"/>
    <p:sldId id="282" r:id="rId27"/>
    <p:sldId id="290" r:id="rId28"/>
    <p:sldId id="276" r:id="rId29"/>
    <p:sldId id="291" r:id="rId30"/>
    <p:sldId id="277" r:id="rId31"/>
    <p:sldId id="294" r:id="rId32"/>
    <p:sldId id="278" r:id="rId33"/>
    <p:sldId id="287" r:id="rId34"/>
    <p:sldId id="283" r:id="rId35"/>
    <p:sldId id="295" r:id="rId36"/>
    <p:sldId id="284" r:id="rId37"/>
    <p:sldId id="296" r:id="rId38"/>
    <p:sldId id="297"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orhan Mohamed yahia" initials="NMy" lastIdx="1" clrIdx="0">
    <p:extLst>
      <p:ext uri="{19B8F6BF-5375-455C-9EA6-DF929625EA0E}">
        <p15:presenceInfo xmlns:p15="http://schemas.microsoft.com/office/powerpoint/2012/main" userId="S-1-5-21-1809020924-3702665324-2274208293-10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94660"/>
  </p:normalViewPr>
  <p:slideViewPr>
    <p:cSldViewPr snapToGrid="0">
      <p:cViewPr varScale="1">
        <p:scale>
          <a:sx n="77" d="100"/>
          <a:sy n="77" d="100"/>
        </p:scale>
        <p:origin x="9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83E1DA34-9191-40C3-A656-208B2D42A161}" type="datetimeFigureOut">
              <a:rPr lang="ar-EG" smtClean="0"/>
              <a:t>19/06/1446</a:t>
            </a:fld>
            <a:endParaRPr lang="ar-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1BF41CF8-C743-4B78-A89D-8EEF7D1D4267}" type="slidenum">
              <a:rPr lang="ar-EG" smtClean="0"/>
              <a:t>‹#›</a:t>
            </a:fld>
            <a:endParaRPr lang="ar-EG"/>
          </a:p>
        </p:txBody>
      </p:sp>
    </p:spTree>
    <p:extLst>
      <p:ext uri="{BB962C8B-B14F-4D97-AF65-F5344CB8AC3E}">
        <p14:creationId xmlns:p14="http://schemas.microsoft.com/office/powerpoint/2010/main" val="4018000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F41CF8-C743-4B78-A89D-8EEF7D1D4267}" type="slidenum">
              <a:rPr lang="ar-EG" smtClean="0"/>
              <a:t>1</a:t>
            </a:fld>
            <a:endParaRPr lang="ar-EG"/>
          </a:p>
        </p:txBody>
      </p:sp>
    </p:spTree>
    <p:extLst>
      <p:ext uri="{BB962C8B-B14F-4D97-AF65-F5344CB8AC3E}">
        <p14:creationId xmlns:p14="http://schemas.microsoft.com/office/powerpoint/2010/main" val="37155802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D5CBC2E3-5DC9-450F-B667-68549FF0834E}" type="datetimeFigureOut">
              <a:rPr lang="ar-EG" smtClean="0"/>
              <a:t>19/06/1446</a:t>
            </a:fld>
            <a:endParaRPr lang="ar-EG"/>
          </a:p>
        </p:txBody>
      </p:sp>
      <p:sp>
        <p:nvSpPr>
          <p:cNvPr id="5" name="Footer Placeholder 4"/>
          <p:cNvSpPr>
            <a:spLocks noGrp="1"/>
          </p:cNvSpPr>
          <p:nvPr>
            <p:ph type="ftr" sz="quarter" idx="11"/>
          </p:nvPr>
        </p:nvSpPr>
        <p:spPr>
          <a:xfrm>
            <a:off x="3962399" y="5870575"/>
            <a:ext cx="4893958" cy="377825"/>
          </a:xfrm>
        </p:spPr>
        <p:txBody>
          <a:bodyPr/>
          <a:lstStyle/>
          <a:p>
            <a:endParaRPr lang="ar-EG"/>
          </a:p>
        </p:txBody>
      </p:sp>
      <p:sp>
        <p:nvSpPr>
          <p:cNvPr id="6" name="Slide Number Placeholder 5"/>
          <p:cNvSpPr>
            <a:spLocks noGrp="1"/>
          </p:cNvSpPr>
          <p:nvPr>
            <p:ph type="sldNum" sz="quarter" idx="12"/>
          </p:nvPr>
        </p:nvSpPr>
        <p:spPr>
          <a:xfrm>
            <a:off x="10608958" y="5870575"/>
            <a:ext cx="551167" cy="377825"/>
          </a:xfrm>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31787399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CBC2E3-5DC9-450F-B667-68549FF0834E}" type="datetimeFigureOut">
              <a:rPr lang="ar-EG" smtClean="0"/>
              <a:t>19/06/1446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305647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CBC2E3-5DC9-450F-B667-68549FF0834E}" type="datetimeFigureOut">
              <a:rPr lang="ar-EG" smtClean="0"/>
              <a:t>19/06/1446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114149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CBC2E3-5DC9-450F-B667-68549FF0834E}" type="datetimeFigureOut">
              <a:rPr lang="ar-EG" smtClean="0"/>
              <a:t>19/06/1446</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2711515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CBC2E3-5DC9-450F-B667-68549FF0834E}" type="datetimeFigureOut">
              <a:rPr lang="ar-EG" smtClean="0"/>
              <a:t>19/06/1446</a:t>
            </a:fld>
            <a:endParaRPr lang="ar-EG"/>
          </a:p>
        </p:txBody>
      </p:sp>
      <p:sp>
        <p:nvSpPr>
          <p:cNvPr id="8" name="Footer Placeholder 7"/>
          <p:cNvSpPr>
            <a:spLocks noGrp="1"/>
          </p:cNvSpPr>
          <p:nvPr>
            <p:ph type="ftr" sz="quarter" idx="11"/>
          </p:nvPr>
        </p:nvSpPr>
        <p:spPr/>
        <p:txBody>
          <a:bodyPr/>
          <a:lstStyle/>
          <a:p>
            <a:endParaRPr lang="ar-EG"/>
          </a:p>
        </p:txBody>
      </p:sp>
      <p:sp>
        <p:nvSpPr>
          <p:cNvPr id="9" name="Slide Number Placeholder 8"/>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2528120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CBC2E3-5DC9-450F-B667-68549FF0834E}" type="datetimeFigureOut">
              <a:rPr lang="ar-EG" smtClean="0"/>
              <a:t>19/06/1446</a:t>
            </a:fld>
            <a:endParaRPr lang="ar-EG"/>
          </a:p>
        </p:txBody>
      </p:sp>
      <p:sp>
        <p:nvSpPr>
          <p:cNvPr id="4" name="Footer Placeholder 3"/>
          <p:cNvSpPr>
            <a:spLocks noGrp="1"/>
          </p:cNvSpPr>
          <p:nvPr>
            <p:ph type="ftr" sz="quarter" idx="11"/>
          </p:nvPr>
        </p:nvSpPr>
        <p:spPr/>
        <p:txBody>
          <a:bodyPr/>
          <a:lstStyle/>
          <a:p>
            <a:endParaRPr lang="ar-EG"/>
          </a:p>
        </p:txBody>
      </p:sp>
      <p:sp>
        <p:nvSpPr>
          <p:cNvPr id="5" name="Slide Number Placeholder 4"/>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858411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D5CBC2E3-5DC9-450F-B667-68549FF0834E}" type="datetimeFigureOut">
              <a:rPr lang="ar-EG" smtClean="0"/>
              <a:t>19/06/1446</a:t>
            </a:fld>
            <a:endParaRPr lang="ar-EG"/>
          </a:p>
        </p:txBody>
      </p:sp>
      <p:sp>
        <p:nvSpPr>
          <p:cNvPr id="3" name="Footer Placeholder 2"/>
          <p:cNvSpPr>
            <a:spLocks noGrp="1"/>
          </p:cNvSpPr>
          <p:nvPr>
            <p:ph type="ftr" sz="quarter" idx="11"/>
          </p:nvPr>
        </p:nvSpPr>
        <p:spPr/>
        <p:txBody>
          <a:bodyPr/>
          <a:lstStyle/>
          <a:p>
            <a:endParaRPr lang="ar-EG"/>
          </a:p>
        </p:txBody>
      </p:sp>
      <p:sp>
        <p:nvSpPr>
          <p:cNvPr id="4" name="Slide Number Placeholder 3"/>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3312850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5CBC2E3-5DC9-450F-B667-68549FF0834E}" type="datetimeFigureOut">
              <a:rPr lang="ar-EG" smtClean="0"/>
              <a:t>19/06/1446</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703605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5CBC2E3-5DC9-450F-B667-68549FF0834E}" type="datetimeFigureOut">
              <a:rPr lang="ar-EG" smtClean="0"/>
              <a:t>19/06/1446</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214486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5CBC2E3-5DC9-450F-B667-68549FF0834E}" type="datetimeFigureOut">
              <a:rPr lang="ar-EG" smtClean="0"/>
              <a:t>19/06/1446</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2537740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CBC2E3-5DC9-450F-B667-68549FF0834E}" type="datetimeFigureOut">
              <a:rPr lang="ar-EG" smtClean="0"/>
              <a:t>19/06/1446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6171451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CBC2E3-5DC9-450F-B667-68549FF0834E}" type="datetimeFigureOut">
              <a:rPr lang="ar-EG" smtClean="0"/>
              <a:t>19/06/1446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31481813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CBC2E3-5DC9-450F-B667-68549FF0834E}" type="datetimeFigureOut">
              <a:rPr lang="ar-EG" smtClean="0"/>
              <a:t>19/06/1446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37650327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CBC2E3-5DC9-450F-B667-68549FF0834E}" type="datetimeFigureOut">
              <a:rPr lang="ar-EG" smtClean="0"/>
              <a:t>19/06/1446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35400776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CBC2E3-5DC9-450F-B667-68549FF0834E}" type="datetimeFigureOut">
              <a:rPr lang="ar-EG" smtClean="0"/>
              <a:t>19/06/1446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3864822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CBC2E3-5DC9-450F-B667-68549FF0834E}" type="datetimeFigureOut">
              <a:rPr lang="ar-EG" smtClean="0"/>
              <a:t>19/06/1446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7C7B2143-A43A-445E-9966-456D98F77E0B}" type="slidenum">
              <a:rPr lang="ar-EG" smtClean="0"/>
              <a:t>‹#›</a:t>
            </a:fld>
            <a:endParaRPr lang="ar-EG"/>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32842685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CBC2E3-5DC9-450F-B667-68549FF0834E}" type="datetimeFigureOut">
              <a:rPr lang="ar-EG" smtClean="0"/>
              <a:t>19/06/1446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7C7B2143-A43A-445E-9966-456D98F77E0B}" type="slidenum">
              <a:rPr lang="ar-EG" smtClean="0"/>
              <a:t>‹#›</a:t>
            </a:fld>
            <a:endParaRPr lang="ar-EG"/>
          </a:p>
        </p:txBody>
      </p:sp>
    </p:spTree>
    <p:extLst>
      <p:ext uri="{BB962C8B-B14F-4D97-AF65-F5344CB8AC3E}">
        <p14:creationId xmlns:p14="http://schemas.microsoft.com/office/powerpoint/2010/main" val="278672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CBC2E3-5DC9-450F-B667-68549FF0834E}" type="datetimeFigureOut">
              <a:rPr lang="ar-EG" smtClean="0"/>
              <a:t>19/06/1446</a:t>
            </a:fld>
            <a:endParaRPr lang="ar-EG"/>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ar-EG"/>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C7B2143-A43A-445E-9966-456D98F77E0B}" type="slidenum">
              <a:rPr lang="ar-EG" smtClean="0"/>
              <a:t>‹#›</a:t>
            </a:fld>
            <a:endParaRPr lang="ar-EG"/>
          </a:p>
        </p:txBody>
      </p:sp>
    </p:spTree>
    <p:extLst>
      <p:ext uri="{BB962C8B-B14F-4D97-AF65-F5344CB8AC3E}">
        <p14:creationId xmlns:p14="http://schemas.microsoft.com/office/powerpoint/2010/main" val="3414942165"/>
      </p:ext>
    </p:extLst>
  </p:cSld>
  <p:clrMap bg1="dk1" tx1="lt1" bg2="dk2" tx2="lt2" accent1="accent1" accent2="accent2" accent3="accent3" accent4="accent4" accent5="accent5" accent6="accent6" hlink="hlink" folHlink="folHlink"/>
  <p:sldLayoutIdLst>
    <p:sldLayoutId id="2147484241" r:id="rId1"/>
    <p:sldLayoutId id="2147484242" r:id="rId2"/>
    <p:sldLayoutId id="2147484243" r:id="rId3"/>
    <p:sldLayoutId id="2147484244" r:id="rId4"/>
    <p:sldLayoutId id="2147484245" r:id="rId5"/>
    <p:sldLayoutId id="2147484246" r:id="rId6"/>
    <p:sldLayoutId id="2147484247" r:id="rId7"/>
    <p:sldLayoutId id="2147484248" r:id="rId8"/>
    <p:sldLayoutId id="2147484249" r:id="rId9"/>
    <p:sldLayoutId id="2147484250" r:id="rId10"/>
    <p:sldLayoutId id="2147484251" r:id="rId11"/>
    <p:sldLayoutId id="2147484252" r:id="rId12"/>
    <p:sldLayoutId id="2147484253" r:id="rId13"/>
    <p:sldLayoutId id="2147484254" r:id="rId14"/>
    <p:sldLayoutId id="2147484255" r:id="rId15"/>
    <p:sldLayoutId id="2147484256" r:id="rId16"/>
    <p:sldLayoutId id="2147484257" r:id="rId17"/>
  </p:sldLayoutIdLst>
  <p:txStyles>
    <p:titleStyle>
      <a:lvl1pPr algn="l" defTabSz="457200" rtl="1" eaLnBrk="1" latinLnBrk="0" hangingPunct="1">
        <a:spcBef>
          <a:spcPct val="0"/>
        </a:spcBef>
        <a:buNone/>
        <a:defRPr sz="3600" kern="1200" cap="all">
          <a:ln w="3175" cmpd="sng">
            <a:noFill/>
          </a:ln>
          <a:solidFill>
            <a:schemeClr val="tx1"/>
          </a:solidFill>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85750" indent="-285750" algn="r" defTabSz="457200" rtl="1"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r" defTabSz="457200" rtl="1"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r" defTabSz="457200" rtl="1"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r" defTabSz="457200" rtl="1"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r" defTabSz="457200" rtl="1"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r" defTabSz="457200" rtl="1"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r" defTabSz="457200" rtl="1"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r" defTabSz="457200" rtl="1"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r" defTabSz="457200" rtl="1"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DBF99-9ED5-4838-AC54-5E818AE23F35}"/>
              </a:ext>
            </a:extLst>
          </p:cNvPr>
          <p:cNvSpPr>
            <a:spLocks noGrp="1"/>
          </p:cNvSpPr>
          <p:nvPr>
            <p:ph type="ctrTitle"/>
          </p:nvPr>
        </p:nvSpPr>
        <p:spPr/>
        <p:txBody>
          <a:bodyPr>
            <a:noAutofit/>
          </a:bodyPr>
          <a:lstStyle/>
          <a:p>
            <a:r>
              <a:rPr lang="en-US" sz="5400" cap="none" dirty="0">
                <a:latin typeface="Andalus" panose="02020603050405020304" pitchFamily="18" charset="-78"/>
                <a:cs typeface="Andalus" panose="02020603050405020304" pitchFamily="18" charset="-78"/>
              </a:rPr>
              <a:t>PROJECT OF INTRODUCTION OF SOFTWARE</a:t>
            </a:r>
            <a:endParaRPr lang="ar-EG" sz="5400" cap="none" dirty="0">
              <a:latin typeface="Andalus" panose="02020603050405020304" pitchFamily="18" charset="-78"/>
              <a:cs typeface="Andalus" panose="02020603050405020304" pitchFamily="18" charset="-78"/>
            </a:endParaRPr>
          </a:p>
        </p:txBody>
      </p:sp>
      <p:sp>
        <p:nvSpPr>
          <p:cNvPr id="3" name="Subtitle 2">
            <a:extLst>
              <a:ext uri="{FF2B5EF4-FFF2-40B4-BE49-F238E27FC236}">
                <a16:creationId xmlns:a16="http://schemas.microsoft.com/office/drawing/2014/main" id="{73E24F98-F0D6-45E1-9D20-A75BED226B0A}"/>
              </a:ext>
            </a:extLst>
          </p:cNvPr>
          <p:cNvSpPr>
            <a:spLocks noGrp="1"/>
          </p:cNvSpPr>
          <p:nvPr>
            <p:ph type="subTitle" idx="1"/>
          </p:nvPr>
        </p:nvSpPr>
        <p:spPr/>
        <p:txBody>
          <a:bodyPr/>
          <a:lstStyle/>
          <a:p>
            <a:r>
              <a:rPr lang="en-US" dirty="0"/>
              <a:t>Dr. </a:t>
            </a:r>
            <a:r>
              <a:rPr lang="en-US" cap="none" dirty="0"/>
              <a:t>Israa Ahmed</a:t>
            </a:r>
            <a:endParaRPr lang="en-US" dirty="0"/>
          </a:p>
          <a:p>
            <a:endParaRPr lang="ar-EG" dirty="0"/>
          </a:p>
        </p:txBody>
      </p:sp>
    </p:spTree>
    <p:extLst>
      <p:ext uri="{BB962C8B-B14F-4D97-AF65-F5344CB8AC3E}">
        <p14:creationId xmlns:p14="http://schemas.microsoft.com/office/powerpoint/2010/main" val="3496798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1DCC4-CACD-416C-9D25-D9094A25DCB8}"/>
              </a:ext>
            </a:extLst>
          </p:cNvPr>
          <p:cNvSpPr>
            <a:spLocks noGrp="1"/>
          </p:cNvSpPr>
          <p:nvPr>
            <p:ph type="title"/>
          </p:nvPr>
        </p:nvSpPr>
        <p:spPr/>
        <p:txBody>
          <a:bodyPr/>
          <a:lstStyle/>
          <a:p>
            <a:r>
              <a:rPr lang="en-US" sz="4000" b="1" i="1" u="sng" cap="none" dirty="0">
                <a:latin typeface="Bodoni MT" panose="02070603080606020203" pitchFamily="18" charset="0"/>
                <a:cs typeface="Andalus" panose="02020603050405020304" pitchFamily="18" charset="-78"/>
              </a:rPr>
              <a:t>Members Of Team</a:t>
            </a:r>
            <a:r>
              <a:rPr lang="en-US" b="1" i="1" dirty="0">
                <a:latin typeface="Andalus" panose="02020603050405020304" pitchFamily="18" charset="-78"/>
                <a:cs typeface="Andalus" panose="02020603050405020304" pitchFamily="18" charset="-78"/>
              </a:rPr>
              <a:t>:</a:t>
            </a:r>
            <a:endParaRPr lang="ar-EG" b="1" i="1" dirty="0">
              <a:latin typeface="Andalus" panose="02020603050405020304" pitchFamily="18" charset="-78"/>
              <a:cs typeface="Andalus" panose="02020603050405020304" pitchFamily="18" charset="-78"/>
            </a:endParaRPr>
          </a:p>
        </p:txBody>
      </p:sp>
      <p:sp>
        <p:nvSpPr>
          <p:cNvPr id="5" name="Rectangle: Rounded Corners 4">
            <a:extLst>
              <a:ext uri="{FF2B5EF4-FFF2-40B4-BE49-F238E27FC236}">
                <a16:creationId xmlns:a16="http://schemas.microsoft.com/office/drawing/2014/main" id="{0E806528-066E-49BE-9524-521E3E1F74B6}"/>
              </a:ext>
            </a:extLst>
          </p:cNvPr>
          <p:cNvSpPr/>
          <p:nvPr/>
        </p:nvSpPr>
        <p:spPr>
          <a:xfrm>
            <a:off x="328472" y="1897191"/>
            <a:ext cx="8824405" cy="4190261"/>
          </a:xfrm>
          <a:prstGeom prst="roundRect">
            <a:avLst/>
          </a:prstGeom>
          <a:solidFill>
            <a:schemeClr val="bg2">
              <a:lumMod val="50000"/>
            </a:schemeClr>
          </a:solidFill>
          <a:ln>
            <a:noFill/>
          </a:ln>
          <a:effectLst/>
          <a:scene3d>
            <a:camera prst="orthographicFront">
              <a:rot lat="0" lon="0" rev="0"/>
            </a:camera>
            <a:lightRig rig="chilly" dir="t">
              <a:rot lat="0" lon="0" rev="18480000"/>
            </a:lightRig>
          </a:scene3d>
          <a:sp3d prstMaterial="clear">
            <a:bevelT h="63500" prst="convex"/>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dirty="0"/>
              <a:t>1-Mahmoud Ashrey Mahmoud                                  4-Norhan Mohamed Yahia  </a:t>
            </a:r>
          </a:p>
          <a:p>
            <a:r>
              <a:rPr lang="en-US" dirty="0">
                <a:solidFill>
                  <a:srgbClr val="7030A0"/>
                </a:solidFill>
              </a:rPr>
              <a:t>      </a:t>
            </a:r>
            <a:r>
              <a:rPr lang="en-US" dirty="0">
                <a:solidFill>
                  <a:schemeClr val="bg1"/>
                </a:solidFill>
              </a:rPr>
              <a:t>ID: 2302594                                                                    ID: 2302281</a:t>
            </a:r>
          </a:p>
          <a:p>
            <a:r>
              <a:rPr lang="en-US" sz="1200" dirty="0"/>
              <a:t> </a:t>
            </a:r>
          </a:p>
          <a:p>
            <a:r>
              <a:rPr lang="en-US" dirty="0"/>
              <a:t>2-Ebtihal Elsayed Ayoub                                             5-Fares Mohamed Abdel Fattah  </a:t>
            </a:r>
          </a:p>
          <a:p>
            <a:r>
              <a:rPr lang="en-US" dirty="0">
                <a:solidFill>
                  <a:schemeClr val="bg1"/>
                </a:solidFill>
              </a:rPr>
              <a:t>      ID: 2302291                                                                 ID: 2302536</a:t>
            </a:r>
          </a:p>
          <a:p>
            <a:endParaRPr lang="en-US" dirty="0"/>
          </a:p>
          <a:p>
            <a:r>
              <a:rPr lang="en-US" dirty="0"/>
              <a:t>3-Mohamed Mahmoud Abdel Majeed                      6-Fatma Ahmed Hamdy </a:t>
            </a:r>
          </a:p>
          <a:p>
            <a:r>
              <a:rPr lang="en-US" sz="1200" dirty="0">
                <a:solidFill>
                  <a:srgbClr val="7030A0"/>
                </a:solidFill>
              </a:rPr>
              <a:t>   </a:t>
            </a:r>
            <a:r>
              <a:rPr lang="en-US" dirty="0">
                <a:solidFill>
                  <a:srgbClr val="7030A0"/>
                </a:solidFill>
              </a:rPr>
              <a:t>      </a:t>
            </a:r>
            <a:r>
              <a:rPr lang="en-US" dirty="0">
                <a:solidFill>
                  <a:schemeClr val="bg1"/>
                </a:solidFill>
              </a:rPr>
              <a:t>ID: 2302068                                                                  ID: 2302289</a:t>
            </a:r>
            <a:endParaRPr lang="ar-EG" dirty="0">
              <a:solidFill>
                <a:schemeClr val="bg1"/>
              </a:solidFill>
            </a:endParaRPr>
          </a:p>
        </p:txBody>
      </p:sp>
    </p:spTree>
    <p:extLst>
      <p:ext uri="{BB962C8B-B14F-4D97-AF65-F5344CB8AC3E}">
        <p14:creationId xmlns:p14="http://schemas.microsoft.com/office/powerpoint/2010/main" val="1266219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2380690-0EF8-4653-8CE7-4DBC66A1B781}"/>
              </a:ext>
            </a:extLst>
          </p:cNvPr>
          <p:cNvSpPr/>
          <p:nvPr/>
        </p:nvSpPr>
        <p:spPr>
          <a:xfrm>
            <a:off x="4154556" y="2725444"/>
            <a:ext cx="8017565" cy="413255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2" name="Title 1">
            <a:extLst>
              <a:ext uri="{FF2B5EF4-FFF2-40B4-BE49-F238E27FC236}">
                <a16:creationId xmlns:a16="http://schemas.microsoft.com/office/drawing/2014/main" id="{A649B44F-D4D6-4648-A38F-0DB62402B5ED}"/>
              </a:ext>
            </a:extLst>
          </p:cNvPr>
          <p:cNvSpPr>
            <a:spLocks noGrp="1"/>
          </p:cNvSpPr>
          <p:nvPr>
            <p:ph type="ctrTitle"/>
          </p:nvPr>
        </p:nvSpPr>
        <p:spPr>
          <a:xfrm>
            <a:off x="3710865" y="1893245"/>
            <a:ext cx="7120785" cy="832199"/>
          </a:xfrm>
        </p:spPr>
        <p:txBody>
          <a:bodyPr/>
          <a:lstStyle/>
          <a:p>
            <a:r>
              <a:rPr lang="en-US" b="1" i="1" dirty="0">
                <a:latin typeface="Bodoni MT" panose="02070603080606020203" pitchFamily="18" charset="0"/>
              </a:rPr>
              <a:t>Project content:</a:t>
            </a:r>
            <a:endParaRPr lang="ar-EG" b="1" i="1" dirty="0">
              <a:latin typeface="Bodoni MT" panose="02070603080606020203" pitchFamily="18" charset="0"/>
            </a:endParaRPr>
          </a:p>
        </p:txBody>
      </p:sp>
      <p:sp>
        <p:nvSpPr>
          <p:cNvPr id="3" name="Subtitle 2">
            <a:extLst>
              <a:ext uri="{FF2B5EF4-FFF2-40B4-BE49-F238E27FC236}">
                <a16:creationId xmlns:a16="http://schemas.microsoft.com/office/drawing/2014/main" id="{75A43FAC-1A2D-4426-BCC6-E331C5A5C137}"/>
              </a:ext>
            </a:extLst>
          </p:cNvPr>
          <p:cNvSpPr>
            <a:spLocks noGrp="1"/>
          </p:cNvSpPr>
          <p:nvPr>
            <p:ph type="subTitle" idx="1"/>
          </p:nvPr>
        </p:nvSpPr>
        <p:spPr>
          <a:xfrm>
            <a:off x="3916018" y="2725444"/>
            <a:ext cx="8017565" cy="3317547"/>
          </a:xfrm>
          <a:noFill/>
          <a:ln>
            <a:noFill/>
          </a:ln>
        </p:spPr>
        <p:txBody>
          <a:bodyPr>
            <a:normAutofit/>
          </a:bodyPr>
          <a:lstStyle/>
          <a:p>
            <a:pPr algn="just"/>
            <a:r>
              <a:rPr lang="en-US" sz="2800" b="1" cap="none"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endParaRPr lang="en-US" sz="4900" cap="none" dirty="0">
              <a:ln w="0"/>
              <a:solidFill>
                <a:schemeClr val="accent1"/>
              </a:solidFill>
              <a:effectLst>
                <a:outerShdw blurRad="38100" dist="25400" dir="5400000" algn="ctr" rotWithShape="0">
                  <a:srgbClr val="6E747A">
                    <a:alpha val="43000"/>
                  </a:srgbClr>
                </a:outerShdw>
              </a:effectLst>
              <a:latin typeface="Bahnschrift Light SemiCondensed" panose="020B0502040204020203" pitchFamily="34" charset="0"/>
            </a:endParaRPr>
          </a:p>
        </p:txBody>
      </p:sp>
      <p:sp>
        <p:nvSpPr>
          <p:cNvPr id="4" name="Rectangle 3">
            <a:extLst>
              <a:ext uri="{FF2B5EF4-FFF2-40B4-BE49-F238E27FC236}">
                <a16:creationId xmlns:a16="http://schemas.microsoft.com/office/drawing/2014/main" id="{33E87C56-F353-45C1-9B23-4EFFDF7F89E2}"/>
              </a:ext>
            </a:extLst>
          </p:cNvPr>
          <p:cNvSpPr/>
          <p:nvPr/>
        </p:nvSpPr>
        <p:spPr>
          <a:xfrm>
            <a:off x="6096000" y="3095978"/>
            <a:ext cx="193966" cy="923330"/>
          </a:xfrm>
          <a:prstGeom prst="rect">
            <a:avLst/>
          </a:prstGeom>
          <a:noFill/>
        </p:spPr>
        <p:txBody>
          <a:bodyPr wrap="squar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Bahnschrift Light SemiCondensed" panose="020B0502040204020203" pitchFamily="34" charset="0"/>
              </a:rPr>
              <a:t> </a:t>
            </a:r>
            <a:endParaRPr lang="ar-EG"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8" name="Rectangle 7">
            <a:extLst>
              <a:ext uri="{FF2B5EF4-FFF2-40B4-BE49-F238E27FC236}">
                <a16:creationId xmlns:a16="http://schemas.microsoft.com/office/drawing/2014/main" id="{77A84019-4428-4421-A3B6-DED44969B9EA}"/>
              </a:ext>
            </a:extLst>
          </p:cNvPr>
          <p:cNvSpPr/>
          <p:nvPr/>
        </p:nvSpPr>
        <p:spPr>
          <a:xfrm>
            <a:off x="5768013" y="2967335"/>
            <a:ext cx="327988" cy="923330"/>
          </a:xfrm>
          <a:prstGeom prst="rect">
            <a:avLst/>
          </a:prstGeom>
          <a:noFill/>
        </p:spPr>
        <p:txBody>
          <a:bodyPr wrap="squar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endParaRPr lang="ar-EG"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6" name="Rectangle 5">
            <a:extLst>
              <a:ext uri="{FF2B5EF4-FFF2-40B4-BE49-F238E27FC236}">
                <a16:creationId xmlns:a16="http://schemas.microsoft.com/office/drawing/2014/main" id="{BCF9A16A-F029-4936-A02D-E7F6C4F68FEA}"/>
              </a:ext>
            </a:extLst>
          </p:cNvPr>
          <p:cNvSpPr/>
          <p:nvPr/>
        </p:nvSpPr>
        <p:spPr>
          <a:xfrm>
            <a:off x="4681330" y="3105835"/>
            <a:ext cx="6708914" cy="2554545"/>
          </a:xfrm>
          <a:prstGeom prst="rect">
            <a:avLst/>
          </a:prstGeom>
        </p:spPr>
        <p:txBody>
          <a:bodyPr wrap="square">
            <a:spAutoFit/>
          </a:bodyPr>
          <a:lstStyle/>
          <a:p>
            <a:r>
              <a:rPr lang="en-US" sz="3200" b="1"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rPr>
              <a:t>1- lntroduction Of Project</a:t>
            </a:r>
          </a:p>
          <a:p>
            <a:r>
              <a:rPr lang="en-US" sz="3200" b="1" dirty="0"/>
              <a:t>2- User Scenarios</a:t>
            </a:r>
          </a:p>
          <a:p>
            <a:r>
              <a:rPr lang="en-US" sz="3200" b="1" dirty="0"/>
              <a:t>3- Requirements  </a:t>
            </a:r>
          </a:p>
          <a:p>
            <a:r>
              <a:rPr lang="en-US" sz="3200" b="1" dirty="0"/>
              <a:t>4- </a:t>
            </a:r>
            <a:r>
              <a:rPr lang="en-US" sz="3200" dirty="0"/>
              <a:t>Methodolog</a:t>
            </a:r>
            <a:r>
              <a:rPr lang="en-US" sz="3200" b="1" dirty="0"/>
              <a:t>    </a:t>
            </a:r>
          </a:p>
          <a:p>
            <a:r>
              <a:rPr lang="en-US" sz="3200" b="1" dirty="0"/>
              <a:t>5- Diagrams</a:t>
            </a:r>
            <a:endParaRPr lang="ar-EG" sz="3200" b="1" dirty="0"/>
          </a:p>
        </p:txBody>
      </p:sp>
    </p:spTree>
    <p:extLst>
      <p:ext uri="{BB962C8B-B14F-4D97-AF65-F5344CB8AC3E}">
        <p14:creationId xmlns:p14="http://schemas.microsoft.com/office/powerpoint/2010/main" val="912036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289BD-5C02-4FA8-8D94-88BE25AEA2BF}"/>
              </a:ext>
            </a:extLst>
          </p:cNvPr>
          <p:cNvSpPr>
            <a:spLocks noGrp="1"/>
          </p:cNvSpPr>
          <p:nvPr>
            <p:ph type="title"/>
          </p:nvPr>
        </p:nvSpPr>
        <p:spPr>
          <a:xfrm>
            <a:off x="685801" y="609602"/>
            <a:ext cx="10131428" cy="1565428"/>
          </a:xfrm>
        </p:spPr>
        <p:txBody>
          <a:bodyPr/>
          <a:lstStyle/>
          <a:p>
            <a:pPr algn="ctr"/>
            <a:r>
              <a:rPr lang="en-US" b="1" i="1" u="sng"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rPr>
              <a:t>1- Introduction of project</a:t>
            </a:r>
            <a:endParaRPr lang="ar-EG" b="1" i="1" u="sng"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endParaRPr>
          </a:p>
        </p:txBody>
      </p:sp>
      <p:sp>
        <p:nvSpPr>
          <p:cNvPr id="3" name="Text Placeholder 2">
            <a:extLst>
              <a:ext uri="{FF2B5EF4-FFF2-40B4-BE49-F238E27FC236}">
                <a16:creationId xmlns:a16="http://schemas.microsoft.com/office/drawing/2014/main" id="{BA1DF583-4DC6-4A95-8401-E4263DA95516}"/>
              </a:ext>
            </a:extLst>
          </p:cNvPr>
          <p:cNvSpPr>
            <a:spLocks noGrp="1"/>
          </p:cNvSpPr>
          <p:nvPr>
            <p:ph type="body" idx="1"/>
          </p:nvPr>
        </p:nvSpPr>
        <p:spPr>
          <a:xfrm>
            <a:off x="198783" y="1958009"/>
            <a:ext cx="10856313" cy="5565913"/>
          </a:xfrm>
        </p:spPr>
        <p:txBody>
          <a:bodyPr anchor="t">
            <a:normAutofit/>
          </a:bodyPr>
          <a:lstStyle/>
          <a:p>
            <a:r>
              <a:rPr lang="en-US" sz="2800" b="1" i="1" dirty="0">
                <a:effectLst>
                  <a:outerShdw blurRad="38100" dist="38100" dir="2700000" algn="tl">
                    <a:srgbClr val="000000">
                      <a:alpha val="43137"/>
                    </a:srgbClr>
                  </a:outerShdw>
                </a:effectLst>
              </a:rPr>
              <a:t>.We’re Glad You’re Here</a:t>
            </a:r>
            <a:r>
              <a:rPr lang="en-US" b="1" i="1" dirty="0">
                <a:effectLst>
                  <a:outerShdw blurRad="38100" dist="38100" dir="2700000" algn="tl">
                    <a:srgbClr val="000000">
                      <a:alpha val="43137"/>
                    </a:srgbClr>
                  </a:outerShdw>
                </a:effectLst>
              </a:rPr>
              <a:t>. </a:t>
            </a:r>
            <a:r>
              <a:rPr lang="en-US" sz="2800" b="1" i="1" dirty="0">
                <a:effectLst>
                  <a:outerShdw blurRad="38100" dist="38100" dir="2700000" algn="tl">
                    <a:srgbClr val="000000">
                      <a:alpha val="43137"/>
                    </a:srgbClr>
                  </a:outerShdw>
                </a:effectLst>
              </a:rPr>
              <a:t>Today We’re Going To Introduce You To Our Project , Which Is About An Mobile Registeration Materials</a:t>
            </a:r>
            <a:r>
              <a:rPr lang="en-US" b="1" i="1" dirty="0">
                <a:effectLst>
                  <a:outerShdw blurRad="38100" dist="38100" dir="2700000" algn="tl">
                    <a:srgbClr val="000000">
                      <a:alpha val="43137"/>
                    </a:srgbClr>
                  </a:outerShdw>
                </a:effectLst>
              </a:rPr>
              <a:t>.</a:t>
            </a:r>
          </a:p>
          <a:p>
            <a:endParaRPr lang="en-US" b="1" dirty="0"/>
          </a:p>
          <a:p>
            <a:r>
              <a:rPr lang="en-US" sz="2800" i="1" dirty="0"/>
              <a:t>The Online Registration System for Student Materials is designed to streamline the registration process for students. This system allows users to register, log in, view available courses, register for courses, pay fees, and generate reports. It ensures a seamless, secure, and user-friendly experience.</a:t>
            </a:r>
            <a:endParaRPr lang="ar-EG" sz="2800" i="1" dirty="0"/>
          </a:p>
          <a:p>
            <a:endParaRPr lang="ar-EG" b="1" dirty="0"/>
          </a:p>
          <a:p>
            <a:endParaRPr lang="ar-EG" b="1" dirty="0"/>
          </a:p>
          <a:p>
            <a:endParaRPr lang="ar-EG" b="1" dirty="0"/>
          </a:p>
          <a:p>
            <a:endParaRPr lang="ar-EG" b="1" dirty="0"/>
          </a:p>
          <a:p>
            <a:endParaRPr lang="en-US" b="1" dirty="0"/>
          </a:p>
        </p:txBody>
      </p:sp>
    </p:spTree>
    <p:extLst>
      <p:ext uri="{BB962C8B-B14F-4D97-AF65-F5344CB8AC3E}">
        <p14:creationId xmlns:p14="http://schemas.microsoft.com/office/powerpoint/2010/main" val="947406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2380690-0EF8-4653-8CE7-4DBC66A1B781}"/>
              </a:ext>
            </a:extLst>
          </p:cNvPr>
          <p:cNvSpPr/>
          <p:nvPr/>
        </p:nvSpPr>
        <p:spPr>
          <a:xfrm>
            <a:off x="4154556" y="2725444"/>
            <a:ext cx="8017565" cy="413255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2" name="Title 1">
            <a:extLst>
              <a:ext uri="{FF2B5EF4-FFF2-40B4-BE49-F238E27FC236}">
                <a16:creationId xmlns:a16="http://schemas.microsoft.com/office/drawing/2014/main" id="{A649B44F-D4D6-4648-A38F-0DB62402B5ED}"/>
              </a:ext>
            </a:extLst>
          </p:cNvPr>
          <p:cNvSpPr>
            <a:spLocks noGrp="1"/>
          </p:cNvSpPr>
          <p:nvPr>
            <p:ph type="ctrTitle"/>
          </p:nvPr>
        </p:nvSpPr>
        <p:spPr>
          <a:xfrm>
            <a:off x="3710865" y="1893245"/>
            <a:ext cx="7120785" cy="832199"/>
          </a:xfrm>
        </p:spPr>
        <p:txBody>
          <a:bodyPr/>
          <a:lstStyle/>
          <a:p>
            <a:r>
              <a:rPr lang="en-US" b="1" i="1" dirty="0">
                <a:latin typeface="Bodoni MT" panose="02070603080606020203" pitchFamily="18" charset="0"/>
              </a:rPr>
              <a:t>Project content:</a:t>
            </a:r>
            <a:endParaRPr lang="ar-EG" b="1" i="1" dirty="0">
              <a:latin typeface="Bodoni MT" panose="02070603080606020203" pitchFamily="18" charset="0"/>
            </a:endParaRPr>
          </a:p>
        </p:txBody>
      </p:sp>
      <p:sp>
        <p:nvSpPr>
          <p:cNvPr id="3" name="Subtitle 2">
            <a:extLst>
              <a:ext uri="{FF2B5EF4-FFF2-40B4-BE49-F238E27FC236}">
                <a16:creationId xmlns:a16="http://schemas.microsoft.com/office/drawing/2014/main" id="{75A43FAC-1A2D-4426-BCC6-E331C5A5C137}"/>
              </a:ext>
            </a:extLst>
          </p:cNvPr>
          <p:cNvSpPr>
            <a:spLocks noGrp="1"/>
          </p:cNvSpPr>
          <p:nvPr>
            <p:ph type="subTitle" idx="1"/>
          </p:nvPr>
        </p:nvSpPr>
        <p:spPr>
          <a:xfrm>
            <a:off x="3916018" y="2725444"/>
            <a:ext cx="8017565" cy="3317547"/>
          </a:xfrm>
          <a:noFill/>
          <a:ln>
            <a:noFill/>
          </a:ln>
        </p:spPr>
        <p:txBody>
          <a:bodyPr>
            <a:normAutofit/>
          </a:bodyPr>
          <a:lstStyle/>
          <a:p>
            <a:pPr algn="just"/>
            <a:r>
              <a:rPr lang="en-US" sz="2800" b="1" cap="none"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endParaRPr lang="en-US" sz="4900" cap="none" dirty="0">
              <a:ln w="0"/>
              <a:solidFill>
                <a:schemeClr val="accent1"/>
              </a:solidFill>
              <a:effectLst>
                <a:outerShdw blurRad="38100" dist="25400" dir="5400000" algn="ctr" rotWithShape="0">
                  <a:srgbClr val="6E747A">
                    <a:alpha val="43000"/>
                  </a:srgbClr>
                </a:outerShdw>
              </a:effectLst>
              <a:latin typeface="Bahnschrift Light SemiCondensed" panose="020B0502040204020203" pitchFamily="34" charset="0"/>
            </a:endParaRPr>
          </a:p>
        </p:txBody>
      </p:sp>
      <p:sp>
        <p:nvSpPr>
          <p:cNvPr id="4" name="Rectangle 3">
            <a:extLst>
              <a:ext uri="{FF2B5EF4-FFF2-40B4-BE49-F238E27FC236}">
                <a16:creationId xmlns:a16="http://schemas.microsoft.com/office/drawing/2014/main" id="{33E87C56-F353-45C1-9B23-4EFFDF7F89E2}"/>
              </a:ext>
            </a:extLst>
          </p:cNvPr>
          <p:cNvSpPr/>
          <p:nvPr/>
        </p:nvSpPr>
        <p:spPr>
          <a:xfrm>
            <a:off x="6096000" y="3095978"/>
            <a:ext cx="193966" cy="923330"/>
          </a:xfrm>
          <a:prstGeom prst="rect">
            <a:avLst/>
          </a:prstGeom>
          <a:noFill/>
        </p:spPr>
        <p:txBody>
          <a:bodyPr wrap="squar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Bahnschrift Light SemiCondensed" panose="020B0502040204020203" pitchFamily="34" charset="0"/>
              </a:rPr>
              <a:t> </a:t>
            </a:r>
            <a:endParaRPr lang="ar-EG"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8" name="Rectangle 7">
            <a:extLst>
              <a:ext uri="{FF2B5EF4-FFF2-40B4-BE49-F238E27FC236}">
                <a16:creationId xmlns:a16="http://schemas.microsoft.com/office/drawing/2014/main" id="{77A84019-4428-4421-A3B6-DED44969B9EA}"/>
              </a:ext>
            </a:extLst>
          </p:cNvPr>
          <p:cNvSpPr/>
          <p:nvPr/>
        </p:nvSpPr>
        <p:spPr>
          <a:xfrm>
            <a:off x="5768013" y="2967335"/>
            <a:ext cx="327988" cy="923330"/>
          </a:xfrm>
          <a:prstGeom prst="rect">
            <a:avLst/>
          </a:prstGeom>
          <a:noFill/>
        </p:spPr>
        <p:txBody>
          <a:bodyPr wrap="squar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endParaRPr lang="ar-EG"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6" name="Rectangle 5">
            <a:extLst>
              <a:ext uri="{FF2B5EF4-FFF2-40B4-BE49-F238E27FC236}">
                <a16:creationId xmlns:a16="http://schemas.microsoft.com/office/drawing/2014/main" id="{BCF9A16A-F029-4936-A02D-E7F6C4F68FEA}"/>
              </a:ext>
            </a:extLst>
          </p:cNvPr>
          <p:cNvSpPr/>
          <p:nvPr/>
        </p:nvSpPr>
        <p:spPr>
          <a:xfrm>
            <a:off x="4681330" y="3105835"/>
            <a:ext cx="6708914" cy="2554545"/>
          </a:xfrm>
          <a:prstGeom prst="rect">
            <a:avLst/>
          </a:prstGeom>
        </p:spPr>
        <p:txBody>
          <a:bodyPr wrap="square">
            <a:spAutoFit/>
          </a:bodyPr>
          <a:lstStyle/>
          <a:p>
            <a:r>
              <a:rPr lang="en-US" sz="3200" dirty="0">
                <a:ln w="0"/>
                <a:effectLst>
                  <a:outerShdw blurRad="38100" dist="19050" dir="2700000" algn="tl" rotWithShape="0">
                    <a:schemeClr val="dk1">
                      <a:alpha val="40000"/>
                    </a:schemeClr>
                  </a:outerShdw>
                </a:effectLst>
              </a:rPr>
              <a:t>1- lntroduction Of Project</a:t>
            </a:r>
          </a:p>
          <a:p>
            <a:r>
              <a:rPr lang="en-US" sz="3200" b="1"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rPr>
              <a:t>2- User Scenarios</a:t>
            </a:r>
          </a:p>
          <a:p>
            <a:r>
              <a:rPr lang="en-US" sz="3200" b="1" dirty="0"/>
              <a:t> 3- Requirements</a:t>
            </a:r>
          </a:p>
          <a:p>
            <a:r>
              <a:rPr lang="en-US" sz="3200" b="1" dirty="0"/>
              <a:t> </a:t>
            </a:r>
            <a:r>
              <a:rPr lang="en-US" sz="3200" dirty="0"/>
              <a:t>4- Methodolog</a:t>
            </a:r>
            <a:r>
              <a:rPr lang="en-US" sz="3200" b="1" dirty="0"/>
              <a:t>    </a:t>
            </a:r>
          </a:p>
          <a:p>
            <a:r>
              <a:rPr lang="en-US" sz="2400" b="1" dirty="0"/>
              <a:t> </a:t>
            </a:r>
            <a:r>
              <a:rPr lang="en-US" sz="3200" b="1" dirty="0"/>
              <a:t>5- Diagrams</a:t>
            </a:r>
            <a:endParaRPr lang="ar-EG" sz="3200" b="1" dirty="0"/>
          </a:p>
        </p:txBody>
      </p:sp>
    </p:spTree>
    <p:extLst>
      <p:ext uri="{BB962C8B-B14F-4D97-AF65-F5344CB8AC3E}">
        <p14:creationId xmlns:p14="http://schemas.microsoft.com/office/powerpoint/2010/main" val="3763645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289BD-5C02-4FA8-8D94-88BE25AEA2BF}"/>
              </a:ext>
            </a:extLst>
          </p:cNvPr>
          <p:cNvSpPr>
            <a:spLocks noGrp="1"/>
          </p:cNvSpPr>
          <p:nvPr>
            <p:ph type="title"/>
          </p:nvPr>
        </p:nvSpPr>
        <p:spPr>
          <a:xfrm>
            <a:off x="685801" y="609602"/>
            <a:ext cx="10131428" cy="1565428"/>
          </a:xfrm>
        </p:spPr>
        <p:txBody>
          <a:bodyPr/>
          <a:lstStyle/>
          <a:p>
            <a:pPr algn="ctr"/>
            <a:r>
              <a:rPr lang="en-US" b="1" u="sng"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rPr>
              <a:t>2- User Scenarios</a:t>
            </a:r>
          </a:p>
        </p:txBody>
      </p:sp>
      <p:sp>
        <p:nvSpPr>
          <p:cNvPr id="3" name="Text Placeholder 2">
            <a:extLst>
              <a:ext uri="{FF2B5EF4-FFF2-40B4-BE49-F238E27FC236}">
                <a16:creationId xmlns:a16="http://schemas.microsoft.com/office/drawing/2014/main" id="{BA1DF583-4DC6-4A95-8401-E4263DA95516}"/>
              </a:ext>
            </a:extLst>
          </p:cNvPr>
          <p:cNvSpPr>
            <a:spLocks noGrp="1"/>
          </p:cNvSpPr>
          <p:nvPr>
            <p:ph type="body" idx="1"/>
          </p:nvPr>
        </p:nvSpPr>
        <p:spPr>
          <a:xfrm>
            <a:off x="198783" y="1958009"/>
            <a:ext cx="10856313" cy="5565913"/>
          </a:xfrm>
        </p:spPr>
        <p:txBody>
          <a:bodyPr anchor="t">
            <a:normAutofit/>
          </a:bodyPr>
          <a:lstStyle/>
          <a:p>
            <a:r>
              <a:rPr lang="en-US" sz="2800" b="1" dirty="0"/>
              <a:t>• In our electronic platform, the user will go through several stages before reaching the stage of actual material registration and acceptance of his registration request, and he has two options: either register the materials smoothly and properly, or fail to register the materials for some reason, so we will divide our scenario into two directions: </a:t>
            </a:r>
          </a:p>
          <a:p>
            <a:r>
              <a:rPr 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1-Happy path </a:t>
            </a:r>
          </a:p>
          <a:p>
            <a:r>
              <a:rPr 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2-Unhappy path</a:t>
            </a:r>
            <a:endParaRPr lang="ar-EG"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a:p>
            <a:endParaRPr lang="ar-EG" b="1" dirty="0"/>
          </a:p>
          <a:p>
            <a:endParaRPr lang="ar-EG" b="1" dirty="0"/>
          </a:p>
          <a:p>
            <a:endParaRPr lang="ar-EG" b="1" dirty="0"/>
          </a:p>
          <a:p>
            <a:endParaRPr lang="en-US" b="1" dirty="0"/>
          </a:p>
        </p:txBody>
      </p:sp>
    </p:spTree>
    <p:extLst>
      <p:ext uri="{BB962C8B-B14F-4D97-AF65-F5344CB8AC3E}">
        <p14:creationId xmlns:p14="http://schemas.microsoft.com/office/powerpoint/2010/main" val="338120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6EBC2-6779-49D1-8733-F5FF65AFB649}"/>
              </a:ext>
            </a:extLst>
          </p:cNvPr>
          <p:cNvSpPr>
            <a:spLocks noGrp="1"/>
          </p:cNvSpPr>
          <p:nvPr>
            <p:ph type="title"/>
          </p:nvPr>
        </p:nvSpPr>
        <p:spPr>
          <a:xfrm>
            <a:off x="487016" y="639418"/>
            <a:ext cx="10330212" cy="1199321"/>
          </a:xfrm>
        </p:spPr>
        <p:txBody>
          <a:bodyPr/>
          <a:lstStyle/>
          <a:p>
            <a:r>
              <a:rPr lang="en-US" sz="3600" b="1" i="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1-Happy path </a:t>
            </a:r>
            <a:br>
              <a:rPr lang="en-US" b="1" dirty="0"/>
            </a:br>
            <a:endParaRPr lang="ar-EG" dirty="0"/>
          </a:p>
        </p:txBody>
      </p:sp>
      <p:sp>
        <p:nvSpPr>
          <p:cNvPr id="3" name="Text Placeholder 2">
            <a:extLst>
              <a:ext uri="{FF2B5EF4-FFF2-40B4-BE49-F238E27FC236}">
                <a16:creationId xmlns:a16="http://schemas.microsoft.com/office/drawing/2014/main" id="{365B150A-C638-4380-82FF-EE0EF1E5FABF}"/>
              </a:ext>
            </a:extLst>
          </p:cNvPr>
          <p:cNvSpPr>
            <a:spLocks noGrp="1"/>
          </p:cNvSpPr>
          <p:nvPr>
            <p:ph type="body" idx="1"/>
          </p:nvPr>
        </p:nvSpPr>
        <p:spPr>
          <a:xfrm>
            <a:off x="-1" y="1451112"/>
            <a:ext cx="11439939" cy="4581940"/>
          </a:xfrm>
        </p:spPr>
        <p:txBody>
          <a:bodyPr>
            <a:normAutofit/>
          </a:bodyPr>
          <a:lstStyle/>
          <a:p>
            <a:r>
              <a:rPr lang="en-US" dirty="0"/>
              <a:t> </a:t>
            </a:r>
            <a:r>
              <a:rPr lang="en-US" sz="2400" dirty="0"/>
              <a:t>Happy Path The ideal scenario where all steps execute successfully without errors : </a:t>
            </a:r>
          </a:p>
          <a:p>
            <a:r>
              <a:rPr lang="en-US" sz="2400" dirty="0"/>
              <a:t> </a:t>
            </a:r>
            <a:r>
              <a:rPr lang="en-US" sz="2400" b="1" dirty="0">
                <a:ln w="9525">
                  <a:solidFill>
                    <a:schemeClr val="bg1"/>
                  </a:solidFill>
                  <a:prstDash val="solid"/>
                </a:ln>
                <a:effectLst>
                  <a:outerShdw blurRad="12700" dist="38100" dir="2700000" algn="tl" rotWithShape="0">
                    <a:schemeClr val="bg1">
                      <a:lumMod val="50000"/>
                    </a:schemeClr>
                  </a:outerShdw>
                </a:effectLst>
              </a:rPr>
              <a:t>.</a:t>
            </a:r>
            <a:r>
              <a:rPr lang="en-US" sz="2400" dirty="0"/>
              <a:t> User accesses the system and registers a new account. </a:t>
            </a:r>
          </a:p>
          <a:p>
            <a:r>
              <a:rPr lang="en-US" sz="2400" dirty="0"/>
              <a:t> </a:t>
            </a:r>
            <a:r>
              <a:rPr lang="en-US" sz="2400" b="1" dirty="0">
                <a:ln w="9525">
                  <a:solidFill>
                    <a:schemeClr val="bg1"/>
                  </a:solidFill>
                  <a:prstDash val="solid"/>
                </a:ln>
                <a:effectLst>
                  <a:outerShdw blurRad="12700" dist="38100" dir="2700000" algn="tl" rotWithShape="0">
                    <a:schemeClr val="bg1">
                      <a:lumMod val="50000"/>
                    </a:schemeClr>
                  </a:outerShdw>
                </a:effectLst>
              </a:rPr>
              <a:t>.</a:t>
            </a:r>
            <a:r>
              <a:rPr lang="en-US" sz="2400" dirty="0"/>
              <a:t> The system verifies the entered data (e.g., email and password). </a:t>
            </a:r>
          </a:p>
          <a:p>
            <a:r>
              <a:rPr lang="en-US" sz="2400" dirty="0"/>
              <a:t> </a:t>
            </a:r>
            <a:r>
              <a:rPr lang="en-US" sz="2400" b="1" dirty="0">
                <a:ln w="9525">
                  <a:solidFill>
                    <a:schemeClr val="bg1"/>
                  </a:solidFill>
                  <a:prstDash val="solid"/>
                </a:ln>
                <a:effectLst>
                  <a:outerShdw blurRad="12700" dist="38100" dir="2700000" algn="tl" rotWithShape="0">
                    <a:schemeClr val="bg1">
                      <a:lumMod val="50000"/>
                    </a:schemeClr>
                  </a:outerShdw>
                </a:effectLst>
              </a:rPr>
              <a:t>.</a:t>
            </a:r>
            <a:r>
              <a:rPr lang="en-US" sz="2400" dirty="0"/>
              <a:t> User logs in with valid credentials.</a:t>
            </a:r>
          </a:p>
          <a:p>
            <a:r>
              <a:rPr lang="en-US" sz="2400" dirty="0"/>
              <a:t> </a:t>
            </a:r>
            <a:r>
              <a:rPr lang="en-US" sz="2400" b="1" dirty="0">
                <a:ln w="9525">
                  <a:solidFill>
                    <a:schemeClr val="bg1"/>
                  </a:solidFill>
                  <a:prstDash val="solid"/>
                </a:ln>
                <a:effectLst>
                  <a:outerShdw blurRad="12700" dist="38100" dir="2700000" algn="tl" rotWithShape="0">
                    <a:schemeClr val="bg1">
                      <a:lumMod val="50000"/>
                    </a:schemeClr>
                  </a:outerShdw>
                </a:effectLst>
              </a:rPr>
              <a:t>.</a:t>
            </a:r>
            <a:r>
              <a:rPr lang="en-US" sz="2400" dirty="0"/>
              <a:t> The system displays a list of available courses.</a:t>
            </a:r>
          </a:p>
          <a:p>
            <a:r>
              <a:rPr lang="en-US" sz="2400" dirty="0"/>
              <a:t> </a:t>
            </a:r>
            <a:r>
              <a:rPr lang="en-US" sz="2400" b="1" dirty="0">
                <a:ln w="9525">
                  <a:solidFill>
                    <a:schemeClr val="bg1"/>
                  </a:solidFill>
                  <a:prstDash val="solid"/>
                </a:ln>
                <a:effectLst>
                  <a:outerShdw blurRad="12700" dist="38100" dir="2700000" algn="tl" rotWithShape="0">
                    <a:schemeClr val="bg1">
                      <a:lumMod val="50000"/>
                    </a:schemeClr>
                  </a:outerShdw>
                </a:effectLst>
              </a:rPr>
              <a:t>.</a:t>
            </a:r>
            <a:r>
              <a:rPr lang="en-US" sz="2400" dirty="0"/>
              <a:t> User selects desired courses and registers.</a:t>
            </a:r>
          </a:p>
          <a:p>
            <a:r>
              <a:rPr lang="en-US" sz="2400" dirty="0"/>
              <a:t>  </a:t>
            </a:r>
            <a:r>
              <a:rPr lang="en-US" sz="2400" b="1" dirty="0">
                <a:ln w="9525">
                  <a:solidFill>
                    <a:schemeClr val="bg1"/>
                  </a:solidFill>
                  <a:prstDash val="solid"/>
                </a:ln>
                <a:effectLst>
                  <a:outerShdw blurRad="12700" dist="38100" dir="2700000" algn="tl" rotWithShape="0">
                    <a:schemeClr val="bg1">
                      <a:lumMod val="50000"/>
                    </a:schemeClr>
                  </a:outerShdw>
                </a:effectLst>
              </a:rPr>
              <a:t>.</a:t>
            </a:r>
            <a:r>
              <a:rPr lang="en-US" sz="2400" dirty="0"/>
              <a:t> Payment is made using an accepted payment method.</a:t>
            </a:r>
          </a:p>
          <a:p>
            <a:r>
              <a:rPr lang="en-US" sz="2400" dirty="0"/>
              <a:t>  </a:t>
            </a:r>
            <a:r>
              <a:rPr lang="en-US" sz="2400" b="1" dirty="0">
                <a:ln w="9525">
                  <a:solidFill>
                    <a:schemeClr val="bg1"/>
                  </a:solidFill>
                  <a:prstDash val="solid"/>
                </a:ln>
                <a:effectLst>
                  <a:outerShdw blurRad="12700" dist="38100" dir="2700000" algn="tl" rotWithShape="0">
                    <a:schemeClr val="bg1">
                      <a:lumMod val="50000"/>
                    </a:schemeClr>
                  </a:outerShdw>
                </a:effectLst>
              </a:rPr>
              <a:t>.</a:t>
            </a:r>
            <a:r>
              <a:rPr lang="en-US" sz="2400" dirty="0"/>
              <a:t> Registration is confirmed, and a confirmation message is sent.</a:t>
            </a:r>
          </a:p>
          <a:p>
            <a:r>
              <a:rPr lang="en-US" sz="2400" dirty="0"/>
              <a:t>  </a:t>
            </a:r>
            <a:r>
              <a:rPr lang="en-US" sz="2400" b="1" dirty="0">
                <a:ln w="9525">
                  <a:solidFill>
                    <a:schemeClr val="bg1"/>
                  </a:solidFill>
                  <a:prstDash val="solid"/>
                </a:ln>
                <a:effectLst>
                  <a:outerShdw blurRad="12700" dist="38100" dir="2700000" algn="tl" rotWithShape="0">
                    <a:schemeClr val="bg1">
                      <a:lumMod val="50000"/>
                    </a:schemeClr>
                  </a:outerShdw>
                </a:effectLst>
              </a:rPr>
              <a:t>.</a:t>
            </a:r>
            <a:r>
              <a:rPr lang="en-US" sz="2400" dirty="0"/>
              <a:t> User successfully views the registration report.</a:t>
            </a:r>
            <a:endParaRPr lang="ar-EG" sz="2400" dirty="0"/>
          </a:p>
        </p:txBody>
      </p:sp>
    </p:spTree>
    <p:extLst>
      <p:ext uri="{BB962C8B-B14F-4D97-AF65-F5344CB8AC3E}">
        <p14:creationId xmlns:p14="http://schemas.microsoft.com/office/powerpoint/2010/main" val="309801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1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1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10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circle(in)">
                                      <p:cBhvr>
                                        <p:cTn id="52"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6EBC2-6779-49D1-8733-F5FF65AFB649}"/>
              </a:ext>
            </a:extLst>
          </p:cNvPr>
          <p:cNvSpPr>
            <a:spLocks noGrp="1"/>
          </p:cNvSpPr>
          <p:nvPr>
            <p:ph type="title"/>
          </p:nvPr>
        </p:nvSpPr>
        <p:spPr>
          <a:xfrm>
            <a:off x="487016" y="639418"/>
            <a:ext cx="10330212" cy="1199321"/>
          </a:xfrm>
        </p:spPr>
        <p:txBody>
          <a:bodyPr>
            <a:normAutofit fontScale="90000"/>
          </a:bodyPr>
          <a:lstStyle/>
          <a:p>
            <a:r>
              <a:rPr lang="en-US" sz="3600" b="1" i="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2-Unhappy path</a:t>
            </a:r>
            <a:br>
              <a:rPr lang="ar-EG" sz="3600" b="1" dirty="0"/>
            </a:br>
            <a:br>
              <a:rPr lang="en-US" b="1" dirty="0"/>
            </a:br>
            <a:endParaRPr lang="ar-EG" dirty="0"/>
          </a:p>
        </p:txBody>
      </p:sp>
      <p:sp>
        <p:nvSpPr>
          <p:cNvPr id="3" name="Text Placeholder 2">
            <a:extLst>
              <a:ext uri="{FF2B5EF4-FFF2-40B4-BE49-F238E27FC236}">
                <a16:creationId xmlns:a16="http://schemas.microsoft.com/office/drawing/2014/main" id="{365B150A-C638-4380-82FF-EE0EF1E5FABF}"/>
              </a:ext>
            </a:extLst>
          </p:cNvPr>
          <p:cNvSpPr>
            <a:spLocks noGrp="1"/>
          </p:cNvSpPr>
          <p:nvPr>
            <p:ph type="body" idx="1"/>
          </p:nvPr>
        </p:nvSpPr>
        <p:spPr>
          <a:xfrm>
            <a:off x="79512" y="1123122"/>
            <a:ext cx="11807688" cy="4860235"/>
          </a:xfrm>
        </p:spPr>
        <p:txBody>
          <a:bodyPr>
            <a:normAutofit fontScale="92500"/>
          </a:bodyPr>
          <a:lstStyle/>
          <a:p>
            <a:r>
              <a:rPr lang="en-US" sz="2400" dirty="0"/>
              <a:t>Unhappy Path Scenarios where errors occur or exceptions are handled : </a:t>
            </a:r>
          </a:p>
          <a:p>
            <a:r>
              <a:rPr lang="en-US" sz="2800" b="1" dirty="0">
                <a:ln w="9525">
                  <a:solidFill>
                    <a:schemeClr val="bg1"/>
                  </a:solidFill>
                  <a:prstDash val="solid"/>
                </a:ln>
                <a:effectLst>
                  <a:outerShdw blurRad="12700" dist="38100" dir="2700000" algn="tl" rotWithShape="0">
                    <a:schemeClr val="bg1">
                      <a:lumMod val="50000"/>
                    </a:schemeClr>
                  </a:outerShdw>
                </a:effectLst>
              </a:rPr>
              <a:t>.</a:t>
            </a:r>
            <a:r>
              <a:rPr lang="en-US" sz="2400" dirty="0"/>
              <a:t> Account Registration : </a:t>
            </a:r>
          </a:p>
          <a:p>
            <a:r>
              <a:rPr lang="en-US" sz="2400" dirty="0"/>
              <a:t>      Invalid email entered → An error message prompts the user for a valid email. </a:t>
            </a:r>
          </a:p>
          <a:p>
            <a:r>
              <a:rPr lang="en-US" sz="2800" b="1" dirty="0">
                <a:ln w="9525">
                  <a:solidFill>
                    <a:schemeClr val="bg1"/>
                  </a:solidFill>
                  <a:prstDash val="solid"/>
                </a:ln>
                <a:effectLst>
                  <a:outerShdw blurRad="12700" dist="38100" dir="2700000" algn="tl" rotWithShape="0">
                    <a:schemeClr val="bg1">
                      <a:lumMod val="50000"/>
                    </a:schemeClr>
                  </a:outerShdw>
                </a:effectLst>
              </a:rPr>
              <a:t>.</a:t>
            </a:r>
            <a:r>
              <a:rPr lang="en-US" sz="2400" dirty="0"/>
              <a:t> Login:</a:t>
            </a:r>
          </a:p>
          <a:p>
            <a:r>
              <a:rPr lang="en-US" sz="2400" dirty="0"/>
              <a:t>      Incorrect password entered → An error message indicates invalid credentials.   </a:t>
            </a:r>
          </a:p>
          <a:p>
            <a:r>
              <a:rPr lang="en-US" sz="2400" dirty="0"/>
              <a:t> </a:t>
            </a:r>
            <a:r>
              <a:rPr lang="en-US" sz="2800" b="1" dirty="0">
                <a:ln w="9525">
                  <a:solidFill>
                    <a:schemeClr val="bg1"/>
                  </a:solidFill>
                  <a:prstDash val="solid"/>
                </a:ln>
                <a:effectLst>
                  <a:outerShdw blurRad="12700" dist="38100" dir="2700000" algn="tl" rotWithShape="0">
                    <a:schemeClr val="bg1">
                      <a:lumMod val="50000"/>
                    </a:schemeClr>
                  </a:outerShdw>
                </a:effectLst>
              </a:rPr>
              <a:t>.</a:t>
            </a:r>
            <a:r>
              <a:rPr lang="en-US" sz="2400" dirty="0"/>
              <a:t> Course Selection :</a:t>
            </a:r>
          </a:p>
          <a:p>
            <a:r>
              <a:rPr lang="en-US" sz="2400" dirty="0"/>
              <a:t>       Attempt to register for a fully booked course → An error message indicates no available slots.  </a:t>
            </a:r>
          </a:p>
          <a:p>
            <a:r>
              <a:rPr lang="en-US" sz="2400" dirty="0"/>
              <a:t> </a:t>
            </a:r>
            <a:r>
              <a:rPr lang="en-US" sz="3000" b="1" dirty="0">
                <a:ln w="9525">
                  <a:solidFill>
                    <a:schemeClr val="bg1"/>
                  </a:solidFill>
                  <a:prstDash val="solid"/>
                </a:ln>
                <a:effectLst>
                  <a:outerShdw blurRad="12700" dist="38100" dir="2700000" algn="tl" rotWithShape="0">
                    <a:schemeClr val="bg1">
                      <a:lumMod val="50000"/>
                    </a:schemeClr>
                  </a:outerShdw>
                </a:effectLst>
              </a:rPr>
              <a:t>.</a:t>
            </a:r>
            <a:r>
              <a:rPr lang="en-US" sz="2400" dirty="0"/>
              <a:t> Payment: </a:t>
            </a:r>
          </a:p>
          <a:p>
            <a:r>
              <a:rPr lang="en-US" sz="2400" dirty="0"/>
              <a:t>     Invalid payment details entered → An error message prompts for updated payment information.</a:t>
            </a:r>
            <a:endParaRPr lang="ar-EG" sz="2400" dirty="0"/>
          </a:p>
        </p:txBody>
      </p:sp>
    </p:spTree>
    <p:extLst>
      <p:ext uri="{BB962C8B-B14F-4D97-AF65-F5344CB8AC3E}">
        <p14:creationId xmlns:p14="http://schemas.microsoft.com/office/powerpoint/2010/main" val="370062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1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1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10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circle(in)">
                                      <p:cBhvr>
                                        <p:cTn id="52"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2380690-0EF8-4653-8CE7-4DBC66A1B781}"/>
              </a:ext>
            </a:extLst>
          </p:cNvPr>
          <p:cNvSpPr/>
          <p:nvPr/>
        </p:nvSpPr>
        <p:spPr>
          <a:xfrm>
            <a:off x="4154556" y="2725444"/>
            <a:ext cx="8017565" cy="413255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2" name="Title 1">
            <a:extLst>
              <a:ext uri="{FF2B5EF4-FFF2-40B4-BE49-F238E27FC236}">
                <a16:creationId xmlns:a16="http://schemas.microsoft.com/office/drawing/2014/main" id="{A649B44F-D4D6-4648-A38F-0DB62402B5ED}"/>
              </a:ext>
            </a:extLst>
          </p:cNvPr>
          <p:cNvSpPr>
            <a:spLocks noGrp="1"/>
          </p:cNvSpPr>
          <p:nvPr>
            <p:ph type="ctrTitle"/>
          </p:nvPr>
        </p:nvSpPr>
        <p:spPr>
          <a:xfrm>
            <a:off x="3710865" y="1893245"/>
            <a:ext cx="7120785" cy="832199"/>
          </a:xfrm>
        </p:spPr>
        <p:txBody>
          <a:bodyPr/>
          <a:lstStyle/>
          <a:p>
            <a:r>
              <a:rPr lang="en-US" b="1" i="1" dirty="0">
                <a:latin typeface="Bodoni MT" panose="02070603080606020203" pitchFamily="18" charset="0"/>
              </a:rPr>
              <a:t>Project content:</a:t>
            </a:r>
            <a:endParaRPr lang="ar-EG" b="1" i="1" dirty="0">
              <a:latin typeface="Bodoni MT" panose="02070603080606020203" pitchFamily="18" charset="0"/>
            </a:endParaRPr>
          </a:p>
        </p:txBody>
      </p:sp>
      <p:sp>
        <p:nvSpPr>
          <p:cNvPr id="3" name="Subtitle 2">
            <a:extLst>
              <a:ext uri="{FF2B5EF4-FFF2-40B4-BE49-F238E27FC236}">
                <a16:creationId xmlns:a16="http://schemas.microsoft.com/office/drawing/2014/main" id="{75A43FAC-1A2D-4426-BCC6-E331C5A5C137}"/>
              </a:ext>
            </a:extLst>
          </p:cNvPr>
          <p:cNvSpPr>
            <a:spLocks noGrp="1"/>
          </p:cNvSpPr>
          <p:nvPr>
            <p:ph type="subTitle" idx="1"/>
          </p:nvPr>
        </p:nvSpPr>
        <p:spPr>
          <a:xfrm>
            <a:off x="3916018" y="2725444"/>
            <a:ext cx="8017565" cy="3317547"/>
          </a:xfrm>
          <a:noFill/>
          <a:ln>
            <a:noFill/>
          </a:ln>
        </p:spPr>
        <p:txBody>
          <a:bodyPr>
            <a:normAutofit/>
          </a:bodyPr>
          <a:lstStyle/>
          <a:p>
            <a:pPr algn="just"/>
            <a:r>
              <a:rPr lang="en-US" sz="2800" b="1" cap="none"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endParaRPr lang="en-US" sz="4900" cap="none" dirty="0">
              <a:ln w="0"/>
              <a:solidFill>
                <a:schemeClr val="accent1"/>
              </a:solidFill>
              <a:effectLst>
                <a:outerShdw blurRad="38100" dist="25400" dir="5400000" algn="ctr" rotWithShape="0">
                  <a:srgbClr val="6E747A">
                    <a:alpha val="43000"/>
                  </a:srgbClr>
                </a:outerShdw>
              </a:effectLst>
              <a:latin typeface="Bahnschrift Light SemiCondensed" panose="020B0502040204020203" pitchFamily="34" charset="0"/>
            </a:endParaRPr>
          </a:p>
        </p:txBody>
      </p:sp>
      <p:sp>
        <p:nvSpPr>
          <p:cNvPr id="4" name="Rectangle 3">
            <a:extLst>
              <a:ext uri="{FF2B5EF4-FFF2-40B4-BE49-F238E27FC236}">
                <a16:creationId xmlns:a16="http://schemas.microsoft.com/office/drawing/2014/main" id="{33E87C56-F353-45C1-9B23-4EFFDF7F89E2}"/>
              </a:ext>
            </a:extLst>
          </p:cNvPr>
          <p:cNvSpPr/>
          <p:nvPr/>
        </p:nvSpPr>
        <p:spPr>
          <a:xfrm>
            <a:off x="6096000" y="3095978"/>
            <a:ext cx="193966" cy="923330"/>
          </a:xfrm>
          <a:prstGeom prst="rect">
            <a:avLst/>
          </a:prstGeom>
          <a:noFill/>
        </p:spPr>
        <p:txBody>
          <a:bodyPr wrap="squar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Bahnschrift Light SemiCondensed" panose="020B0502040204020203" pitchFamily="34" charset="0"/>
              </a:rPr>
              <a:t> </a:t>
            </a:r>
            <a:endParaRPr lang="ar-EG"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8" name="Rectangle 7">
            <a:extLst>
              <a:ext uri="{FF2B5EF4-FFF2-40B4-BE49-F238E27FC236}">
                <a16:creationId xmlns:a16="http://schemas.microsoft.com/office/drawing/2014/main" id="{77A84019-4428-4421-A3B6-DED44969B9EA}"/>
              </a:ext>
            </a:extLst>
          </p:cNvPr>
          <p:cNvSpPr/>
          <p:nvPr/>
        </p:nvSpPr>
        <p:spPr>
          <a:xfrm>
            <a:off x="5768013" y="2967335"/>
            <a:ext cx="327988" cy="923330"/>
          </a:xfrm>
          <a:prstGeom prst="rect">
            <a:avLst/>
          </a:prstGeom>
          <a:noFill/>
        </p:spPr>
        <p:txBody>
          <a:bodyPr wrap="squar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endParaRPr lang="ar-EG"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6" name="Rectangle 5">
            <a:extLst>
              <a:ext uri="{FF2B5EF4-FFF2-40B4-BE49-F238E27FC236}">
                <a16:creationId xmlns:a16="http://schemas.microsoft.com/office/drawing/2014/main" id="{BCF9A16A-F029-4936-A02D-E7F6C4F68FEA}"/>
              </a:ext>
            </a:extLst>
          </p:cNvPr>
          <p:cNvSpPr/>
          <p:nvPr/>
        </p:nvSpPr>
        <p:spPr>
          <a:xfrm>
            <a:off x="4681330" y="3105835"/>
            <a:ext cx="6708914" cy="2554545"/>
          </a:xfrm>
          <a:prstGeom prst="rect">
            <a:avLst/>
          </a:prstGeom>
        </p:spPr>
        <p:txBody>
          <a:bodyPr wrap="square">
            <a:spAutoFit/>
          </a:bodyPr>
          <a:lstStyle/>
          <a:p>
            <a:r>
              <a:rPr lang="en-US" sz="3200" dirty="0">
                <a:ln w="0"/>
                <a:effectLst>
                  <a:outerShdw blurRad="38100" dist="19050" dir="2700000" algn="tl" rotWithShape="0">
                    <a:schemeClr val="dk1">
                      <a:alpha val="40000"/>
                    </a:schemeClr>
                  </a:outerShdw>
                </a:effectLst>
              </a:rPr>
              <a:t>1- lntroduction Of Project</a:t>
            </a:r>
          </a:p>
          <a:p>
            <a:r>
              <a:rPr lang="en-US" sz="3200" b="1" dirty="0"/>
              <a:t>2- User Scenarios</a:t>
            </a:r>
          </a:p>
          <a:p>
            <a:r>
              <a:rPr lang="en-US" sz="3200" b="1"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rPr>
              <a:t>3- Requirements </a:t>
            </a:r>
          </a:p>
          <a:p>
            <a:r>
              <a:rPr lang="en-US" sz="3200" dirty="0"/>
              <a:t>4- Methodolog</a:t>
            </a:r>
            <a:endParaRPr lang="en-US" sz="3200" b="1"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endParaRPr>
          </a:p>
          <a:p>
            <a:r>
              <a:rPr lang="en-US" sz="3200" b="1" dirty="0"/>
              <a:t>5- Diagrams</a:t>
            </a:r>
            <a:endParaRPr lang="ar-EG" sz="3200" b="1" dirty="0"/>
          </a:p>
        </p:txBody>
      </p:sp>
    </p:spTree>
    <p:extLst>
      <p:ext uri="{BB962C8B-B14F-4D97-AF65-F5344CB8AC3E}">
        <p14:creationId xmlns:p14="http://schemas.microsoft.com/office/powerpoint/2010/main" val="2566983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C67F3-D4EA-4059-9DE8-2CC516200D54}"/>
              </a:ext>
            </a:extLst>
          </p:cNvPr>
          <p:cNvSpPr>
            <a:spLocks noGrp="1"/>
          </p:cNvSpPr>
          <p:nvPr>
            <p:ph type="title"/>
          </p:nvPr>
        </p:nvSpPr>
        <p:spPr>
          <a:xfrm>
            <a:off x="685800" y="228600"/>
            <a:ext cx="9684167" cy="1676399"/>
          </a:xfrm>
        </p:spPr>
        <p:txBody>
          <a:bodyPr/>
          <a:lstStyle/>
          <a:p>
            <a:pPr algn="ctr"/>
            <a:r>
              <a:rPr lang="en-US" b="1" i="1" u="sng"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rPr>
              <a:t>3- Requirements</a:t>
            </a:r>
            <a:endParaRPr lang="ar-EG" b="1" i="1" u="sng"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endParaRPr>
          </a:p>
        </p:txBody>
      </p:sp>
      <p:sp>
        <p:nvSpPr>
          <p:cNvPr id="3" name="Text Placeholder 2">
            <a:extLst>
              <a:ext uri="{FF2B5EF4-FFF2-40B4-BE49-F238E27FC236}">
                <a16:creationId xmlns:a16="http://schemas.microsoft.com/office/drawing/2014/main" id="{3F163A3F-8637-4A8C-9C3B-F655D90A856C}"/>
              </a:ext>
            </a:extLst>
          </p:cNvPr>
          <p:cNvSpPr>
            <a:spLocks noGrp="1"/>
          </p:cNvSpPr>
          <p:nvPr>
            <p:ph type="body" idx="1"/>
          </p:nvPr>
        </p:nvSpPr>
        <p:spPr>
          <a:xfrm>
            <a:off x="357810" y="2166729"/>
            <a:ext cx="10012158" cy="5575853"/>
          </a:xfrm>
        </p:spPr>
        <p:txBody>
          <a:bodyPr>
            <a:normAutofit/>
          </a:bodyPr>
          <a:lstStyle/>
          <a:p>
            <a:r>
              <a:rPr lang="en-US" sz="3600" b="1" dirty="0">
                <a:ln w="9525">
                  <a:solidFill>
                    <a:schemeClr val="bg1"/>
                  </a:solidFill>
                  <a:prstDash val="solid"/>
                </a:ln>
                <a:effectLst>
                  <a:outerShdw blurRad="12700" dist="38100" dir="2700000" algn="tl" rotWithShape="0">
                    <a:schemeClr val="bg1">
                      <a:lumMod val="50000"/>
                    </a:schemeClr>
                  </a:outerShdw>
                </a:effectLst>
              </a:rPr>
              <a:t>.</a:t>
            </a:r>
            <a:r>
              <a:rPr lang="en-US" sz="3600" b="1" dirty="0"/>
              <a:t> 1- User and System Requirements</a:t>
            </a:r>
          </a:p>
          <a:p>
            <a:endParaRPr lang="en-US" sz="3600" b="1" dirty="0"/>
          </a:p>
          <a:p>
            <a:r>
              <a:rPr lang="en-US" sz="3600" dirty="0"/>
              <a:t>    </a:t>
            </a:r>
            <a:r>
              <a:rPr lang="en-US" sz="3600" b="1" dirty="0">
                <a:ln w="9525">
                  <a:solidFill>
                    <a:schemeClr val="bg1"/>
                  </a:solidFill>
                  <a:prstDash val="solid"/>
                </a:ln>
                <a:effectLst>
                  <a:outerShdw blurRad="12700" dist="38100" dir="2700000" algn="tl" rotWithShape="0">
                    <a:schemeClr val="bg1">
                      <a:lumMod val="50000"/>
                    </a:schemeClr>
                  </a:outerShdw>
                </a:effectLst>
              </a:rPr>
              <a:t>(A)  User Requirements</a:t>
            </a:r>
            <a:endParaRPr lang="ar-EG" sz="3600" b="1" dirty="0">
              <a:ln w="9525">
                <a:solidFill>
                  <a:schemeClr val="bg1"/>
                </a:solidFill>
                <a:prstDash val="solid"/>
              </a:ln>
              <a:effectLst>
                <a:outerShdw blurRad="12700" dist="38100" dir="2700000" algn="tl" rotWithShape="0">
                  <a:schemeClr val="bg1">
                    <a:lumMod val="50000"/>
                  </a:schemeClr>
                </a:outerShdw>
              </a:effectLst>
            </a:endParaRPr>
          </a:p>
          <a:p>
            <a:endParaRPr lang="en-US" sz="3600" b="1" dirty="0">
              <a:ln w="9525">
                <a:solidFill>
                  <a:schemeClr val="bg1"/>
                </a:solidFill>
                <a:prstDash val="solid"/>
              </a:ln>
              <a:effectLst>
                <a:outerShdw blurRad="12700" dist="38100" dir="2700000" algn="tl" rotWithShape="0">
                  <a:schemeClr val="bg1">
                    <a:lumMod val="50000"/>
                  </a:schemeClr>
                </a:outerShdw>
              </a:effectLst>
            </a:endParaRPr>
          </a:p>
          <a:p>
            <a:r>
              <a:rPr lang="en-US" sz="3600" b="1" dirty="0">
                <a:ln w="9525">
                  <a:solidFill>
                    <a:schemeClr val="bg1"/>
                  </a:solidFill>
                  <a:prstDash val="solid"/>
                </a:ln>
                <a:effectLst>
                  <a:outerShdw blurRad="12700" dist="38100" dir="2700000" algn="tl" rotWithShape="0">
                    <a:schemeClr val="bg1">
                      <a:lumMod val="50000"/>
                    </a:schemeClr>
                  </a:outerShdw>
                </a:effectLst>
              </a:rPr>
              <a:t>    (B)  System Requirements  </a:t>
            </a:r>
            <a:endParaRPr lang="ar-EG" sz="3600" b="1" dirty="0">
              <a:ln w="9525">
                <a:solidFill>
                  <a:schemeClr val="bg1"/>
                </a:solidFill>
                <a:prstDash val="solid"/>
              </a:ln>
              <a:effectLst>
                <a:outerShdw blurRad="12700" dist="38100" dir="2700000" algn="tl" rotWithShape="0">
                  <a:schemeClr val="bg1">
                    <a:lumMod val="50000"/>
                  </a:schemeClr>
                </a:outerShdw>
              </a:effectLst>
            </a:endParaRPr>
          </a:p>
          <a:p>
            <a:endParaRPr lang="en-US" sz="3600" b="1" dirty="0"/>
          </a:p>
          <a:p>
            <a:endParaRPr lang="en-US" dirty="0"/>
          </a:p>
          <a:p>
            <a:endParaRPr lang="en-US" sz="3600" b="1" dirty="0"/>
          </a:p>
          <a:p>
            <a:endParaRPr lang="ar-EG" sz="3600" b="1" dirty="0"/>
          </a:p>
        </p:txBody>
      </p:sp>
    </p:spTree>
    <p:extLst>
      <p:ext uri="{BB962C8B-B14F-4D97-AF65-F5344CB8AC3E}">
        <p14:creationId xmlns:p14="http://schemas.microsoft.com/office/powerpoint/2010/main" val="2412854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circle(in)">
                                      <p:cBhvr>
                                        <p:cTn id="22"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F1A0F-7EA3-4B5F-AAE9-9F6949AAAA0B}"/>
              </a:ext>
            </a:extLst>
          </p:cNvPr>
          <p:cNvSpPr>
            <a:spLocks noGrp="1"/>
          </p:cNvSpPr>
          <p:nvPr>
            <p:ph type="title"/>
          </p:nvPr>
        </p:nvSpPr>
        <p:spPr>
          <a:xfrm>
            <a:off x="139149" y="609601"/>
            <a:ext cx="10678080" cy="1904999"/>
          </a:xfrm>
        </p:spPr>
        <p:txBody>
          <a:bodyPr/>
          <a:lstStyle/>
          <a:p>
            <a:r>
              <a:rPr lang="en-US" b="1" i="1" dirty="0">
                <a:ln w="9525">
                  <a:solidFill>
                    <a:schemeClr val="bg1"/>
                  </a:solidFill>
                  <a:prstDash val="solid"/>
                </a:ln>
                <a:effectLst>
                  <a:outerShdw blurRad="12700" dist="38100" dir="2700000" algn="tl" rotWithShape="0">
                    <a:schemeClr val="bg1">
                      <a:lumMod val="50000"/>
                    </a:schemeClr>
                  </a:outerShdw>
                </a:effectLst>
              </a:rPr>
              <a:t>(A)  User Requirements</a:t>
            </a:r>
            <a:br>
              <a:rPr lang="ar-EG" dirty="0"/>
            </a:br>
            <a:endParaRPr lang="ar-EG" dirty="0"/>
          </a:p>
        </p:txBody>
      </p:sp>
      <p:sp>
        <p:nvSpPr>
          <p:cNvPr id="3" name="Text Placeholder 2">
            <a:extLst>
              <a:ext uri="{FF2B5EF4-FFF2-40B4-BE49-F238E27FC236}">
                <a16:creationId xmlns:a16="http://schemas.microsoft.com/office/drawing/2014/main" id="{3E324A0C-1C49-491D-BA1C-CC689DDB6158}"/>
              </a:ext>
            </a:extLst>
          </p:cNvPr>
          <p:cNvSpPr>
            <a:spLocks noGrp="1"/>
          </p:cNvSpPr>
          <p:nvPr>
            <p:ph type="body" idx="1"/>
          </p:nvPr>
        </p:nvSpPr>
        <p:spPr>
          <a:xfrm>
            <a:off x="139150" y="1699592"/>
            <a:ext cx="11042372" cy="4373218"/>
          </a:xfrm>
        </p:spPr>
        <p:txBody>
          <a:bodyPr>
            <a:normAutofit fontScale="92500" lnSpcReduction="10000"/>
          </a:bodyPr>
          <a:lstStyle/>
          <a:p>
            <a:pPr lvl="8"/>
            <a:r>
              <a:rPr lang="en-US" sz="2200" dirty="0"/>
              <a:t> Users should be able to :                                                                              </a:t>
            </a:r>
          </a:p>
          <a:p>
            <a:pPr lvl="8"/>
            <a:endParaRPr lang="en-US" sz="2200" dirty="0"/>
          </a:p>
          <a:p>
            <a:r>
              <a:rPr lang="en-US" sz="2800" dirty="0"/>
              <a:t> </a:t>
            </a:r>
            <a:r>
              <a:rPr lang="en-US" sz="2800" b="1" dirty="0">
                <a:ln w="9525">
                  <a:solidFill>
                    <a:schemeClr val="bg1"/>
                  </a:solidFill>
                  <a:prstDash val="solid"/>
                </a:ln>
                <a:effectLst>
                  <a:outerShdw blurRad="12700" dist="38100" dir="2700000" algn="tl" rotWithShape="0">
                    <a:schemeClr val="bg1">
                      <a:lumMod val="50000"/>
                    </a:schemeClr>
                  </a:outerShdw>
                </a:effectLst>
              </a:rPr>
              <a:t>-</a:t>
            </a:r>
            <a:r>
              <a:rPr lang="en-US" sz="2800" dirty="0"/>
              <a:t> Register a new account .</a:t>
            </a:r>
          </a:p>
          <a:p>
            <a:r>
              <a:rPr lang="en-US" sz="2800" dirty="0"/>
              <a:t> </a:t>
            </a:r>
            <a:r>
              <a:rPr lang="en-US" sz="2800" b="1" dirty="0">
                <a:ln w="9525">
                  <a:solidFill>
                    <a:schemeClr val="bg1"/>
                  </a:solidFill>
                  <a:prstDash val="solid"/>
                </a:ln>
                <a:effectLst>
                  <a:outerShdw blurRad="12700" dist="38100" dir="2700000" algn="tl" rotWithShape="0">
                    <a:schemeClr val="bg1">
                      <a:lumMod val="50000"/>
                    </a:schemeClr>
                  </a:outerShdw>
                </a:effectLst>
              </a:rPr>
              <a:t>-</a:t>
            </a:r>
            <a:r>
              <a:rPr lang="en-US" sz="2800" dirty="0"/>
              <a:t> Log in to the system . </a:t>
            </a:r>
          </a:p>
          <a:p>
            <a:r>
              <a:rPr lang="en-US" sz="2800" dirty="0"/>
              <a:t> </a:t>
            </a:r>
            <a:r>
              <a:rPr lang="en-US" sz="2800" b="1" dirty="0">
                <a:ln w="9525">
                  <a:solidFill>
                    <a:schemeClr val="bg1"/>
                  </a:solidFill>
                  <a:prstDash val="solid"/>
                </a:ln>
                <a:effectLst>
                  <a:outerShdw blurRad="12700" dist="38100" dir="2700000" algn="tl" rotWithShape="0">
                    <a:schemeClr val="bg1">
                      <a:lumMod val="50000"/>
                    </a:schemeClr>
                  </a:outerShdw>
                </a:effectLst>
              </a:rPr>
              <a:t>-</a:t>
            </a:r>
            <a:r>
              <a:rPr lang="en-US" sz="2800" dirty="0"/>
              <a:t> View a list of available courses . </a:t>
            </a:r>
          </a:p>
          <a:p>
            <a:r>
              <a:rPr lang="en-US" sz="2800" dirty="0"/>
              <a:t> </a:t>
            </a:r>
            <a:r>
              <a:rPr lang="en-US" sz="2800" b="1" dirty="0">
                <a:ln w="9525">
                  <a:solidFill>
                    <a:schemeClr val="bg1"/>
                  </a:solidFill>
                  <a:prstDash val="solid"/>
                </a:ln>
                <a:effectLst>
                  <a:outerShdw blurRad="12700" dist="38100" dir="2700000" algn="tl" rotWithShape="0">
                    <a:schemeClr val="bg1">
                      <a:lumMod val="50000"/>
                    </a:schemeClr>
                  </a:outerShdw>
                </a:effectLst>
              </a:rPr>
              <a:t>- </a:t>
            </a:r>
            <a:r>
              <a:rPr lang="en-US" sz="2800" dirty="0"/>
              <a:t>Register for courses . </a:t>
            </a:r>
          </a:p>
          <a:p>
            <a:r>
              <a:rPr lang="en-US" sz="2800" dirty="0"/>
              <a:t> </a:t>
            </a:r>
            <a:r>
              <a:rPr lang="en-US" sz="2800" b="1" dirty="0">
                <a:ln w="9525">
                  <a:solidFill>
                    <a:schemeClr val="bg1"/>
                  </a:solidFill>
                  <a:prstDash val="solid"/>
                </a:ln>
                <a:effectLst>
                  <a:outerShdw blurRad="12700" dist="38100" dir="2700000" algn="tl" rotWithShape="0">
                    <a:schemeClr val="bg1">
                      <a:lumMod val="50000"/>
                    </a:schemeClr>
                  </a:outerShdw>
                </a:effectLst>
              </a:rPr>
              <a:t>-</a:t>
            </a:r>
            <a:r>
              <a:rPr lang="en-US" sz="2800" dirty="0"/>
              <a:t> Pay fees using electronic payment methods . </a:t>
            </a:r>
          </a:p>
          <a:p>
            <a:r>
              <a:rPr lang="en-US" sz="2800" dirty="0"/>
              <a:t> </a:t>
            </a:r>
            <a:r>
              <a:rPr lang="en-US" sz="2800" b="1" dirty="0">
                <a:ln w="9525">
                  <a:solidFill>
                    <a:schemeClr val="bg1"/>
                  </a:solidFill>
                  <a:prstDash val="solid"/>
                </a:ln>
                <a:effectLst>
                  <a:outerShdw blurRad="12700" dist="38100" dir="2700000" algn="tl" rotWithShape="0">
                    <a:schemeClr val="bg1">
                      <a:lumMod val="50000"/>
                    </a:schemeClr>
                  </a:outerShdw>
                </a:effectLst>
              </a:rPr>
              <a:t>-</a:t>
            </a:r>
            <a:r>
              <a:rPr lang="en-US" sz="2800" dirty="0"/>
              <a:t> View registration reports.   </a:t>
            </a:r>
            <a:endParaRPr lang="ar-EG" sz="2800" dirty="0"/>
          </a:p>
          <a:p>
            <a:pPr lvl="8"/>
            <a:r>
              <a:rPr lang="en-US" sz="2200" dirty="0"/>
              <a:t>                                                        </a:t>
            </a:r>
            <a:endParaRPr lang="ar-EG" sz="2800" dirty="0"/>
          </a:p>
        </p:txBody>
      </p:sp>
    </p:spTree>
    <p:extLst>
      <p:ext uri="{BB962C8B-B14F-4D97-AF65-F5344CB8AC3E}">
        <p14:creationId xmlns:p14="http://schemas.microsoft.com/office/powerpoint/2010/main" val="282400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ircle(in)">
                                      <p:cBhvr>
                                        <p:cTn id="37" dur="1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circle(in)">
                                      <p:cBhvr>
                                        <p:cTn id="42" dur="1000"/>
                                        <p:tgtEl>
                                          <p:spTgt spid="3">
                                            <p:txEl>
                                              <p:pRg st="7" end="7"/>
                                            </p:txEl>
                                          </p:spTgt>
                                        </p:tgtEl>
                                      </p:cBhvr>
                                    </p:animEffect>
                                  </p:childTnLst>
                                </p:cTn>
                              </p:par>
                              <p:par>
                                <p:cTn id="43" presetID="6" presetClass="entr" presetSubtype="16" fill="hold" grpId="0"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circle(in)">
                                      <p:cBhvr>
                                        <p:cTn id="45"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F1A0F-7EA3-4B5F-AAE9-9F6949AAAA0B}"/>
              </a:ext>
            </a:extLst>
          </p:cNvPr>
          <p:cNvSpPr>
            <a:spLocks noGrp="1"/>
          </p:cNvSpPr>
          <p:nvPr>
            <p:ph type="title"/>
          </p:nvPr>
        </p:nvSpPr>
        <p:spPr>
          <a:xfrm>
            <a:off x="139149" y="609601"/>
            <a:ext cx="10678080" cy="1904999"/>
          </a:xfrm>
        </p:spPr>
        <p:txBody>
          <a:bodyPr/>
          <a:lstStyle/>
          <a:p>
            <a:r>
              <a:rPr lang="en-US" b="1" i="1" dirty="0">
                <a:ln w="9525">
                  <a:solidFill>
                    <a:schemeClr val="bg1"/>
                  </a:solidFill>
                  <a:prstDash val="solid"/>
                </a:ln>
                <a:effectLst>
                  <a:outerShdw blurRad="12700" dist="38100" dir="2700000" algn="tl" rotWithShape="0">
                    <a:schemeClr val="bg1">
                      <a:lumMod val="50000"/>
                    </a:schemeClr>
                  </a:outerShdw>
                </a:effectLst>
              </a:rPr>
              <a:t>(B)  System Requirements</a:t>
            </a:r>
            <a:br>
              <a:rPr lang="ar-EG" dirty="0"/>
            </a:br>
            <a:endParaRPr lang="ar-EG" dirty="0"/>
          </a:p>
        </p:txBody>
      </p:sp>
      <p:sp>
        <p:nvSpPr>
          <p:cNvPr id="3" name="Text Placeholder 2">
            <a:extLst>
              <a:ext uri="{FF2B5EF4-FFF2-40B4-BE49-F238E27FC236}">
                <a16:creationId xmlns:a16="http://schemas.microsoft.com/office/drawing/2014/main" id="{3E324A0C-1C49-491D-BA1C-CC689DDB6158}"/>
              </a:ext>
            </a:extLst>
          </p:cNvPr>
          <p:cNvSpPr>
            <a:spLocks noGrp="1"/>
          </p:cNvSpPr>
          <p:nvPr>
            <p:ph type="body" idx="1"/>
          </p:nvPr>
        </p:nvSpPr>
        <p:spPr>
          <a:xfrm>
            <a:off x="139149" y="1729409"/>
            <a:ext cx="11459816" cy="4303643"/>
          </a:xfrm>
        </p:spPr>
        <p:txBody>
          <a:bodyPr>
            <a:normAutofit fontScale="85000" lnSpcReduction="20000"/>
          </a:bodyPr>
          <a:lstStyle/>
          <a:p>
            <a:r>
              <a:rPr lang="en-US" sz="2800" dirty="0"/>
              <a:t> </a:t>
            </a:r>
            <a:r>
              <a:rPr lang="en-US" sz="2800" b="1" dirty="0">
                <a:ln w="9525">
                  <a:solidFill>
                    <a:schemeClr val="bg1"/>
                  </a:solidFill>
                  <a:prstDash val="solid"/>
                </a:ln>
                <a:effectLst>
                  <a:outerShdw blurRad="12700" dist="38100" dir="2700000" algn="tl" rotWithShape="0">
                    <a:schemeClr val="bg1">
                      <a:lumMod val="50000"/>
                    </a:schemeClr>
                  </a:outerShdw>
                </a:effectLst>
              </a:rPr>
              <a:t>-</a:t>
            </a:r>
            <a:r>
              <a:rPr lang="en-US" sz="2800" dirty="0"/>
              <a:t> Backend:</a:t>
            </a:r>
          </a:p>
          <a:p>
            <a:r>
              <a:rPr lang="en-US" sz="2800" dirty="0"/>
              <a:t>       Database for storing user data, course information, and registrations.</a:t>
            </a:r>
          </a:p>
          <a:p>
            <a:r>
              <a:rPr lang="en-US" sz="2800" dirty="0"/>
              <a:t> </a:t>
            </a:r>
            <a:r>
              <a:rPr lang="en-US" sz="2800" b="1" dirty="0">
                <a:ln w="9525">
                  <a:solidFill>
                    <a:schemeClr val="bg1"/>
                  </a:solidFill>
                  <a:prstDash val="solid"/>
                </a:ln>
                <a:effectLst>
                  <a:outerShdw blurRad="12700" dist="38100" dir="2700000" algn="tl" rotWithShape="0">
                    <a:schemeClr val="bg1">
                      <a:lumMod val="50000"/>
                    </a:schemeClr>
                  </a:outerShdw>
                </a:effectLst>
              </a:rPr>
              <a:t>-</a:t>
            </a:r>
            <a:r>
              <a:rPr lang="en-US" sz="2800" dirty="0"/>
              <a:t> Frontend: </a:t>
            </a:r>
          </a:p>
          <a:p>
            <a:r>
              <a:rPr lang="en-US" sz="2800" dirty="0"/>
              <a:t>      User-friendly interface to display courses and facilitate registration.</a:t>
            </a:r>
          </a:p>
          <a:p>
            <a:r>
              <a:rPr lang="en-US" sz="2800" dirty="0"/>
              <a:t> </a:t>
            </a:r>
            <a:r>
              <a:rPr lang="en-US" sz="2800" b="1" dirty="0">
                <a:ln w="9525">
                  <a:solidFill>
                    <a:schemeClr val="bg1"/>
                  </a:solidFill>
                  <a:prstDash val="solid"/>
                </a:ln>
                <a:effectLst>
                  <a:outerShdw blurRad="12700" dist="38100" dir="2700000" algn="tl" rotWithShape="0">
                    <a:schemeClr val="bg1">
                      <a:lumMod val="50000"/>
                    </a:schemeClr>
                  </a:outerShdw>
                </a:effectLst>
              </a:rPr>
              <a:t>-</a:t>
            </a:r>
            <a:r>
              <a:rPr lang="en-US" sz="2800" dirty="0"/>
              <a:t> Authentication:</a:t>
            </a:r>
          </a:p>
          <a:p>
            <a:r>
              <a:rPr lang="en-US" sz="2800" dirty="0"/>
              <a:t>      Verification of user identity using email and password.    </a:t>
            </a:r>
          </a:p>
          <a:p>
            <a:r>
              <a:rPr lang="en-US" sz="2800" dirty="0"/>
              <a:t> </a:t>
            </a:r>
            <a:r>
              <a:rPr lang="en-US" sz="2800" b="1" dirty="0">
                <a:ln w="9525">
                  <a:solidFill>
                    <a:schemeClr val="bg1"/>
                  </a:solidFill>
                  <a:prstDash val="solid"/>
                </a:ln>
                <a:effectLst>
                  <a:outerShdw blurRad="12700" dist="38100" dir="2700000" algn="tl" rotWithShape="0">
                    <a:schemeClr val="bg1">
                      <a:lumMod val="50000"/>
                    </a:schemeClr>
                  </a:outerShdw>
                </a:effectLst>
              </a:rPr>
              <a:t>-</a:t>
            </a:r>
            <a:r>
              <a:rPr lang="en-US" sz="2800" dirty="0"/>
              <a:t> Payment Integration:</a:t>
            </a:r>
          </a:p>
          <a:p>
            <a:r>
              <a:rPr lang="en-US" sz="2800" dirty="0"/>
              <a:t>      Support for electronic payment methods (e.g., credit/debit cards).</a:t>
            </a:r>
          </a:p>
          <a:p>
            <a:r>
              <a:rPr lang="en-US" sz="2800" dirty="0"/>
              <a:t> </a:t>
            </a:r>
            <a:r>
              <a:rPr lang="en-US" sz="2800" b="1" dirty="0">
                <a:ln w="9525">
                  <a:solidFill>
                    <a:schemeClr val="bg1"/>
                  </a:solidFill>
                  <a:prstDash val="solid"/>
                </a:ln>
                <a:effectLst>
                  <a:outerShdw blurRad="12700" dist="38100" dir="2700000" algn="tl" rotWithShape="0">
                    <a:schemeClr val="bg1">
                      <a:lumMod val="50000"/>
                    </a:schemeClr>
                  </a:outerShdw>
                </a:effectLst>
              </a:rPr>
              <a:t>-</a:t>
            </a:r>
            <a:r>
              <a:rPr lang="en-US" sz="2800" dirty="0"/>
              <a:t> Reporting:</a:t>
            </a:r>
          </a:p>
          <a:p>
            <a:r>
              <a:rPr lang="en-US" sz="2800" dirty="0"/>
              <a:t>       System to generate registration reports. </a:t>
            </a:r>
            <a:endParaRPr lang="ar-EG" sz="2800" dirty="0"/>
          </a:p>
        </p:txBody>
      </p:sp>
    </p:spTree>
    <p:extLst>
      <p:ext uri="{BB962C8B-B14F-4D97-AF65-F5344CB8AC3E}">
        <p14:creationId xmlns:p14="http://schemas.microsoft.com/office/powerpoint/2010/main" val="52534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1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1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10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circle(in)">
                                      <p:cBhvr>
                                        <p:cTn id="52" dur="10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circle(in)">
                                      <p:cBhvr>
                                        <p:cTn id="57" dur="1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C67F3-D4EA-4059-9DE8-2CC516200D54}"/>
              </a:ext>
            </a:extLst>
          </p:cNvPr>
          <p:cNvSpPr>
            <a:spLocks noGrp="1"/>
          </p:cNvSpPr>
          <p:nvPr>
            <p:ph type="title"/>
          </p:nvPr>
        </p:nvSpPr>
        <p:spPr>
          <a:xfrm>
            <a:off x="685800" y="228600"/>
            <a:ext cx="9684167" cy="1676399"/>
          </a:xfrm>
        </p:spPr>
        <p:txBody>
          <a:bodyPr/>
          <a:lstStyle/>
          <a:p>
            <a:pPr algn="ctr"/>
            <a:r>
              <a:rPr lang="en-US" b="1" i="1" u="sng"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rPr>
              <a:t>3- Requirements</a:t>
            </a:r>
            <a:endParaRPr lang="ar-EG" b="1" i="1" u="sng"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endParaRPr>
          </a:p>
        </p:txBody>
      </p:sp>
      <p:sp>
        <p:nvSpPr>
          <p:cNvPr id="3" name="Text Placeholder 2">
            <a:extLst>
              <a:ext uri="{FF2B5EF4-FFF2-40B4-BE49-F238E27FC236}">
                <a16:creationId xmlns:a16="http://schemas.microsoft.com/office/drawing/2014/main" id="{3F163A3F-8637-4A8C-9C3B-F655D90A856C}"/>
              </a:ext>
            </a:extLst>
          </p:cNvPr>
          <p:cNvSpPr>
            <a:spLocks noGrp="1"/>
          </p:cNvSpPr>
          <p:nvPr>
            <p:ph type="body" idx="1"/>
          </p:nvPr>
        </p:nvSpPr>
        <p:spPr>
          <a:xfrm>
            <a:off x="357810" y="2166730"/>
            <a:ext cx="10012158" cy="4104861"/>
          </a:xfrm>
        </p:spPr>
        <p:txBody>
          <a:bodyPr>
            <a:normAutofit fontScale="92500" lnSpcReduction="10000"/>
          </a:bodyPr>
          <a:lstStyle/>
          <a:p>
            <a:endParaRPr lang="en-US" sz="3600" b="1" dirty="0"/>
          </a:p>
          <a:p>
            <a:endParaRPr lang="en-US" dirty="0"/>
          </a:p>
          <a:p>
            <a:r>
              <a:rPr lang="en-US" sz="3600" b="1" dirty="0">
                <a:ln w="9525">
                  <a:solidFill>
                    <a:schemeClr val="bg1"/>
                  </a:solidFill>
                  <a:prstDash val="solid"/>
                </a:ln>
                <a:effectLst>
                  <a:outerShdw blurRad="12700" dist="38100" dir="2700000" algn="tl" rotWithShape="0">
                    <a:schemeClr val="bg1">
                      <a:lumMod val="50000"/>
                    </a:schemeClr>
                  </a:outerShdw>
                </a:effectLst>
              </a:rPr>
              <a:t>.</a:t>
            </a:r>
            <a:r>
              <a:rPr lang="en-US" sz="3600" b="1" dirty="0"/>
              <a:t> 2- Functional and Non-Functional Requirements</a:t>
            </a:r>
          </a:p>
          <a:p>
            <a:endParaRPr lang="en-US" sz="3600" b="1" dirty="0">
              <a:ln w="9525">
                <a:solidFill>
                  <a:schemeClr val="bg1"/>
                </a:solidFill>
                <a:prstDash val="solid"/>
              </a:ln>
              <a:effectLst>
                <a:outerShdw blurRad="12700" dist="38100" dir="2700000" algn="tl" rotWithShape="0">
                  <a:schemeClr val="bg1">
                    <a:lumMod val="50000"/>
                  </a:schemeClr>
                </a:outerShdw>
              </a:effectLst>
            </a:endParaRPr>
          </a:p>
          <a:p>
            <a:r>
              <a:rPr lang="en-US" sz="3600" b="1" dirty="0">
                <a:ln w="9525">
                  <a:solidFill>
                    <a:schemeClr val="bg1"/>
                  </a:solidFill>
                  <a:prstDash val="solid"/>
                </a:ln>
                <a:effectLst>
                  <a:outerShdw blurRad="12700" dist="38100" dir="2700000" algn="tl" rotWithShape="0">
                    <a:schemeClr val="bg1">
                      <a:lumMod val="50000"/>
                    </a:schemeClr>
                  </a:outerShdw>
                </a:effectLst>
              </a:rPr>
              <a:t>     (A) Functional Requirements</a:t>
            </a:r>
          </a:p>
          <a:p>
            <a:endParaRPr lang="en-US" sz="3600" b="1" dirty="0">
              <a:ln w="9525">
                <a:solidFill>
                  <a:schemeClr val="bg1"/>
                </a:solidFill>
                <a:prstDash val="solid"/>
              </a:ln>
              <a:effectLst>
                <a:outerShdw blurRad="12700" dist="38100" dir="2700000" algn="tl" rotWithShape="0">
                  <a:schemeClr val="bg1">
                    <a:lumMod val="50000"/>
                  </a:schemeClr>
                </a:outerShdw>
              </a:effectLst>
            </a:endParaRPr>
          </a:p>
          <a:p>
            <a:r>
              <a:rPr lang="en-US" sz="3600" b="1" dirty="0">
                <a:ln w="9525">
                  <a:solidFill>
                    <a:schemeClr val="bg1"/>
                  </a:solidFill>
                  <a:prstDash val="solid"/>
                </a:ln>
                <a:effectLst>
                  <a:outerShdw blurRad="12700" dist="38100" dir="2700000" algn="tl" rotWithShape="0">
                    <a:schemeClr val="bg1">
                      <a:lumMod val="50000"/>
                    </a:schemeClr>
                  </a:outerShdw>
                </a:effectLst>
              </a:rPr>
              <a:t>      (B) Non-Functional Requirement     </a:t>
            </a:r>
          </a:p>
          <a:p>
            <a:endParaRPr lang="en-US" sz="3600" b="1" dirty="0"/>
          </a:p>
          <a:p>
            <a:endParaRPr lang="ar-EG" sz="3600" b="1" dirty="0"/>
          </a:p>
        </p:txBody>
      </p:sp>
    </p:spTree>
    <p:extLst>
      <p:ext uri="{BB962C8B-B14F-4D97-AF65-F5344CB8AC3E}">
        <p14:creationId xmlns:p14="http://schemas.microsoft.com/office/powerpoint/2010/main" val="116842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ircle(in)">
                                      <p:cBhvr>
                                        <p:cTn id="17" dur="1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circle(in)">
                                      <p:cBhvr>
                                        <p:cTn id="22"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07EDD-695A-4E0B-B675-70052AA78156}"/>
              </a:ext>
            </a:extLst>
          </p:cNvPr>
          <p:cNvSpPr>
            <a:spLocks noGrp="1"/>
          </p:cNvSpPr>
          <p:nvPr>
            <p:ph type="title"/>
          </p:nvPr>
        </p:nvSpPr>
        <p:spPr>
          <a:xfrm>
            <a:off x="228601" y="609601"/>
            <a:ext cx="10588628" cy="1904999"/>
          </a:xfrm>
        </p:spPr>
        <p:txBody>
          <a:bodyPr/>
          <a:lstStyle/>
          <a:p>
            <a:r>
              <a:rPr lang="en-US" b="1" i="1" dirty="0">
                <a:ln w="9525">
                  <a:solidFill>
                    <a:schemeClr val="bg1"/>
                  </a:solidFill>
                  <a:prstDash val="solid"/>
                </a:ln>
                <a:effectLst>
                  <a:outerShdw blurRad="12700" dist="38100" dir="2700000" algn="tl" rotWithShape="0">
                    <a:schemeClr val="bg1">
                      <a:lumMod val="50000"/>
                    </a:schemeClr>
                  </a:outerShdw>
                </a:effectLst>
              </a:rPr>
              <a:t>(A) Functional Requirements</a:t>
            </a:r>
            <a:br>
              <a:rPr lang="en-US" dirty="0"/>
            </a:br>
            <a:endParaRPr lang="ar-EG" dirty="0"/>
          </a:p>
        </p:txBody>
      </p:sp>
      <p:sp>
        <p:nvSpPr>
          <p:cNvPr id="3" name="Text Placeholder 2">
            <a:extLst>
              <a:ext uri="{FF2B5EF4-FFF2-40B4-BE49-F238E27FC236}">
                <a16:creationId xmlns:a16="http://schemas.microsoft.com/office/drawing/2014/main" id="{C26FD01B-7353-4D61-81A3-3F4439A5078B}"/>
              </a:ext>
            </a:extLst>
          </p:cNvPr>
          <p:cNvSpPr>
            <a:spLocks noGrp="1"/>
          </p:cNvSpPr>
          <p:nvPr>
            <p:ph type="body" idx="1"/>
          </p:nvPr>
        </p:nvSpPr>
        <p:spPr>
          <a:xfrm>
            <a:off x="149087" y="1659835"/>
            <a:ext cx="10588628" cy="4588564"/>
          </a:xfrm>
        </p:spPr>
        <p:txBody>
          <a:bodyPr>
            <a:normAutofit fontScale="77500" lnSpcReduction="20000"/>
          </a:bodyPr>
          <a:lstStyle/>
          <a:p>
            <a:r>
              <a:rPr lang="en-US" sz="3100" b="1" dirty="0">
                <a:ln w="9525">
                  <a:solidFill>
                    <a:schemeClr val="bg1"/>
                  </a:solidFill>
                  <a:prstDash val="solid"/>
                </a:ln>
                <a:effectLst>
                  <a:outerShdw blurRad="12700" dist="38100" dir="2700000" algn="tl" rotWithShape="0">
                    <a:schemeClr val="bg1">
                      <a:lumMod val="50000"/>
                    </a:schemeClr>
                  </a:outerShdw>
                </a:effectLst>
              </a:rPr>
              <a:t>-</a:t>
            </a:r>
            <a:r>
              <a:rPr lang="en-US" sz="6600" b="1" dirty="0">
                <a:ln w="9525">
                  <a:solidFill>
                    <a:schemeClr val="bg1"/>
                  </a:solidFill>
                  <a:prstDash val="solid"/>
                </a:ln>
                <a:effectLst>
                  <a:outerShdw blurRad="12700" dist="38100" dir="2700000" algn="tl" rotWithShape="0">
                    <a:schemeClr val="bg1">
                      <a:lumMod val="50000"/>
                    </a:schemeClr>
                  </a:outerShdw>
                </a:effectLst>
              </a:rPr>
              <a:t> </a:t>
            </a:r>
            <a:r>
              <a:rPr lang="en-US" sz="3100" dirty="0"/>
              <a:t>User registration functionality.</a:t>
            </a:r>
          </a:p>
          <a:p>
            <a:r>
              <a:rPr lang="en-US" dirty="0"/>
              <a:t> </a:t>
            </a:r>
            <a:r>
              <a:rPr lang="en-US" sz="3100" b="1" dirty="0">
                <a:ln w="9525">
                  <a:solidFill>
                    <a:schemeClr val="bg1"/>
                  </a:solidFill>
                  <a:prstDash val="solid"/>
                </a:ln>
                <a:effectLst>
                  <a:outerShdw blurRad="12700" dist="38100" dir="2700000" algn="tl" rotWithShape="0">
                    <a:schemeClr val="bg1">
                      <a:lumMod val="50000"/>
                    </a:schemeClr>
                  </a:outerShdw>
                </a:effectLst>
              </a:rPr>
              <a:t>-</a:t>
            </a:r>
            <a:r>
              <a:rPr lang="en-US" sz="6600" b="1" dirty="0">
                <a:ln w="9525">
                  <a:solidFill>
                    <a:schemeClr val="bg1"/>
                  </a:solidFill>
                  <a:prstDash val="solid"/>
                </a:ln>
                <a:effectLst>
                  <a:outerShdw blurRad="12700" dist="38100" dir="2700000" algn="tl" rotWithShape="0">
                    <a:schemeClr val="bg1">
                      <a:lumMod val="50000"/>
                    </a:schemeClr>
                  </a:outerShdw>
                </a:effectLst>
              </a:rPr>
              <a:t> </a:t>
            </a:r>
            <a:r>
              <a:rPr lang="en-US" sz="3100" dirty="0"/>
              <a:t>Login system with email and password.</a:t>
            </a:r>
          </a:p>
          <a:p>
            <a:r>
              <a:rPr lang="en-US" sz="3100" b="1" dirty="0">
                <a:ln w="9525">
                  <a:solidFill>
                    <a:schemeClr val="bg1"/>
                  </a:solidFill>
                  <a:prstDash val="solid"/>
                </a:ln>
                <a:effectLst>
                  <a:outerShdw blurRad="12700" dist="38100" dir="2700000" algn="tl" rotWithShape="0">
                    <a:schemeClr val="bg1">
                      <a:lumMod val="50000"/>
                    </a:schemeClr>
                  </a:outerShdw>
                </a:effectLst>
              </a:rPr>
              <a:t>-</a:t>
            </a:r>
            <a:r>
              <a:rPr lang="en-US" sz="6600" b="1" dirty="0">
                <a:ln w="9525">
                  <a:solidFill>
                    <a:schemeClr val="bg1"/>
                  </a:solidFill>
                  <a:prstDash val="solid"/>
                </a:ln>
                <a:effectLst>
                  <a:outerShdw blurRad="12700" dist="38100" dir="2700000" algn="tl" rotWithShape="0">
                    <a:schemeClr val="bg1">
                      <a:lumMod val="50000"/>
                    </a:schemeClr>
                  </a:outerShdw>
                </a:effectLst>
              </a:rPr>
              <a:t> </a:t>
            </a:r>
            <a:r>
              <a:rPr lang="en-US" sz="3100" dirty="0"/>
              <a:t>Display of available courses.</a:t>
            </a:r>
          </a:p>
          <a:p>
            <a:r>
              <a:rPr lang="en-US" dirty="0"/>
              <a:t> </a:t>
            </a:r>
            <a:r>
              <a:rPr lang="en-US" sz="3100" b="1" dirty="0">
                <a:ln w="9525">
                  <a:solidFill>
                    <a:schemeClr val="bg1"/>
                  </a:solidFill>
                  <a:prstDash val="solid"/>
                </a:ln>
                <a:effectLst>
                  <a:outerShdw blurRad="12700" dist="38100" dir="2700000" algn="tl" rotWithShape="0">
                    <a:schemeClr val="bg1">
                      <a:lumMod val="50000"/>
                    </a:schemeClr>
                  </a:outerShdw>
                </a:effectLst>
              </a:rPr>
              <a:t>-</a:t>
            </a:r>
            <a:r>
              <a:rPr lang="en-US" sz="6600" b="1" dirty="0">
                <a:ln w="9525">
                  <a:solidFill>
                    <a:schemeClr val="bg1"/>
                  </a:solidFill>
                  <a:prstDash val="solid"/>
                </a:ln>
                <a:effectLst>
                  <a:outerShdw blurRad="12700" dist="38100" dir="2700000" algn="tl" rotWithShape="0">
                    <a:schemeClr val="bg1">
                      <a:lumMod val="50000"/>
                    </a:schemeClr>
                  </a:outerShdw>
                </a:effectLst>
              </a:rPr>
              <a:t> </a:t>
            </a:r>
            <a:r>
              <a:rPr lang="en-US" sz="3100" dirty="0"/>
              <a:t>Validation and registration for courses.</a:t>
            </a:r>
            <a:r>
              <a:rPr lang="ar-EG" sz="3100" dirty="0"/>
              <a:t>            </a:t>
            </a:r>
            <a:endParaRPr lang="en-US" sz="3100" dirty="0"/>
          </a:p>
          <a:p>
            <a:r>
              <a:rPr lang="en-US" b="1" dirty="0">
                <a:ln w="9525">
                  <a:solidFill>
                    <a:schemeClr val="bg1"/>
                  </a:solidFill>
                  <a:prstDash val="solid"/>
                </a:ln>
                <a:effectLst>
                  <a:outerShdw blurRad="12700" dist="38100" dir="2700000" algn="tl" rotWithShape="0">
                    <a:schemeClr val="bg1">
                      <a:lumMod val="50000"/>
                    </a:schemeClr>
                  </a:outerShdw>
                </a:effectLst>
              </a:rPr>
              <a:t> </a:t>
            </a:r>
            <a:r>
              <a:rPr lang="en-US" sz="3100" b="1" dirty="0">
                <a:ln w="9525">
                  <a:solidFill>
                    <a:schemeClr val="bg1"/>
                  </a:solidFill>
                  <a:prstDash val="solid"/>
                </a:ln>
                <a:effectLst>
                  <a:outerShdw blurRad="12700" dist="38100" dir="2700000" algn="tl" rotWithShape="0">
                    <a:schemeClr val="bg1">
                      <a:lumMod val="50000"/>
                    </a:schemeClr>
                  </a:outerShdw>
                </a:effectLst>
              </a:rPr>
              <a:t>-</a:t>
            </a:r>
            <a:r>
              <a:rPr lang="en-US" sz="7100" b="1" dirty="0">
                <a:ln w="9525">
                  <a:solidFill>
                    <a:schemeClr val="bg1"/>
                  </a:solidFill>
                  <a:prstDash val="solid"/>
                </a:ln>
                <a:effectLst>
                  <a:outerShdw blurRad="12700" dist="38100" dir="2700000" algn="tl" rotWithShape="0">
                    <a:schemeClr val="bg1">
                      <a:lumMod val="50000"/>
                    </a:schemeClr>
                  </a:outerShdw>
                </a:effectLst>
              </a:rPr>
              <a:t> </a:t>
            </a:r>
            <a:r>
              <a:rPr lang="en-US" sz="3100" dirty="0"/>
              <a:t>Electronic payment processing.  </a:t>
            </a:r>
          </a:p>
          <a:p>
            <a:r>
              <a:rPr lang="en-US" sz="3100" b="1" dirty="0">
                <a:ln w="9525">
                  <a:solidFill>
                    <a:schemeClr val="bg1"/>
                  </a:solidFill>
                  <a:prstDash val="solid"/>
                </a:ln>
                <a:effectLst>
                  <a:outerShdw blurRad="12700" dist="38100" dir="2700000" algn="tl" rotWithShape="0">
                    <a:schemeClr val="bg1">
                      <a:lumMod val="50000"/>
                    </a:schemeClr>
                  </a:outerShdw>
                </a:effectLst>
              </a:rPr>
              <a:t>-</a:t>
            </a:r>
            <a:r>
              <a:rPr lang="en-US" sz="7100" b="1" dirty="0">
                <a:ln w="9525">
                  <a:solidFill>
                    <a:schemeClr val="bg1"/>
                  </a:solidFill>
                  <a:prstDash val="solid"/>
                </a:ln>
                <a:effectLst>
                  <a:outerShdw blurRad="12700" dist="38100" dir="2700000" algn="tl" rotWithShape="0">
                    <a:schemeClr val="bg1">
                      <a:lumMod val="50000"/>
                    </a:schemeClr>
                  </a:outerShdw>
                </a:effectLst>
              </a:rPr>
              <a:t> </a:t>
            </a:r>
            <a:r>
              <a:rPr lang="en-US" sz="3100" dirty="0"/>
              <a:t>Report generation and display.  </a:t>
            </a:r>
            <a:endParaRPr lang="ar-EG" sz="3100" dirty="0"/>
          </a:p>
        </p:txBody>
      </p:sp>
    </p:spTree>
    <p:extLst>
      <p:ext uri="{BB962C8B-B14F-4D97-AF65-F5344CB8AC3E}">
        <p14:creationId xmlns:p14="http://schemas.microsoft.com/office/powerpoint/2010/main" val="1922736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07EDD-695A-4E0B-B675-70052AA78156}"/>
              </a:ext>
            </a:extLst>
          </p:cNvPr>
          <p:cNvSpPr>
            <a:spLocks noGrp="1"/>
          </p:cNvSpPr>
          <p:nvPr>
            <p:ph type="title"/>
          </p:nvPr>
        </p:nvSpPr>
        <p:spPr>
          <a:xfrm>
            <a:off x="228601" y="609601"/>
            <a:ext cx="10588628" cy="1904999"/>
          </a:xfrm>
        </p:spPr>
        <p:txBody>
          <a:bodyPr/>
          <a:lstStyle/>
          <a:p>
            <a:r>
              <a:rPr lang="en-US" b="1" i="1" dirty="0">
                <a:ln w="9525">
                  <a:solidFill>
                    <a:schemeClr val="bg1"/>
                  </a:solidFill>
                  <a:prstDash val="solid"/>
                </a:ln>
                <a:effectLst>
                  <a:outerShdw blurRad="12700" dist="38100" dir="2700000" algn="tl" rotWithShape="0">
                    <a:schemeClr val="bg1">
                      <a:lumMod val="50000"/>
                    </a:schemeClr>
                  </a:outerShdw>
                </a:effectLst>
              </a:rPr>
              <a:t>(B) Non-Functional Requirement</a:t>
            </a:r>
            <a:br>
              <a:rPr lang="en-US" dirty="0"/>
            </a:br>
            <a:endParaRPr lang="ar-EG" dirty="0"/>
          </a:p>
        </p:txBody>
      </p:sp>
      <p:sp>
        <p:nvSpPr>
          <p:cNvPr id="3" name="Text Placeholder 2">
            <a:extLst>
              <a:ext uri="{FF2B5EF4-FFF2-40B4-BE49-F238E27FC236}">
                <a16:creationId xmlns:a16="http://schemas.microsoft.com/office/drawing/2014/main" id="{C26FD01B-7353-4D61-81A3-3F4439A5078B}"/>
              </a:ext>
            </a:extLst>
          </p:cNvPr>
          <p:cNvSpPr>
            <a:spLocks noGrp="1"/>
          </p:cNvSpPr>
          <p:nvPr>
            <p:ph type="body" idx="1"/>
          </p:nvPr>
        </p:nvSpPr>
        <p:spPr>
          <a:xfrm>
            <a:off x="149087" y="1659835"/>
            <a:ext cx="10588628" cy="4588564"/>
          </a:xfrm>
        </p:spPr>
        <p:txBody>
          <a:bodyPr>
            <a:normAutofit fontScale="85000" lnSpcReduction="20000"/>
          </a:bodyPr>
          <a:lstStyle/>
          <a:p>
            <a:r>
              <a:rPr lang="en-US" sz="3100" b="1" dirty="0">
                <a:ln w="9525">
                  <a:solidFill>
                    <a:schemeClr val="bg1"/>
                  </a:solidFill>
                  <a:prstDash val="solid"/>
                </a:ln>
                <a:effectLst>
                  <a:outerShdw blurRad="12700" dist="38100" dir="2700000" algn="tl" rotWithShape="0">
                    <a:schemeClr val="bg1">
                      <a:lumMod val="50000"/>
                    </a:schemeClr>
                  </a:outerShdw>
                </a:effectLst>
              </a:rPr>
              <a:t> -</a:t>
            </a:r>
            <a:r>
              <a:rPr lang="en-US" sz="3100" dirty="0"/>
              <a:t> Performance:</a:t>
            </a:r>
          </a:p>
          <a:p>
            <a:r>
              <a:rPr lang="en-US" sz="3100" dirty="0"/>
              <a:t>       Response time under 3 seconds for each operation.</a:t>
            </a:r>
          </a:p>
          <a:p>
            <a:r>
              <a:rPr lang="en-US" sz="3100" dirty="0"/>
              <a:t> </a:t>
            </a:r>
            <a:r>
              <a:rPr lang="en-US" sz="3100" b="1" dirty="0">
                <a:ln w="9525">
                  <a:solidFill>
                    <a:schemeClr val="bg1"/>
                  </a:solidFill>
                  <a:prstDash val="solid"/>
                </a:ln>
                <a:effectLst>
                  <a:outerShdw blurRad="12700" dist="38100" dir="2700000" algn="tl" rotWithShape="0">
                    <a:schemeClr val="bg1">
                      <a:lumMod val="50000"/>
                    </a:schemeClr>
                  </a:outerShdw>
                </a:effectLst>
              </a:rPr>
              <a:t>-</a:t>
            </a:r>
            <a:r>
              <a:rPr lang="en-US" sz="3100" dirty="0"/>
              <a:t> Flexibility:</a:t>
            </a:r>
          </a:p>
          <a:p>
            <a:r>
              <a:rPr lang="en-US" sz="3100" dirty="0"/>
              <a:t>       Support for multiple device types (smartphones, computers).   </a:t>
            </a:r>
          </a:p>
          <a:p>
            <a:r>
              <a:rPr lang="en-US" sz="3100" dirty="0"/>
              <a:t> </a:t>
            </a:r>
            <a:r>
              <a:rPr lang="en-US" sz="3100" b="1" dirty="0">
                <a:ln w="9525">
                  <a:solidFill>
                    <a:schemeClr val="bg1"/>
                  </a:solidFill>
                  <a:prstDash val="solid"/>
                </a:ln>
                <a:effectLst>
                  <a:outerShdw blurRad="12700" dist="38100" dir="2700000" algn="tl" rotWithShape="0">
                    <a:schemeClr val="bg1">
                      <a:lumMod val="50000"/>
                    </a:schemeClr>
                  </a:outerShdw>
                </a:effectLst>
              </a:rPr>
              <a:t>-</a:t>
            </a:r>
            <a:r>
              <a:rPr lang="en-US" sz="3100" dirty="0"/>
              <a:t> Security:</a:t>
            </a:r>
          </a:p>
          <a:p>
            <a:r>
              <a:rPr lang="en-US" sz="3100" dirty="0"/>
              <a:t>      Encryption of user data and payment transactions.</a:t>
            </a:r>
          </a:p>
          <a:p>
            <a:r>
              <a:rPr lang="en-US" sz="3100" dirty="0"/>
              <a:t> </a:t>
            </a:r>
            <a:r>
              <a:rPr lang="en-US" sz="3100" b="1" dirty="0">
                <a:ln w="9525">
                  <a:solidFill>
                    <a:schemeClr val="bg1"/>
                  </a:solidFill>
                  <a:prstDash val="solid"/>
                </a:ln>
                <a:effectLst>
                  <a:outerShdw blurRad="12700" dist="38100" dir="2700000" algn="tl" rotWithShape="0">
                    <a:schemeClr val="bg1">
                      <a:lumMod val="50000"/>
                    </a:schemeClr>
                  </a:outerShdw>
                </a:effectLst>
              </a:rPr>
              <a:t>-</a:t>
            </a:r>
            <a:r>
              <a:rPr lang="en-US" sz="3100" dirty="0"/>
              <a:t> Scalability:</a:t>
            </a:r>
          </a:p>
          <a:p>
            <a:r>
              <a:rPr lang="en-US" sz="3100" dirty="0"/>
              <a:t>      Support for a large number of concurrent users.</a:t>
            </a:r>
          </a:p>
          <a:p>
            <a:r>
              <a:rPr lang="en-US" sz="3100" dirty="0"/>
              <a:t> </a:t>
            </a:r>
            <a:r>
              <a:rPr lang="en-US" sz="3100" b="1" dirty="0">
                <a:ln w="9525">
                  <a:solidFill>
                    <a:schemeClr val="bg1"/>
                  </a:solidFill>
                  <a:prstDash val="solid"/>
                </a:ln>
                <a:effectLst>
                  <a:outerShdw blurRad="12700" dist="38100" dir="2700000" algn="tl" rotWithShape="0">
                    <a:schemeClr val="bg1">
                      <a:lumMod val="50000"/>
                    </a:schemeClr>
                  </a:outerShdw>
                </a:effectLst>
              </a:rPr>
              <a:t>-</a:t>
            </a:r>
            <a:r>
              <a:rPr lang="en-US" sz="3100" dirty="0"/>
              <a:t> Usability: </a:t>
            </a:r>
          </a:p>
          <a:p>
            <a:r>
              <a:rPr lang="en-US" sz="3100" dirty="0"/>
              <a:t>      Intuitive and easy-to-navigate user interface.</a:t>
            </a:r>
            <a:endParaRPr lang="ar-EG" sz="3100" dirty="0"/>
          </a:p>
        </p:txBody>
      </p:sp>
    </p:spTree>
    <p:extLst>
      <p:ext uri="{BB962C8B-B14F-4D97-AF65-F5344CB8AC3E}">
        <p14:creationId xmlns:p14="http://schemas.microsoft.com/office/powerpoint/2010/main" val="3382094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2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2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2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2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20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circle(in)">
                                      <p:cBhvr>
                                        <p:cTn id="52" dur="20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circle(in)">
                                      <p:cBhvr>
                                        <p:cTn id="57"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2380690-0EF8-4653-8CE7-4DBC66A1B781}"/>
              </a:ext>
            </a:extLst>
          </p:cNvPr>
          <p:cNvSpPr/>
          <p:nvPr/>
        </p:nvSpPr>
        <p:spPr>
          <a:xfrm>
            <a:off x="4154556" y="2725444"/>
            <a:ext cx="8017565" cy="413255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2" name="Title 1">
            <a:extLst>
              <a:ext uri="{FF2B5EF4-FFF2-40B4-BE49-F238E27FC236}">
                <a16:creationId xmlns:a16="http://schemas.microsoft.com/office/drawing/2014/main" id="{A649B44F-D4D6-4648-A38F-0DB62402B5ED}"/>
              </a:ext>
            </a:extLst>
          </p:cNvPr>
          <p:cNvSpPr>
            <a:spLocks noGrp="1"/>
          </p:cNvSpPr>
          <p:nvPr>
            <p:ph type="ctrTitle"/>
          </p:nvPr>
        </p:nvSpPr>
        <p:spPr>
          <a:xfrm>
            <a:off x="3710865" y="1893245"/>
            <a:ext cx="7120785" cy="832199"/>
          </a:xfrm>
        </p:spPr>
        <p:txBody>
          <a:bodyPr/>
          <a:lstStyle/>
          <a:p>
            <a:r>
              <a:rPr lang="en-US" b="1" i="1" dirty="0">
                <a:latin typeface="Bodoni MT" panose="02070603080606020203" pitchFamily="18" charset="0"/>
              </a:rPr>
              <a:t>Project content:</a:t>
            </a:r>
            <a:endParaRPr lang="ar-EG" b="1" i="1" dirty="0">
              <a:latin typeface="Bodoni MT" panose="02070603080606020203" pitchFamily="18" charset="0"/>
            </a:endParaRPr>
          </a:p>
        </p:txBody>
      </p:sp>
      <p:sp>
        <p:nvSpPr>
          <p:cNvPr id="3" name="Subtitle 2">
            <a:extLst>
              <a:ext uri="{FF2B5EF4-FFF2-40B4-BE49-F238E27FC236}">
                <a16:creationId xmlns:a16="http://schemas.microsoft.com/office/drawing/2014/main" id="{75A43FAC-1A2D-4426-BCC6-E331C5A5C137}"/>
              </a:ext>
            </a:extLst>
          </p:cNvPr>
          <p:cNvSpPr>
            <a:spLocks noGrp="1"/>
          </p:cNvSpPr>
          <p:nvPr>
            <p:ph type="subTitle" idx="1"/>
          </p:nvPr>
        </p:nvSpPr>
        <p:spPr>
          <a:xfrm>
            <a:off x="3916018" y="2725444"/>
            <a:ext cx="8017565" cy="3317547"/>
          </a:xfrm>
          <a:noFill/>
          <a:ln>
            <a:noFill/>
          </a:ln>
        </p:spPr>
        <p:txBody>
          <a:bodyPr>
            <a:normAutofit/>
          </a:bodyPr>
          <a:lstStyle/>
          <a:p>
            <a:pPr algn="just"/>
            <a:r>
              <a:rPr lang="en-US" sz="2800" b="1" cap="none"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endParaRPr lang="en-US" sz="4900" cap="none" dirty="0">
              <a:ln w="0"/>
              <a:solidFill>
                <a:schemeClr val="accent1"/>
              </a:solidFill>
              <a:effectLst>
                <a:outerShdw blurRad="38100" dist="25400" dir="5400000" algn="ctr" rotWithShape="0">
                  <a:srgbClr val="6E747A">
                    <a:alpha val="43000"/>
                  </a:srgbClr>
                </a:outerShdw>
              </a:effectLst>
              <a:latin typeface="Bahnschrift Light SemiCondensed" panose="020B0502040204020203" pitchFamily="34" charset="0"/>
            </a:endParaRPr>
          </a:p>
        </p:txBody>
      </p:sp>
      <p:sp>
        <p:nvSpPr>
          <p:cNvPr id="4" name="Rectangle 3">
            <a:extLst>
              <a:ext uri="{FF2B5EF4-FFF2-40B4-BE49-F238E27FC236}">
                <a16:creationId xmlns:a16="http://schemas.microsoft.com/office/drawing/2014/main" id="{33E87C56-F353-45C1-9B23-4EFFDF7F89E2}"/>
              </a:ext>
            </a:extLst>
          </p:cNvPr>
          <p:cNvSpPr/>
          <p:nvPr/>
        </p:nvSpPr>
        <p:spPr>
          <a:xfrm>
            <a:off x="6096000" y="3095978"/>
            <a:ext cx="193966" cy="923330"/>
          </a:xfrm>
          <a:prstGeom prst="rect">
            <a:avLst/>
          </a:prstGeom>
          <a:noFill/>
        </p:spPr>
        <p:txBody>
          <a:bodyPr wrap="squar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Bahnschrift Light SemiCondensed" panose="020B0502040204020203" pitchFamily="34" charset="0"/>
              </a:rPr>
              <a:t> </a:t>
            </a:r>
            <a:endParaRPr lang="ar-EG"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8" name="Rectangle 7">
            <a:extLst>
              <a:ext uri="{FF2B5EF4-FFF2-40B4-BE49-F238E27FC236}">
                <a16:creationId xmlns:a16="http://schemas.microsoft.com/office/drawing/2014/main" id="{77A84019-4428-4421-A3B6-DED44969B9EA}"/>
              </a:ext>
            </a:extLst>
          </p:cNvPr>
          <p:cNvSpPr/>
          <p:nvPr/>
        </p:nvSpPr>
        <p:spPr>
          <a:xfrm>
            <a:off x="5768013" y="2967335"/>
            <a:ext cx="327988" cy="923330"/>
          </a:xfrm>
          <a:prstGeom prst="rect">
            <a:avLst/>
          </a:prstGeom>
          <a:noFill/>
        </p:spPr>
        <p:txBody>
          <a:bodyPr wrap="squar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endParaRPr lang="ar-EG"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6" name="Rectangle 5">
            <a:extLst>
              <a:ext uri="{FF2B5EF4-FFF2-40B4-BE49-F238E27FC236}">
                <a16:creationId xmlns:a16="http://schemas.microsoft.com/office/drawing/2014/main" id="{BCF9A16A-F029-4936-A02D-E7F6C4F68FEA}"/>
              </a:ext>
            </a:extLst>
          </p:cNvPr>
          <p:cNvSpPr/>
          <p:nvPr/>
        </p:nvSpPr>
        <p:spPr>
          <a:xfrm>
            <a:off x="4681330" y="3105835"/>
            <a:ext cx="6708914" cy="2554545"/>
          </a:xfrm>
          <a:prstGeom prst="rect">
            <a:avLst/>
          </a:prstGeom>
        </p:spPr>
        <p:txBody>
          <a:bodyPr wrap="square">
            <a:spAutoFit/>
          </a:bodyPr>
          <a:lstStyle/>
          <a:p>
            <a:r>
              <a:rPr lang="en-US" sz="3200" dirty="0">
                <a:ln w="0"/>
                <a:effectLst>
                  <a:outerShdw blurRad="38100" dist="19050" dir="2700000" algn="tl" rotWithShape="0">
                    <a:schemeClr val="dk1">
                      <a:alpha val="40000"/>
                    </a:schemeClr>
                  </a:outerShdw>
                </a:effectLst>
              </a:rPr>
              <a:t>1- lntroduction Of Project</a:t>
            </a:r>
          </a:p>
          <a:p>
            <a:r>
              <a:rPr lang="en-US" sz="3200" dirty="0">
                <a:ln w="0"/>
                <a:effectLst>
                  <a:outerShdw blurRad="38100" dist="19050" dir="2700000" algn="tl" rotWithShape="0">
                    <a:schemeClr val="dk1">
                      <a:alpha val="40000"/>
                    </a:schemeClr>
                  </a:outerShdw>
                </a:effectLst>
              </a:rPr>
              <a:t>2- User Scenarios</a:t>
            </a:r>
          </a:p>
          <a:p>
            <a:r>
              <a:rPr lang="en-US" sz="3200" dirty="0">
                <a:ln w="0"/>
                <a:effectLst>
                  <a:outerShdw blurRad="38100" dist="19050" dir="2700000" algn="tl" rotWithShape="0">
                    <a:schemeClr val="dk1">
                      <a:alpha val="40000"/>
                    </a:schemeClr>
                  </a:outerShdw>
                </a:effectLst>
              </a:rPr>
              <a:t> 3- Requirements </a:t>
            </a:r>
          </a:p>
          <a:p>
            <a:r>
              <a:rPr lang="en-US" sz="3200" dirty="0">
                <a:ln w="0"/>
                <a:effectLst>
                  <a:outerShdw blurRad="38100" dist="19050" dir="2700000" algn="tl" rotWithShape="0">
                    <a:schemeClr val="dk1">
                      <a:alpha val="40000"/>
                    </a:schemeClr>
                  </a:outerShdw>
                </a:effectLst>
              </a:rPr>
              <a:t> </a:t>
            </a:r>
            <a:r>
              <a:rPr lang="en-US" sz="3200" b="1"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rPr>
              <a:t>4- Methodolog</a:t>
            </a:r>
          </a:p>
          <a:p>
            <a:r>
              <a:rPr lang="en-US" sz="3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en-US" sz="3200" dirty="0">
                <a:ln w="0"/>
                <a:effectLst>
                  <a:outerShdw blurRad="38100" dist="19050" dir="2700000" algn="tl" rotWithShape="0">
                    <a:schemeClr val="dk1">
                      <a:alpha val="40000"/>
                    </a:schemeClr>
                  </a:outerShdw>
                </a:effectLst>
              </a:rPr>
              <a:t>5- Diagrams</a:t>
            </a:r>
            <a:endParaRPr lang="ar-EG" sz="3200" b="1" dirty="0">
              <a:ln w="12700">
                <a:solidFill>
                  <a:schemeClr val="accent1"/>
                </a:solidFill>
                <a:prstDash val="solid"/>
              </a:ln>
              <a:solidFill>
                <a:schemeClr val="bg1"/>
              </a:solidFill>
              <a:effectLst>
                <a:outerShdw dist="38100" dir="2640000" algn="bl" rotWithShape="0">
                  <a:schemeClr val="accent1"/>
                </a:outerShdw>
              </a:effectLst>
            </a:endParaRPr>
          </a:p>
        </p:txBody>
      </p:sp>
    </p:spTree>
    <p:extLst>
      <p:ext uri="{BB962C8B-B14F-4D97-AF65-F5344CB8AC3E}">
        <p14:creationId xmlns:p14="http://schemas.microsoft.com/office/powerpoint/2010/main" val="127530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E03D0-7C30-4C49-BBB9-5165CA918B1B}"/>
              </a:ext>
            </a:extLst>
          </p:cNvPr>
          <p:cNvSpPr>
            <a:spLocks noGrp="1"/>
          </p:cNvSpPr>
          <p:nvPr>
            <p:ph type="title"/>
          </p:nvPr>
        </p:nvSpPr>
        <p:spPr>
          <a:xfrm>
            <a:off x="685802" y="609603"/>
            <a:ext cx="8666920" cy="622850"/>
          </a:xfrm>
        </p:spPr>
        <p:txBody>
          <a:bodyPr>
            <a:normAutofit fontScale="90000"/>
          </a:bodyPr>
          <a:lstStyle/>
          <a:p>
            <a:pPr algn="ctr"/>
            <a:r>
              <a:rPr lang="en-US" sz="4000" b="1" i="1" u="sng"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rPr>
              <a:t>4- Methodolog</a:t>
            </a:r>
            <a:br>
              <a:rPr lang="en-US" b="1"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rPr>
            </a:br>
            <a:endParaRPr lang="en-US" dirty="0"/>
          </a:p>
        </p:txBody>
      </p:sp>
      <p:sp>
        <p:nvSpPr>
          <p:cNvPr id="3" name="Text Placeholder 2">
            <a:extLst>
              <a:ext uri="{FF2B5EF4-FFF2-40B4-BE49-F238E27FC236}">
                <a16:creationId xmlns:a16="http://schemas.microsoft.com/office/drawing/2014/main" id="{F2F743F0-E38A-4DBC-B115-50487C79B367}"/>
              </a:ext>
            </a:extLst>
          </p:cNvPr>
          <p:cNvSpPr>
            <a:spLocks noGrp="1"/>
          </p:cNvSpPr>
          <p:nvPr>
            <p:ph type="body" idx="1"/>
          </p:nvPr>
        </p:nvSpPr>
        <p:spPr>
          <a:xfrm>
            <a:off x="119270" y="1162877"/>
            <a:ext cx="10942982" cy="5546035"/>
          </a:xfrm>
        </p:spPr>
        <p:txBody>
          <a:bodyPr>
            <a:noAutofit/>
          </a:bodyPr>
          <a:lstStyle/>
          <a:p>
            <a:r>
              <a:rPr lang="en-US" sz="1800" b="1" dirty="0">
                <a:ln w="9525">
                  <a:solidFill>
                    <a:schemeClr val="bg1"/>
                  </a:solidFill>
                  <a:prstDash val="solid"/>
                </a:ln>
                <a:effectLst>
                  <a:outerShdw blurRad="12700" dist="38100" dir="2700000" algn="tl" rotWithShape="0">
                    <a:schemeClr val="bg1">
                      <a:lumMod val="50000"/>
                    </a:schemeClr>
                  </a:outerShdw>
                </a:effectLst>
              </a:rPr>
              <a:t>•</a:t>
            </a:r>
            <a:r>
              <a:rPr lang="en-US" sz="1800" dirty="0"/>
              <a:t> Now we have reached the methodology of the identification station to implement the system and </a:t>
            </a:r>
          </a:p>
          <a:p>
            <a:r>
              <a:rPr lang="en-US" sz="1800" dirty="0"/>
              <a:t>it is divided into:    </a:t>
            </a:r>
          </a:p>
          <a:p>
            <a:r>
              <a:rPr lang="en-US" sz="1800" dirty="0"/>
              <a:t> </a:t>
            </a:r>
            <a:r>
              <a:rPr lang="en-US" sz="1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1-Waterfall Methodology                                                2-Agile Methodology</a:t>
            </a:r>
          </a:p>
          <a:p>
            <a:r>
              <a:rPr lang="en-US" sz="1800" dirty="0"/>
              <a:t> Our team choose agile methodology to implement the system that is because of its advantages like:</a:t>
            </a:r>
          </a:p>
          <a:p>
            <a:r>
              <a:rPr lang="en-US" sz="1800" dirty="0"/>
              <a:t> </a:t>
            </a:r>
            <a:r>
              <a:rPr lang="en-US" sz="1800" b="1" dirty="0">
                <a:ln w="9525">
                  <a:solidFill>
                    <a:schemeClr val="bg1"/>
                  </a:solidFill>
                  <a:prstDash val="solid"/>
                </a:ln>
                <a:effectLst>
                  <a:outerShdw blurRad="12700" dist="38100" dir="2700000" algn="tl" rotWithShape="0">
                    <a:schemeClr val="bg1">
                      <a:lumMod val="50000"/>
                    </a:schemeClr>
                  </a:outerShdw>
                </a:effectLst>
              </a:rPr>
              <a:t>1-</a:t>
            </a:r>
            <a:r>
              <a:rPr lang="en-US" sz="1800" dirty="0"/>
              <a:t> Dividing into sprints gives the team the opportunity to focus on the individual stages and work faster. </a:t>
            </a:r>
          </a:p>
          <a:p>
            <a:r>
              <a:rPr lang="en-US" sz="1800" dirty="0"/>
              <a:t> </a:t>
            </a:r>
            <a:r>
              <a:rPr lang="en-US" sz="1800" b="1" dirty="0">
                <a:ln w="9525">
                  <a:solidFill>
                    <a:schemeClr val="bg1"/>
                  </a:solidFill>
                  <a:prstDash val="solid"/>
                </a:ln>
                <a:effectLst>
                  <a:outerShdw blurRad="12700" dist="38100" dir="2700000" algn="tl" rotWithShape="0">
                    <a:schemeClr val="bg1">
                      <a:lumMod val="50000"/>
                    </a:schemeClr>
                  </a:outerShdw>
                </a:effectLst>
              </a:rPr>
              <a:t>2 - </a:t>
            </a:r>
            <a:r>
              <a:rPr lang="en-US" sz="1800" dirty="0"/>
              <a:t>The consumer can conveniently arrange the team according to the changing goals with the advancement of the project. </a:t>
            </a:r>
          </a:p>
          <a:p>
            <a:r>
              <a:rPr lang="en-US" sz="1800" dirty="0"/>
              <a:t> </a:t>
            </a:r>
            <a:r>
              <a:rPr lang="en-US" sz="1800" b="1" dirty="0">
                <a:ln w="9525">
                  <a:solidFill>
                    <a:schemeClr val="bg1"/>
                  </a:solidFill>
                  <a:prstDash val="solid"/>
                </a:ln>
                <a:effectLst>
                  <a:outerShdw blurRad="12700" dist="38100" dir="2700000" algn="tl" rotWithShape="0">
                    <a:schemeClr val="bg1">
                      <a:lumMod val="50000"/>
                    </a:schemeClr>
                  </a:outerShdw>
                </a:effectLst>
              </a:rPr>
              <a:t>3-</a:t>
            </a:r>
            <a:r>
              <a:rPr lang="en-US" sz="1800" dirty="0"/>
              <a:t> Developers can devote more time to interesting tasks and their potential development, instead of preparing formal reports. </a:t>
            </a:r>
          </a:p>
          <a:p>
            <a:r>
              <a:rPr lang="en-US" sz="1800" b="1" dirty="0">
                <a:ln w="9525">
                  <a:solidFill>
                    <a:schemeClr val="bg1"/>
                  </a:solidFill>
                  <a:prstDash val="solid"/>
                </a:ln>
                <a:effectLst>
                  <a:outerShdw blurRad="12700" dist="38100" dir="2700000" algn="tl" rotWithShape="0">
                    <a:schemeClr val="bg1">
                      <a:lumMod val="50000"/>
                    </a:schemeClr>
                  </a:outerShdw>
                </a:effectLst>
              </a:rPr>
              <a:t> 4- </a:t>
            </a:r>
            <a:r>
              <a:rPr lang="en-US" sz="1800" dirty="0"/>
              <a:t>The team can focus on development, testing, and collaboration. Errors in the code are quickly found and  eliminated.</a:t>
            </a:r>
          </a:p>
          <a:p>
            <a:r>
              <a:rPr lang="en-US" sz="1800" dirty="0"/>
              <a:t> </a:t>
            </a:r>
            <a:r>
              <a:rPr lang="en-US" sz="1800" b="1" dirty="0">
                <a:ln w="9525">
                  <a:solidFill>
                    <a:schemeClr val="bg1"/>
                  </a:solidFill>
                  <a:prstDash val="solid"/>
                </a:ln>
                <a:effectLst>
                  <a:outerShdw blurRad="12700" dist="38100" dir="2700000" algn="tl" rotWithShape="0">
                    <a:schemeClr val="bg1">
                      <a:lumMod val="50000"/>
                    </a:schemeClr>
                  </a:outerShdw>
                </a:effectLst>
              </a:rPr>
              <a:t>5- </a:t>
            </a:r>
            <a:r>
              <a:rPr lang="en-US" sz="1800" dirty="0"/>
              <a:t>Separating the project into short sprints increases the development transparency for the customer. </a:t>
            </a:r>
          </a:p>
          <a:p>
            <a:r>
              <a:rPr lang="en-US" sz="1800" dirty="0"/>
              <a:t> </a:t>
            </a:r>
            <a:r>
              <a:rPr lang="en-US" sz="1800" b="1" dirty="0">
                <a:ln w="9525">
                  <a:solidFill>
                    <a:schemeClr val="bg1"/>
                  </a:solidFill>
                  <a:prstDash val="solid"/>
                </a:ln>
                <a:effectLst>
                  <a:outerShdw blurRad="12700" dist="38100" dir="2700000" algn="tl" rotWithShape="0">
                    <a:schemeClr val="bg1">
                      <a:lumMod val="50000"/>
                    </a:schemeClr>
                  </a:outerShdw>
                </a:effectLst>
              </a:rPr>
              <a:t>6-</a:t>
            </a:r>
            <a:r>
              <a:rPr lang="en-US" sz="1800" dirty="0"/>
              <a:t> Faster feedback loop from end users.  </a:t>
            </a:r>
          </a:p>
          <a:p>
            <a:r>
              <a:rPr lang="en-US" sz="1800" dirty="0"/>
              <a:t> </a:t>
            </a:r>
            <a:r>
              <a:rPr lang="en-US" sz="1800" b="1" dirty="0">
                <a:ln w="9525">
                  <a:solidFill>
                    <a:schemeClr val="bg1"/>
                  </a:solidFill>
                  <a:prstDash val="solid"/>
                </a:ln>
                <a:effectLst>
                  <a:outerShdw blurRad="12700" dist="38100" dir="2700000" algn="tl" rotWithShape="0">
                    <a:schemeClr val="bg1">
                      <a:lumMod val="50000"/>
                    </a:schemeClr>
                  </a:outerShdw>
                </a:effectLst>
              </a:rPr>
              <a:t>7-</a:t>
            </a:r>
            <a:r>
              <a:rPr lang="en-US" sz="1800" dirty="0"/>
              <a:t> Flexibility in defining priority functions and setting goals.</a:t>
            </a:r>
          </a:p>
          <a:p>
            <a:r>
              <a:rPr lang="en-US" sz="1800" dirty="0"/>
              <a:t> </a:t>
            </a:r>
            <a:r>
              <a:rPr lang="en-US" sz="1800" b="1" dirty="0">
                <a:ln w="9525">
                  <a:solidFill>
                    <a:schemeClr val="bg1"/>
                  </a:solidFill>
                  <a:prstDash val="solid"/>
                </a:ln>
                <a:effectLst>
                  <a:outerShdw blurRad="12700" dist="38100" dir="2700000" algn="tl" rotWithShape="0">
                    <a:schemeClr val="bg1">
                      <a:lumMod val="50000"/>
                    </a:schemeClr>
                  </a:outerShdw>
                </a:effectLst>
              </a:rPr>
              <a:t>8-</a:t>
            </a:r>
            <a:r>
              <a:rPr lang="en-US" sz="1800" dirty="0"/>
              <a:t> The product enters the market faster, and product releases come out regularly, respectively, and quickly, which allows the customer to receive a faster return on investment.</a:t>
            </a:r>
          </a:p>
        </p:txBody>
      </p:sp>
    </p:spTree>
    <p:extLst>
      <p:ext uri="{BB962C8B-B14F-4D97-AF65-F5344CB8AC3E}">
        <p14:creationId xmlns:p14="http://schemas.microsoft.com/office/powerpoint/2010/main" val="3698095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1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1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10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circle(in)">
                                      <p:cBhvr>
                                        <p:cTn id="52" dur="10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circle(in)">
                                      <p:cBhvr>
                                        <p:cTn id="57" dur="10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circle(in)">
                                      <p:cBhvr>
                                        <p:cTn id="62" dur="10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circle(in)">
                                      <p:cBhvr>
                                        <p:cTn id="67" dur="1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2380690-0EF8-4653-8CE7-4DBC66A1B781}"/>
              </a:ext>
            </a:extLst>
          </p:cNvPr>
          <p:cNvSpPr/>
          <p:nvPr/>
        </p:nvSpPr>
        <p:spPr>
          <a:xfrm>
            <a:off x="4154556" y="2725444"/>
            <a:ext cx="8017565" cy="413255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2" name="Title 1">
            <a:extLst>
              <a:ext uri="{FF2B5EF4-FFF2-40B4-BE49-F238E27FC236}">
                <a16:creationId xmlns:a16="http://schemas.microsoft.com/office/drawing/2014/main" id="{A649B44F-D4D6-4648-A38F-0DB62402B5ED}"/>
              </a:ext>
            </a:extLst>
          </p:cNvPr>
          <p:cNvSpPr>
            <a:spLocks noGrp="1"/>
          </p:cNvSpPr>
          <p:nvPr>
            <p:ph type="ctrTitle"/>
          </p:nvPr>
        </p:nvSpPr>
        <p:spPr>
          <a:xfrm>
            <a:off x="3710865" y="1893245"/>
            <a:ext cx="7120785" cy="832199"/>
          </a:xfrm>
        </p:spPr>
        <p:txBody>
          <a:bodyPr/>
          <a:lstStyle/>
          <a:p>
            <a:r>
              <a:rPr lang="en-US" b="1" i="1" dirty="0">
                <a:latin typeface="Bodoni MT" panose="02070603080606020203" pitchFamily="18" charset="0"/>
              </a:rPr>
              <a:t>Project content:</a:t>
            </a:r>
            <a:endParaRPr lang="ar-EG" b="1" i="1" dirty="0">
              <a:latin typeface="Bodoni MT" panose="02070603080606020203" pitchFamily="18" charset="0"/>
            </a:endParaRPr>
          </a:p>
        </p:txBody>
      </p:sp>
      <p:sp>
        <p:nvSpPr>
          <p:cNvPr id="3" name="Subtitle 2">
            <a:extLst>
              <a:ext uri="{FF2B5EF4-FFF2-40B4-BE49-F238E27FC236}">
                <a16:creationId xmlns:a16="http://schemas.microsoft.com/office/drawing/2014/main" id="{75A43FAC-1A2D-4426-BCC6-E331C5A5C137}"/>
              </a:ext>
            </a:extLst>
          </p:cNvPr>
          <p:cNvSpPr>
            <a:spLocks noGrp="1"/>
          </p:cNvSpPr>
          <p:nvPr>
            <p:ph type="subTitle" idx="1"/>
          </p:nvPr>
        </p:nvSpPr>
        <p:spPr>
          <a:xfrm>
            <a:off x="3916018" y="2725444"/>
            <a:ext cx="8017565" cy="3317547"/>
          </a:xfrm>
          <a:noFill/>
          <a:ln>
            <a:noFill/>
          </a:ln>
        </p:spPr>
        <p:txBody>
          <a:bodyPr>
            <a:normAutofit/>
          </a:bodyPr>
          <a:lstStyle/>
          <a:p>
            <a:pPr algn="just"/>
            <a:r>
              <a:rPr lang="en-US" sz="2800" b="1" cap="none"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endParaRPr lang="en-US" sz="4900" cap="none" dirty="0">
              <a:ln w="0"/>
              <a:solidFill>
                <a:schemeClr val="accent1"/>
              </a:solidFill>
              <a:effectLst>
                <a:outerShdw blurRad="38100" dist="25400" dir="5400000" algn="ctr" rotWithShape="0">
                  <a:srgbClr val="6E747A">
                    <a:alpha val="43000"/>
                  </a:srgbClr>
                </a:outerShdw>
              </a:effectLst>
              <a:latin typeface="Bahnschrift Light SemiCondensed" panose="020B0502040204020203" pitchFamily="34" charset="0"/>
            </a:endParaRPr>
          </a:p>
        </p:txBody>
      </p:sp>
      <p:sp>
        <p:nvSpPr>
          <p:cNvPr id="4" name="Rectangle 3">
            <a:extLst>
              <a:ext uri="{FF2B5EF4-FFF2-40B4-BE49-F238E27FC236}">
                <a16:creationId xmlns:a16="http://schemas.microsoft.com/office/drawing/2014/main" id="{33E87C56-F353-45C1-9B23-4EFFDF7F89E2}"/>
              </a:ext>
            </a:extLst>
          </p:cNvPr>
          <p:cNvSpPr/>
          <p:nvPr/>
        </p:nvSpPr>
        <p:spPr>
          <a:xfrm>
            <a:off x="6096000" y="3095978"/>
            <a:ext cx="193966" cy="923330"/>
          </a:xfrm>
          <a:prstGeom prst="rect">
            <a:avLst/>
          </a:prstGeom>
          <a:noFill/>
        </p:spPr>
        <p:txBody>
          <a:bodyPr wrap="squar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Bahnschrift Light SemiCondensed" panose="020B0502040204020203" pitchFamily="34" charset="0"/>
              </a:rPr>
              <a:t> </a:t>
            </a:r>
            <a:endParaRPr lang="ar-EG"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8" name="Rectangle 7">
            <a:extLst>
              <a:ext uri="{FF2B5EF4-FFF2-40B4-BE49-F238E27FC236}">
                <a16:creationId xmlns:a16="http://schemas.microsoft.com/office/drawing/2014/main" id="{77A84019-4428-4421-A3B6-DED44969B9EA}"/>
              </a:ext>
            </a:extLst>
          </p:cNvPr>
          <p:cNvSpPr/>
          <p:nvPr/>
        </p:nvSpPr>
        <p:spPr>
          <a:xfrm>
            <a:off x="5768013" y="2967335"/>
            <a:ext cx="327988" cy="923330"/>
          </a:xfrm>
          <a:prstGeom prst="rect">
            <a:avLst/>
          </a:prstGeom>
          <a:noFill/>
        </p:spPr>
        <p:txBody>
          <a:bodyPr wrap="squar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endParaRPr lang="ar-EG"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6" name="Rectangle 5">
            <a:extLst>
              <a:ext uri="{FF2B5EF4-FFF2-40B4-BE49-F238E27FC236}">
                <a16:creationId xmlns:a16="http://schemas.microsoft.com/office/drawing/2014/main" id="{BCF9A16A-F029-4936-A02D-E7F6C4F68FEA}"/>
              </a:ext>
            </a:extLst>
          </p:cNvPr>
          <p:cNvSpPr/>
          <p:nvPr/>
        </p:nvSpPr>
        <p:spPr>
          <a:xfrm>
            <a:off x="4681330" y="3105835"/>
            <a:ext cx="6708914" cy="2554545"/>
          </a:xfrm>
          <a:prstGeom prst="rect">
            <a:avLst/>
          </a:prstGeom>
        </p:spPr>
        <p:txBody>
          <a:bodyPr wrap="square">
            <a:spAutoFit/>
          </a:bodyPr>
          <a:lstStyle/>
          <a:p>
            <a:r>
              <a:rPr lang="en-US" sz="3200" dirty="0">
                <a:ln w="0"/>
                <a:effectLst>
                  <a:outerShdw blurRad="38100" dist="19050" dir="2700000" algn="tl" rotWithShape="0">
                    <a:schemeClr val="dk1">
                      <a:alpha val="40000"/>
                    </a:schemeClr>
                  </a:outerShdw>
                </a:effectLst>
              </a:rPr>
              <a:t>1- lntroduction Of Project</a:t>
            </a:r>
          </a:p>
          <a:p>
            <a:r>
              <a:rPr lang="en-US" sz="3200" dirty="0">
                <a:ln w="0"/>
                <a:effectLst>
                  <a:outerShdw blurRad="38100" dist="19050" dir="2700000" algn="tl" rotWithShape="0">
                    <a:schemeClr val="dk1">
                      <a:alpha val="40000"/>
                    </a:schemeClr>
                  </a:outerShdw>
                </a:effectLst>
              </a:rPr>
              <a:t>2- User Scenarios</a:t>
            </a:r>
          </a:p>
          <a:p>
            <a:r>
              <a:rPr lang="en-US" sz="3200" dirty="0">
                <a:ln w="0"/>
                <a:effectLst>
                  <a:outerShdw blurRad="38100" dist="19050" dir="2700000" algn="tl" rotWithShape="0">
                    <a:schemeClr val="dk1">
                      <a:alpha val="40000"/>
                    </a:schemeClr>
                  </a:outerShdw>
                </a:effectLst>
              </a:rPr>
              <a:t> 3- Requirements </a:t>
            </a:r>
          </a:p>
          <a:p>
            <a:r>
              <a:rPr lang="en-US" sz="3200" dirty="0">
                <a:ln w="0"/>
                <a:effectLst>
                  <a:outerShdw blurRad="38100" dist="19050" dir="2700000" algn="tl" rotWithShape="0">
                    <a:schemeClr val="dk1">
                      <a:alpha val="40000"/>
                    </a:schemeClr>
                  </a:outerShdw>
                </a:effectLst>
              </a:rPr>
              <a:t> </a:t>
            </a:r>
            <a:r>
              <a:rPr lang="en-US" sz="3200" dirty="0"/>
              <a:t>4- Methodolog</a:t>
            </a:r>
            <a:endParaRPr lang="en-US" sz="3200" dirty="0">
              <a:ln w="0"/>
              <a:effectLst>
                <a:outerShdw blurRad="38100" dist="19050" dir="2700000" algn="tl" rotWithShape="0">
                  <a:schemeClr val="dk1">
                    <a:alpha val="40000"/>
                  </a:schemeClr>
                </a:outerShdw>
              </a:effectLst>
            </a:endParaRPr>
          </a:p>
          <a:p>
            <a:r>
              <a:rPr lang="en-US" sz="3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en-US" sz="3200" b="1"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rPr>
              <a:t>5- Diagrams</a:t>
            </a:r>
            <a:endParaRPr lang="ar-EG" sz="3200" b="1" dirty="0">
              <a:ln w="12700">
                <a:solidFill>
                  <a:schemeClr val="accent1"/>
                </a:solidFill>
                <a:prstDash val="solid"/>
              </a:ln>
              <a:solidFill>
                <a:schemeClr val="bg1"/>
              </a:solidFill>
              <a:effectLst>
                <a:outerShdw dist="38100" dir="2640000" algn="bl" rotWithShape="0">
                  <a:schemeClr val="accent1"/>
                </a:outerShdw>
              </a:effectLst>
            </a:endParaRPr>
          </a:p>
        </p:txBody>
      </p:sp>
    </p:spTree>
    <p:extLst>
      <p:ext uri="{BB962C8B-B14F-4D97-AF65-F5344CB8AC3E}">
        <p14:creationId xmlns:p14="http://schemas.microsoft.com/office/powerpoint/2010/main" val="3259305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A02A-F0E3-4B2D-9081-EB00B464FFA1}"/>
              </a:ext>
            </a:extLst>
          </p:cNvPr>
          <p:cNvSpPr>
            <a:spLocks noGrp="1"/>
          </p:cNvSpPr>
          <p:nvPr>
            <p:ph type="title"/>
          </p:nvPr>
        </p:nvSpPr>
        <p:spPr>
          <a:xfrm>
            <a:off x="-616227" y="351184"/>
            <a:ext cx="10479298" cy="1467677"/>
          </a:xfrm>
        </p:spPr>
        <p:txBody>
          <a:bodyPr/>
          <a:lstStyle/>
          <a:p>
            <a:pPr algn="ctr"/>
            <a:r>
              <a:rPr lang="en-US" b="1" i="1" u="sng"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rPr>
              <a:t>5- Diagrams</a:t>
            </a:r>
            <a:endParaRPr lang="ar-EG" b="1" i="1" u="sng"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endParaRPr>
          </a:p>
        </p:txBody>
      </p:sp>
      <p:sp>
        <p:nvSpPr>
          <p:cNvPr id="3" name="Text Placeholder 2">
            <a:extLst>
              <a:ext uri="{FF2B5EF4-FFF2-40B4-BE49-F238E27FC236}">
                <a16:creationId xmlns:a16="http://schemas.microsoft.com/office/drawing/2014/main" id="{6F2ACB67-BC94-45DF-9A18-900AEBAC9A2F}"/>
              </a:ext>
            </a:extLst>
          </p:cNvPr>
          <p:cNvSpPr>
            <a:spLocks noGrp="1"/>
          </p:cNvSpPr>
          <p:nvPr>
            <p:ph type="body" idx="1"/>
          </p:nvPr>
        </p:nvSpPr>
        <p:spPr>
          <a:xfrm>
            <a:off x="1273795" y="1783569"/>
            <a:ext cx="9644410" cy="4562061"/>
          </a:xfrm>
        </p:spPr>
        <p:txBody>
          <a:bodyPr>
            <a:normAutofit/>
          </a:bodyPr>
          <a:lstStyle/>
          <a:p>
            <a:r>
              <a:rPr lang="en-US" sz="2800" dirty="0"/>
              <a:t> </a:t>
            </a:r>
            <a:r>
              <a:rPr lang="en-US" sz="2800" b="1" dirty="0">
                <a:ln w="9525">
                  <a:solidFill>
                    <a:schemeClr val="bg1"/>
                  </a:solidFill>
                  <a:prstDash val="solid"/>
                </a:ln>
                <a:effectLst>
                  <a:outerShdw blurRad="12700" dist="38100" dir="2700000" algn="tl" rotWithShape="0">
                    <a:schemeClr val="bg1">
                      <a:lumMod val="50000"/>
                    </a:schemeClr>
                  </a:outerShdw>
                </a:effectLst>
              </a:rPr>
              <a:t>1-</a:t>
            </a:r>
            <a:r>
              <a:rPr lang="en-US" sz="2800" dirty="0"/>
              <a:t> Business Use Case Diagram</a:t>
            </a:r>
          </a:p>
          <a:p>
            <a:r>
              <a:rPr lang="en-US" b="1" dirty="0">
                <a:ln w="9525">
                  <a:solidFill>
                    <a:schemeClr val="bg1"/>
                  </a:solidFill>
                  <a:prstDash val="solid"/>
                </a:ln>
                <a:effectLst>
                  <a:outerShdw blurRad="12700" dist="38100" dir="2700000" algn="tl" rotWithShape="0">
                    <a:schemeClr val="bg1">
                      <a:lumMod val="50000"/>
                    </a:schemeClr>
                  </a:outerShdw>
                </a:effectLst>
              </a:rPr>
              <a:t> </a:t>
            </a:r>
            <a:r>
              <a:rPr lang="en-US" sz="2800" b="1" dirty="0">
                <a:ln w="9525">
                  <a:solidFill>
                    <a:schemeClr val="bg1"/>
                  </a:solidFill>
                  <a:prstDash val="solid"/>
                </a:ln>
                <a:effectLst>
                  <a:outerShdw blurRad="12700" dist="38100" dir="2700000" algn="tl" rotWithShape="0">
                    <a:schemeClr val="bg1">
                      <a:lumMod val="50000"/>
                    </a:schemeClr>
                  </a:outerShdw>
                </a:effectLst>
              </a:rPr>
              <a:t>2- </a:t>
            </a:r>
            <a:r>
              <a:rPr lang="en-US" sz="2800" dirty="0"/>
              <a:t>Use Case Diagram                </a:t>
            </a:r>
          </a:p>
          <a:p>
            <a:r>
              <a:rPr lang="en-US" dirty="0"/>
              <a:t> </a:t>
            </a:r>
            <a:r>
              <a:rPr lang="en-US" sz="2800" b="1" dirty="0">
                <a:ln w="9525">
                  <a:solidFill>
                    <a:schemeClr val="bg1"/>
                  </a:solidFill>
                  <a:prstDash val="solid"/>
                </a:ln>
                <a:effectLst>
                  <a:outerShdw blurRad="12700" dist="38100" dir="2700000" algn="tl" rotWithShape="0">
                    <a:schemeClr val="bg1">
                      <a:lumMod val="50000"/>
                    </a:schemeClr>
                  </a:outerShdw>
                </a:effectLst>
              </a:rPr>
              <a:t>3-</a:t>
            </a:r>
            <a:r>
              <a:rPr lang="en-US" sz="2800" dirty="0"/>
              <a:t> Activity Diagram </a:t>
            </a:r>
            <a:r>
              <a:rPr lang="ar-EG" sz="2800" dirty="0"/>
              <a:t>         </a:t>
            </a:r>
            <a:endParaRPr lang="en-US" sz="2800" dirty="0"/>
          </a:p>
          <a:p>
            <a:r>
              <a:rPr lang="en-US" sz="2800" b="1" dirty="0">
                <a:ln w="9525">
                  <a:solidFill>
                    <a:schemeClr val="bg1"/>
                  </a:solidFill>
                  <a:prstDash val="solid"/>
                </a:ln>
                <a:effectLst>
                  <a:outerShdw blurRad="12700" dist="38100" dir="2700000" algn="tl" rotWithShape="0">
                    <a:schemeClr val="bg1">
                      <a:lumMod val="50000"/>
                    </a:schemeClr>
                  </a:outerShdw>
                </a:effectLst>
              </a:rPr>
              <a:t>4-</a:t>
            </a:r>
            <a:r>
              <a:rPr lang="en-US" sz="2800" dirty="0"/>
              <a:t> Statechart Diagram</a:t>
            </a:r>
          </a:p>
          <a:p>
            <a:r>
              <a:rPr lang="en-US" dirty="0"/>
              <a:t> </a:t>
            </a:r>
            <a:r>
              <a:rPr lang="en-US" sz="2800" b="1" dirty="0">
                <a:ln w="9525">
                  <a:solidFill>
                    <a:schemeClr val="bg1"/>
                  </a:solidFill>
                  <a:prstDash val="solid"/>
                </a:ln>
                <a:effectLst>
                  <a:outerShdw blurRad="12700" dist="38100" dir="2700000" algn="tl" rotWithShape="0">
                    <a:schemeClr val="bg1">
                      <a:lumMod val="50000"/>
                    </a:schemeClr>
                  </a:outerShdw>
                </a:effectLst>
              </a:rPr>
              <a:t>5-</a:t>
            </a:r>
            <a:r>
              <a:rPr lang="en-US" sz="2800" dirty="0"/>
              <a:t> class Diagram</a:t>
            </a:r>
          </a:p>
          <a:p>
            <a:r>
              <a:rPr lang="en-US" dirty="0"/>
              <a:t> </a:t>
            </a:r>
            <a:r>
              <a:rPr lang="en-US" sz="2800" b="1" dirty="0">
                <a:ln w="9525">
                  <a:solidFill>
                    <a:schemeClr val="bg1"/>
                  </a:solidFill>
                  <a:prstDash val="solid"/>
                </a:ln>
                <a:effectLst>
                  <a:outerShdw blurRad="12700" dist="38100" dir="2700000" algn="tl" rotWithShape="0">
                    <a:schemeClr val="bg1">
                      <a:lumMod val="50000"/>
                    </a:schemeClr>
                  </a:outerShdw>
                </a:effectLst>
              </a:rPr>
              <a:t>6- </a:t>
            </a:r>
            <a:r>
              <a:rPr lang="en-US" sz="2800" dirty="0"/>
              <a:t>Sequence Diagram </a:t>
            </a:r>
          </a:p>
          <a:p>
            <a:r>
              <a:rPr lang="en-US" sz="2800" b="1" dirty="0">
                <a:ln w="9525">
                  <a:solidFill>
                    <a:schemeClr val="bg1"/>
                  </a:solidFill>
                  <a:prstDash val="solid"/>
                </a:ln>
                <a:effectLst>
                  <a:outerShdw blurRad="12700" dist="38100" dir="2700000" algn="tl" rotWithShape="0">
                    <a:schemeClr val="bg1">
                      <a:lumMod val="50000"/>
                    </a:schemeClr>
                  </a:outerShdw>
                </a:effectLst>
              </a:rPr>
              <a:t>7-</a:t>
            </a:r>
            <a:r>
              <a:rPr lang="en-US" sz="2800" dirty="0"/>
              <a:t>  Deployment Diagram </a:t>
            </a:r>
          </a:p>
          <a:p>
            <a:r>
              <a:rPr lang="en-US" sz="2800" b="1" dirty="0">
                <a:ln w="9525">
                  <a:solidFill>
                    <a:schemeClr val="bg1"/>
                  </a:solidFill>
                  <a:prstDash val="solid"/>
                </a:ln>
                <a:effectLst>
                  <a:outerShdw blurRad="12700" dist="38100" dir="2700000" algn="tl" rotWithShape="0">
                    <a:schemeClr val="bg1">
                      <a:lumMod val="50000"/>
                    </a:schemeClr>
                  </a:outerShdw>
                </a:effectLst>
              </a:rPr>
              <a:t>8-</a:t>
            </a:r>
            <a:r>
              <a:rPr lang="en-US" sz="2800" dirty="0"/>
              <a:t> Component Diagram</a:t>
            </a:r>
            <a:endParaRPr lang="ar-EG" sz="2800" dirty="0"/>
          </a:p>
        </p:txBody>
      </p:sp>
    </p:spTree>
    <p:extLst>
      <p:ext uri="{BB962C8B-B14F-4D97-AF65-F5344CB8AC3E}">
        <p14:creationId xmlns:p14="http://schemas.microsoft.com/office/powerpoint/2010/main" val="316602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1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1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0DA6C-18D3-4BD5-965E-78C1B6A2A42F}"/>
              </a:ext>
            </a:extLst>
          </p:cNvPr>
          <p:cNvSpPr>
            <a:spLocks noGrp="1"/>
          </p:cNvSpPr>
          <p:nvPr>
            <p:ph type="title"/>
          </p:nvPr>
        </p:nvSpPr>
        <p:spPr/>
        <p:txBody>
          <a:bodyPr/>
          <a:lstStyle/>
          <a:p>
            <a:r>
              <a:rPr lang="en-US" b="1" i="1" u="sng"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1- BUSINESS USE CASE DIAGRAM</a:t>
            </a:r>
            <a:br>
              <a:rPr lang="en-US" dirty="0"/>
            </a:br>
            <a:endParaRPr lang="ar-EG" dirty="0"/>
          </a:p>
        </p:txBody>
      </p:sp>
      <p:pic>
        <p:nvPicPr>
          <p:cNvPr id="5" name="Content Placeholder 4">
            <a:extLst>
              <a:ext uri="{FF2B5EF4-FFF2-40B4-BE49-F238E27FC236}">
                <a16:creationId xmlns:a16="http://schemas.microsoft.com/office/drawing/2014/main" id="{38DC5E5E-D12D-46E7-9B83-D2377DF35A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4774" y="1689652"/>
            <a:ext cx="7166113" cy="4711147"/>
          </a:xfrm>
          <a:prstGeom prst="roundRect">
            <a:avLst>
              <a:gd name="adj" fmla="val 8594"/>
            </a:avLst>
          </a:prstGeom>
          <a:solidFill>
            <a:srgbClr val="FFFFFF">
              <a:shade val="85000"/>
            </a:srgbClr>
          </a:solidFill>
          <a:ln>
            <a:solidFill>
              <a:schemeClr val="bg1"/>
            </a:solidFill>
          </a:ln>
          <a:effectLst>
            <a:reflection blurRad="12700" stA="38000" endPos="28000" dist="5000" dir="5400000" sy="-100000" algn="bl" rotWithShape="0"/>
          </a:effectLst>
        </p:spPr>
      </p:pic>
    </p:spTree>
    <p:extLst>
      <p:ext uri="{BB962C8B-B14F-4D97-AF65-F5344CB8AC3E}">
        <p14:creationId xmlns:p14="http://schemas.microsoft.com/office/powerpoint/2010/main" val="290579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8CDBA-D0E5-4B8A-A6EA-DD14B3A7F894}"/>
              </a:ext>
            </a:extLst>
          </p:cNvPr>
          <p:cNvSpPr>
            <a:spLocks noGrp="1"/>
          </p:cNvSpPr>
          <p:nvPr>
            <p:ph type="title"/>
          </p:nvPr>
        </p:nvSpPr>
        <p:spPr>
          <a:xfrm>
            <a:off x="178905" y="609602"/>
            <a:ext cx="10638324" cy="801756"/>
          </a:xfrm>
        </p:spPr>
        <p:txBody>
          <a:bodyPr/>
          <a:lstStyle/>
          <a:p>
            <a:r>
              <a:rPr lang="en-US" b="1" i="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1- BUSINESS USE CASE DIAGRAM</a:t>
            </a:r>
            <a:endParaRPr lang="en-US" dirty="0"/>
          </a:p>
        </p:txBody>
      </p:sp>
      <p:sp>
        <p:nvSpPr>
          <p:cNvPr id="3" name="Text Placeholder 2">
            <a:extLst>
              <a:ext uri="{FF2B5EF4-FFF2-40B4-BE49-F238E27FC236}">
                <a16:creationId xmlns:a16="http://schemas.microsoft.com/office/drawing/2014/main" id="{600886DA-FF7D-4891-A2A6-100BBD6785F7}"/>
              </a:ext>
            </a:extLst>
          </p:cNvPr>
          <p:cNvSpPr>
            <a:spLocks noGrp="1"/>
          </p:cNvSpPr>
          <p:nvPr>
            <p:ph type="body" idx="1"/>
          </p:nvPr>
        </p:nvSpPr>
        <p:spPr>
          <a:xfrm>
            <a:off x="89452" y="1411357"/>
            <a:ext cx="10727776" cy="5516217"/>
          </a:xfrm>
        </p:spPr>
        <p:txBody>
          <a:bodyPr>
            <a:normAutofit fontScale="92500" lnSpcReduction="10000"/>
          </a:bodyPr>
          <a:lstStyle/>
          <a:p>
            <a:r>
              <a:rPr lang="en-US" dirty="0"/>
              <a:t>This  diagram illustrates the interactions between various actors (users) and the system within a mobile registration materials application. </a:t>
            </a:r>
          </a:p>
          <a:p>
            <a:r>
              <a:rPr lang="en-US" b="1" dirty="0">
                <a:ln w="9525">
                  <a:solidFill>
                    <a:schemeClr val="bg1"/>
                  </a:solidFill>
                  <a:prstDash val="solid"/>
                </a:ln>
                <a:effectLst>
                  <a:outerShdw blurRad="12700" dist="38100" dir="2700000" algn="tl" rotWithShape="0">
                    <a:schemeClr val="bg1">
                      <a:lumMod val="50000"/>
                    </a:schemeClr>
                  </a:outerShdw>
                </a:effectLst>
              </a:rPr>
              <a:t>1-</a:t>
            </a:r>
            <a:r>
              <a:rPr lang="en-US" dirty="0"/>
              <a:t> Admin: Can log in to the system. Can view and manage materials. Can check materials.  Can view and send reports.</a:t>
            </a:r>
          </a:p>
          <a:p>
            <a:r>
              <a:rPr lang="en-US" b="1" dirty="0">
                <a:ln w="9525">
                  <a:solidFill>
                    <a:schemeClr val="bg1"/>
                  </a:solidFill>
                  <a:prstDash val="solid"/>
                </a:ln>
                <a:effectLst>
                  <a:outerShdw blurRad="12700" dist="38100" dir="2700000" algn="tl" rotWithShape="0">
                    <a:schemeClr val="bg1">
                      <a:lumMod val="50000"/>
                    </a:schemeClr>
                  </a:outerShdw>
                </a:effectLst>
              </a:rPr>
              <a:t>2- </a:t>
            </a:r>
            <a:r>
              <a:rPr lang="en-US" dirty="0"/>
              <a:t>Student: Can register materials. Can check materials. Can pay expenses </a:t>
            </a:r>
          </a:p>
          <a:p>
            <a:r>
              <a:rPr lang="en-US" b="1" dirty="0">
                <a:ln w="9525">
                  <a:solidFill>
                    <a:schemeClr val="bg1"/>
                  </a:solidFill>
                  <a:prstDash val="solid"/>
                </a:ln>
                <a:effectLst>
                  <a:outerShdw blurRad="12700" dist="38100" dir="2700000" algn="tl" rotWithShape="0">
                    <a:schemeClr val="bg1">
                      <a:lumMod val="50000"/>
                    </a:schemeClr>
                  </a:outerShdw>
                </a:effectLst>
              </a:rPr>
              <a:t>3-</a:t>
            </a:r>
            <a:r>
              <a:rPr lang="en-US" dirty="0"/>
              <a:t> Supervisor:  Can register materials. Can manage materials. Can view and send reports.  </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Login:  Authenticates users and grants access to the system. </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View Materials: Displays available materials to users.</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Register Materials: Allows users to add new materials to the system.</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Check Materials: Enables users to verify the availability and details of materials.</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Pay Expenses: Facilitates payment for expenses related to materials.</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Manage Materials: Provides admins with the ability to modify and update materials.</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View Reports: Displays reports on material usage, expenses, and other relevant information.</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Send Reports: Allows users to generate and share reports.</a:t>
            </a:r>
          </a:p>
        </p:txBody>
      </p:sp>
    </p:spTree>
    <p:extLst>
      <p:ext uri="{BB962C8B-B14F-4D97-AF65-F5344CB8AC3E}">
        <p14:creationId xmlns:p14="http://schemas.microsoft.com/office/powerpoint/2010/main" val="366298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1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1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10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circle(in)">
                                      <p:cBhvr>
                                        <p:cTn id="52" dur="10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circle(in)">
                                      <p:cBhvr>
                                        <p:cTn id="57" dur="10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circle(in)">
                                      <p:cBhvr>
                                        <p:cTn id="62" dur="10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circle(in)">
                                      <p:cBhvr>
                                        <p:cTn id="67" dur="1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2FA1C-64E8-404E-88E6-6B3B1E832CFF}"/>
              </a:ext>
            </a:extLst>
          </p:cNvPr>
          <p:cNvSpPr>
            <a:spLocks noGrp="1"/>
          </p:cNvSpPr>
          <p:nvPr>
            <p:ph type="title"/>
          </p:nvPr>
        </p:nvSpPr>
        <p:spPr/>
        <p:txBody>
          <a:bodyPr/>
          <a:lstStyle/>
          <a:p>
            <a:r>
              <a:rPr lang="en-US" b="1" i="1" u="sng"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2- USE CASE DIAGRAM</a:t>
            </a:r>
            <a:endParaRPr lang="ar-EG" b="1" i="1" u="sng"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pic>
        <p:nvPicPr>
          <p:cNvPr id="6" name="Content Placeholder 5">
            <a:extLst>
              <a:ext uri="{FF2B5EF4-FFF2-40B4-BE49-F238E27FC236}">
                <a16:creationId xmlns:a16="http://schemas.microsoft.com/office/drawing/2014/main" id="{A80F72E8-F6DD-4CBD-838A-36212CCEA8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0992" y="1749287"/>
            <a:ext cx="7593496" cy="4760843"/>
          </a:xfrm>
          <a:prstGeom prst="roundRect">
            <a:avLst>
              <a:gd name="adj" fmla="val 8594"/>
            </a:avLst>
          </a:prstGeom>
          <a:solidFill>
            <a:srgbClr val="FFFFFF">
              <a:shade val="85000"/>
            </a:srgbClr>
          </a:solidFill>
          <a:ln>
            <a:solidFill>
              <a:schemeClr val="bg1"/>
            </a:solidFill>
          </a:ln>
          <a:effectLst>
            <a:reflection blurRad="12700" stA="38000" endPos="28000" dist="5000" dir="5400000" sy="-100000" algn="bl" rotWithShape="0"/>
          </a:effectLst>
        </p:spPr>
      </p:pic>
    </p:spTree>
    <p:extLst>
      <p:ext uri="{BB962C8B-B14F-4D97-AF65-F5344CB8AC3E}">
        <p14:creationId xmlns:p14="http://schemas.microsoft.com/office/powerpoint/2010/main" val="2333458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36C7-D98E-41B7-AB27-CCB78A7F0D0E}"/>
              </a:ext>
            </a:extLst>
          </p:cNvPr>
          <p:cNvSpPr>
            <a:spLocks noGrp="1"/>
          </p:cNvSpPr>
          <p:nvPr>
            <p:ph type="title"/>
          </p:nvPr>
        </p:nvSpPr>
        <p:spPr>
          <a:xfrm>
            <a:off x="258417" y="609601"/>
            <a:ext cx="10558811" cy="761999"/>
          </a:xfrm>
        </p:spPr>
        <p:txBody>
          <a:bodyPr/>
          <a:lstStyle/>
          <a:p>
            <a:r>
              <a:rPr lang="en-US" b="1" i="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2- USE CASE DIAGRAM</a:t>
            </a:r>
            <a:endParaRPr lang="en-US" dirty="0"/>
          </a:p>
        </p:txBody>
      </p:sp>
      <p:sp>
        <p:nvSpPr>
          <p:cNvPr id="3" name="Text Placeholder 2">
            <a:extLst>
              <a:ext uri="{FF2B5EF4-FFF2-40B4-BE49-F238E27FC236}">
                <a16:creationId xmlns:a16="http://schemas.microsoft.com/office/drawing/2014/main" id="{1BC4BD08-0226-4E3A-B6D8-8E79ADF5CC86}"/>
              </a:ext>
            </a:extLst>
          </p:cNvPr>
          <p:cNvSpPr>
            <a:spLocks noGrp="1"/>
          </p:cNvSpPr>
          <p:nvPr>
            <p:ph type="body" idx="1"/>
          </p:nvPr>
        </p:nvSpPr>
        <p:spPr>
          <a:xfrm>
            <a:off x="258417" y="1371600"/>
            <a:ext cx="10558811" cy="4790661"/>
          </a:xfrm>
        </p:spPr>
        <p:txBody>
          <a:bodyPr>
            <a:normAutofit/>
          </a:bodyPr>
          <a:lstStyle/>
          <a:p>
            <a:r>
              <a:rPr lang="en-US" dirty="0"/>
              <a:t>This use case diagram illustrates the various interactions involved in a student's registration process for materials on a mobile platform. </a:t>
            </a:r>
          </a:p>
          <a:p>
            <a:r>
              <a:rPr lang="en-US" dirty="0"/>
              <a:t>The diagram includes the following use cases:</a:t>
            </a:r>
          </a:p>
          <a:p>
            <a:r>
              <a:rPr lang="en-US" b="1" dirty="0">
                <a:ln w="9525">
                  <a:solidFill>
                    <a:schemeClr val="bg1"/>
                  </a:solidFill>
                  <a:prstDash val="solid"/>
                </a:ln>
                <a:effectLst>
                  <a:outerShdw blurRad="12700" dist="38100" dir="2700000" algn="tl" rotWithShape="0">
                    <a:schemeClr val="bg1">
                      <a:lumMod val="50000"/>
                    </a:schemeClr>
                  </a:outerShdw>
                </a:effectLst>
              </a:rPr>
              <a:t>1-</a:t>
            </a:r>
            <a:r>
              <a:rPr lang="en-US" dirty="0"/>
              <a:t> Login: The student initiates the process by logging into the system.</a:t>
            </a:r>
          </a:p>
          <a:p>
            <a:r>
              <a:rPr lang="en-US" b="1" dirty="0">
                <a:ln w="9525">
                  <a:solidFill>
                    <a:schemeClr val="bg1"/>
                  </a:solidFill>
                  <a:prstDash val="solid"/>
                </a:ln>
                <a:effectLst>
                  <a:outerShdw blurRad="12700" dist="38100" dir="2700000" algn="tl" rotWithShape="0">
                    <a:schemeClr val="bg1">
                      <a:lumMod val="50000"/>
                    </a:schemeClr>
                  </a:outerShdw>
                </a:effectLst>
              </a:rPr>
              <a:t>2-</a:t>
            </a:r>
            <a:r>
              <a:rPr lang="en-US" dirty="0"/>
              <a:t> Check Info: The student verifies their personal information.</a:t>
            </a:r>
          </a:p>
          <a:p>
            <a:r>
              <a:rPr lang="en-US" b="1" dirty="0">
                <a:ln w="9525">
                  <a:solidFill>
                    <a:schemeClr val="bg1"/>
                  </a:solidFill>
                  <a:prstDash val="solid"/>
                </a:ln>
                <a:effectLst>
                  <a:outerShdw blurRad="12700" dist="38100" dir="2700000" algn="tl" rotWithShape="0">
                    <a:schemeClr val="bg1">
                      <a:lumMod val="50000"/>
                    </a:schemeClr>
                  </a:outerShdw>
                </a:effectLst>
              </a:rPr>
              <a:t>3-</a:t>
            </a:r>
            <a:r>
              <a:rPr lang="en-US" dirty="0"/>
              <a:t> View Materials: The student browses available materials for registration.</a:t>
            </a:r>
          </a:p>
          <a:p>
            <a:r>
              <a:rPr lang="en-US" b="1" dirty="0">
                <a:ln w="9525">
                  <a:solidFill>
                    <a:schemeClr val="bg1"/>
                  </a:solidFill>
                  <a:prstDash val="solid"/>
                </a:ln>
                <a:effectLst>
                  <a:outerShdw blurRad="12700" dist="38100" dir="2700000" algn="tl" rotWithShape="0">
                    <a:schemeClr val="bg1">
                      <a:lumMod val="50000"/>
                    </a:schemeClr>
                  </a:outerShdw>
                </a:effectLst>
              </a:rPr>
              <a:t>4-</a:t>
            </a:r>
            <a:r>
              <a:rPr lang="en-US" dirty="0"/>
              <a:t> Select or Register Materials: The student chooses the materials they wish to register for.</a:t>
            </a:r>
          </a:p>
          <a:p>
            <a:r>
              <a:rPr lang="en-US" b="1" dirty="0">
                <a:ln w="9525">
                  <a:solidFill>
                    <a:schemeClr val="bg1"/>
                  </a:solidFill>
                  <a:prstDash val="solid"/>
                </a:ln>
                <a:effectLst>
                  <a:outerShdw blurRad="12700" dist="38100" dir="2700000" algn="tl" rotWithShape="0">
                    <a:schemeClr val="bg1">
                      <a:lumMod val="50000"/>
                    </a:schemeClr>
                  </a:outerShdw>
                </a:effectLst>
              </a:rPr>
              <a:t>5-</a:t>
            </a:r>
            <a:r>
              <a:rPr lang="en-US" dirty="0"/>
              <a:t> Pay the Expenses: The student completes the payment process for the selected materials.</a:t>
            </a:r>
          </a:p>
          <a:p>
            <a:r>
              <a:rPr lang="en-US" b="1" dirty="0">
                <a:ln w="9525">
                  <a:solidFill>
                    <a:schemeClr val="bg1"/>
                  </a:solidFill>
                  <a:prstDash val="solid"/>
                </a:ln>
                <a:effectLst>
                  <a:outerShdw blurRad="12700" dist="38100" dir="2700000" algn="tl" rotWithShape="0">
                    <a:schemeClr val="bg1">
                      <a:lumMod val="50000"/>
                    </a:schemeClr>
                  </a:outerShdw>
                </a:effectLst>
              </a:rPr>
              <a:t>6-</a:t>
            </a:r>
            <a:r>
              <a:rPr lang="en-US" dirty="0"/>
              <a:t> Check Materials: The student can review the status of their registered materials.</a:t>
            </a:r>
          </a:p>
        </p:txBody>
      </p:sp>
    </p:spTree>
    <p:extLst>
      <p:ext uri="{BB962C8B-B14F-4D97-AF65-F5344CB8AC3E}">
        <p14:creationId xmlns:p14="http://schemas.microsoft.com/office/powerpoint/2010/main" val="6389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1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1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6B3F7-7D48-4C7E-BA40-D93006C6B1EB}"/>
              </a:ext>
            </a:extLst>
          </p:cNvPr>
          <p:cNvSpPr>
            <a:spLocks noGrp="1"/>
          </p:cNvSpPr>
          <p:nvPr>
            <p:ph type="title"/>
          </p:nvPr>
        </p:nvSpPr>
        <p:spPr>
          <a:xfrm>
            <a:off x="685801" y="609600"/>
            <a:ext cx="4641573" cy="1214099"/>
          </a:xfrm>
        </p:spPr>
        <p:txBody>
          <a:bodyPr/>
          <a:lstStyle/>
          <a:p>
            <a:r>
              <a:rPr lang="en-US" b="1" i="1" u="sng"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3- ACTIVITY DIAGRAM </a:t>
            </a:r>
            <a:endParaRPr lang="ar-EG" b="1" i="1" u="sng"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7" name="TextBox 6">
            <a:extLst>
              <a:ext uri="{FF2B5EF4-FFF2-40B4-BE49-F238E27FC236}">
                <a16:creationId xmlns:a16="http://schemas.microsoft.com/office/drawing/2014/main" id="{E5D9743B-B431-4F34-B71B-1D19C096AFBB}"/>
              </a:ext>
            </a:extLst>
          </p:cNvPr>
          <p:cNvSpPr txBox="1"/>
          <p:nvPr/>
        </p:nvSpPr>
        <p:spPr>
          <a:xfrm flipH="1">
            <a:off x="6655242" y="1063487"/>
            <a:ext cx="1474968" cy="369332"/>
          </a:xfrm>
          <a:prstGeom prst="rect">
            <a:avLst/>
          </a:prstGeom>
          <a:noFill/>
        </p:spPr>
        <p:txBody>
          <a:bodyPr wrap="square" rtlCol="0">
            <a:spAutoFit/>
          </a:bodyPr>
          <a:lstStyle/>
          <a:p>
            <a:r>
              <a:rPr lang="en-US" dirty="0"/>
              <a:t>(Student)</a:t>
            </a:r>
          </a:p>
        </p:txBody>
      </p:sp>
      <p:pic>
        <p:nvPicPr>
          <p:cNvPr id="5" name="Content Placeholder 4">
            <a:extLst>
              <a:ext uri="{FF2B5EF4-FFF2-40B4-BE49-F238E27FC236}">
                <a16:creationId xmlns:a16="http://schemas.microsoft.com/office/drawing/2014/main" id="{808C7362-82F0-4B1E-8870-398B079492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4339" y="1898374"/>
            <a:ext cx="7941366" cy="4760843"/>
          </a:xfrm>
          <a:prstGeom prst="roundRect">
            <a:avLst>
              <a:gd name="adj" fmla="val 8594"/>
            </a:avLst>
          </a:prstGeom>
          <a:solidFill>
            <a:srgbClr val="FFFFFF">
              <a:shade val="85000"/>
            </a:srgbClr>
          </a:solidFill>
          <a:ln>
            <a:solidFill>
              <a:schemeClr val="bg1"/>
            </a:solidFill>
          </a:ln>
          <a:effectLst>
            <a:reflection blurRad="12700" stA="38000" endPos="28000" dist="5000" dir="5400000" sy="-100000" algn="bl" rotWithShape="0"/>
          </a:effectLst>
        </p:spPr>
      </p:pic>
    </p:spTree>
    <p:extLst>
      <p:ext uri="{BB962C8B-B14F-4D97-AF65-F5344CB8AC3E}">
        <p14:creationId xmlns:p14="http://schemas.microsoft.com/office/powerpoint/2010/main" val="1911166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circle(in)">
                                      <p:cBhvr>
                                        <p:cTn id="1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F9C5C-C65B-4437-B3E8-A443BF100F8E}"/>
              </a:ext>
            </a:extLst>
          </p:cNvPr>
          <p:cNvSpPr>
            <a:spLocks noGrp="1"/>
          </p:cNvSpPr>
          <p:nvPr>
            <p:ph type="title"/>
          </p:nvPr>
        </p:nvSpPr>
        <p:spPr>
          <a:xfrm>
            <a:off x="268357" y="178906"/>
            <a:ext cx="10548871" cy="1779106"/>
          </a:xfrm>
        </p:spPr>
        <p:txBody>
          <a:bodyPr/>
          <a:lstStyle/>
          <a:p>
            <a:r>
              <a:rPr lang="en-US" b="1" i="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3- ACTIVITY DIAGRAM </a:t>
            </a:r>
            <a:endParaRPr lang="en-US" dirty="0"/>
          </a:p>
        </p:txBody>
      </p:sp>
      <p:sp>
        <p:nvSpPr>
          <p:cNvPr id="3" name="Text Placeholder 2">
            <a:extLst>
              <a:ext uri="{FF2B5EF4-FFF2-40B4-BE49-F238E27FC236}">
                <a16:creationId xmlns:a16="http://schemas.microsoft.com/office/drawing/2014/main" id="{54DB7338-D422-4D3D-B577-263A7C768A14}"/>
              </a:ext>
            </a:extLst>
          </p:cNvPr>
          <p:cNvSpPr>
            <a:spLocks noGrp="1"/>
          </p:cNvSpPr>
          <p:nvPr>
            <p:ph type="body" idx="1"/>
          </p:nvPr>
        </p:nvSpPr>
        <p:spPr>
          <a:xfrm>
            <a:off x="129209" y="1480930"/>
            <a:ext cx="10688019" cy="4909931"/>
          </a:xfrm>
        </p:spPr>
        <p:txBody>
          <a:bodyPr>
            <a:normAutofit/>
          </a:bodyPr>
          <a:lstStyle/>
          <a:p>
            <a:r>
              <a:rPr lang="en-US" dirty="0"/>
              <a:t>This activity diagram models the registration and login process for accessing and managing materials.</a:t>
            </a:r>
          </a:p>
          <a:p>
            <a:r>
              <a:rPr lang="en-US" dirty="0"/>
              <a:t> </a:t>
            </a:r>
            <a:r>
              <a:rPr lang="en-US" b="1" dirty="0">
                <a:ln w="9525">
                  <a:solidFill>
                    <a:schemeClr val="bg1"/>
                  </a:solidFill>
                  <a:prstDash val="solid"/>
                </a:ln>
                <a:effectLst>
                  <a:outerShdw blurRad="12700" dist="38100" dir="2700000" algn="tl" rotWithShape="0">
                    <a:schemeClr val="bg1">
                      <a:lumMod val="50000"/>
                    </a:schemeClr>
                  </a:outerShdw>
                </a:effectLst>
              </a:rPr>
              <a:t>1-</a:t>
            </a:r>
            <a:r>
              <a:rPr lang="en-US" dirty="0"/>
              <a:t> Login: Users start by logging into the system. </a:t>
            </a:r>
          </a:p>
          <a:p>
            <a:r>
              <a:rPr lang="en-US" b="1" dirty="0">
                <a:ln w="9525">
                  <a:solidFill>
                    <a:schemeClr val="bg1"/>
                  </a:solidFill>
                  <a:prstDash val="solid"/>
                </a:ln>
                <a:effectLst>
                  <a:outerShdw blurRad="12700" dist="38100" dir="2700000" algn="tl" rotWithShape="0">
                    <a:schemeClr val="bg1">
                      <a:lumMod val="50000"/>
                    </a:schemeClr>
                  </a:outerShdw>
                </a:effectLst>
              </a:rPr>
              <a:t>2-</a:t>
            </a:r>
            <a:r>
              <a:rPr lang="en-US" dirty="0"/>
              <a:t> Verify Information: If registering, the system verifies the provided information. </a:t>
            </a:r>
          </a:p>
          <a:p>
            <a:r>
              <a:rPr lang="en-US" b="1" dirty="0">
                <a:ln w="9525">
                  <a:solidFill>
                    <a:schemeClr val="bg1"/>
                  </a:solidFill>
                  <a:prstDash val="solid"/>
                </a:ln>
                <a:effectLst>
                  <a:outerShdw blurRad="12700" dist="38100" dir="2700000" algn="tl" rotWithShape="0">
                    <a:schemeClr val="bg1">
                      <a:lumMod val="50000"/>
                    </a:schemeClr>
                  </a:outerShdw>
                </a:effectLst>
              </a:rPr>
              <a:t>3- </a:t>
            </a:r>
            <a:r>
              <a:rPr lang="en-US" dirty="0"/>
              <a:t>Validation: The system validates the user's credentials or registration details. </a:t>
            </a:r>
          </a:p>
          <a:p>
            <a:r>
              <a:rPr lang="en-US" b="1" dirty="0">
                <a:ln w="9525">
                  <a:solidFill>
                    <a:schemeClr val="bg1"/>
                  </a:solidFill>
                  <a:prstDash val="solid"/>
                </a:ln>
                <a:effectLst>
                  <a:outerShdw blurRad="12700" dist="38100" dir="2700000" algn="tl" rotWithShape="0">
                    <a:schemeClr val="bg1">
                      <a:lumMod val="50000"/>
                    </a:schemeClr>
                  </a:outerShdw>
                </a:effectLst>
              </a:rPr>
              <a:t>4-</a:t>
            </a:r>
            <a:r>
              <a:rPr lang="en-US" dirty="0"/>
              <a:t> View Materials (Unregistered): If the user is not registered, they can view materials but cannot access or manage them. </a:t>
            </a:r>
          </a:p>
          <a:p>
            <a:r>
              <a:rPr lang="en-US" b="1" dirty="0">
                <a:ln w="9525">
                  <a:solidFill>
                    <a:schemeClr val="bg1"/>
                  </a:solidFill>
                  <a:prstDash val="solid"/>
                </a:ln>
                <a:effectLst>
                  <a:outerShdw blurRad="12700" dist="38100" dir="2700000" algn="tl" rotWithShape="0">
                    <a:schemeClr val="bg1">
                      <a:lumMod val="50000"/>
                    </a:schemeClr>
                  </a:outerShdw>
                </a:effectLst>
              </a:rPr>
              <a:t>5-</a:t>
            </a:r>
            <a:r>
              <a:rPr lang="en-US" dirty="0"/>
              <a:t> Register Materials: If the user is registered, they can register materials. </a:t>
            </a:r>
          </a:p>
          <a:p>
            <a:r>
              <a:rPr lang="en-US" b="1" dirty="0">
                <a:ln w="9525">
                  <a:solidFill>
                    <a:schemeClr val="bg1"/>
                  </a:solidFill>
                  <a:prstDash val="solid"/>
                </a:ln>
                <a:effectLst>
                  <a:outerShdw blurRad="12700" dist="38100" dir="2700000" algn="tl" rotWithShape="0">
                    <a:schemeClr val="bg1">
                      <a:lumMod val="50000"/>
                    </a:schemeClr>
                  </a:outerShdw>
                </a:effectLst>
              </a:rPr>
              <a:t>6-</a:t>
            </a:r>
            <a:r>
              <a:rPr lang="en-US" dirty="0"/>
              <a:t> Confirm Register: The system confirms the registration of materials. </a:t>
            </a:r>
          </a:p>
          <a:p>
            <a:r>
              <a:rPr lang="en-US" b="1" dirty="0">
                <a:ln w="9525">
                  <a:solidFill>
                    <a:schemeClr val="bg1"/>
                  </a:solidFill>
                  <a:prstDash val="solid"/>
                </a:ln>
                <a:effectLst>
                  <a:outerShdw blurRad="12700" dist="38100" dir="2700000" algn="tl" rotWithShape="0">
                    <a:schemeClr val="bg1">
                      <a:lumMod val="50000"/>
                    </a:schemeClr>
                  </a:outerShdw>
                </a:effectLst>
              </a:rPr>
              <a:t>7-</a:t>
            </a:r>
            <a:r>
              <a:rPr lang="en-US" dirty="0"/>
              <a:t> Pay Expenses: If the registration is successful, the user may need to pay associated expenses.</a:t>
            </a:r>
          </a:p>
        </p:txBody>
      </p:sp>
    </p:spTree>
    <p:extLst>
      <p:ext uri="{BB962C8B-B14F-4D97-AF65-F5344CB8AC3E}">
        <p14:creationId xmlns:p14="http://schemas.microsoft.com/office/powerpoint/2010/main" val="1337975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1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1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0F8CD-FEB6-4EA3-A51D-EA281B2BDD91}"/>
              </a:ext>
            </a:extLst>
          </p:cNvPr>
          <p:cNvSpPr>
            <a:spLocks noGrp="1"/>
          </p:cNvSpPr>
          <p:nvPr>
            <p:ph type="title"/>
          </p:nvPr>
        </p:nvSpPr>
        <p:spPr/>
        <p:txBody>
          <a:bodyPr/>
          <a:lstStyle/>
          <a:p>
            <a:r>
              <a:rPr lang="en-US" b="1" i="1" u="sng"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3- ACTIVITY DIAGRAM</a:t>
            </a:r>
            <a:endParaRPr lang="en-US" dirty="0"/>
          </a:p>
        </p:txBody>
      </p:sp>
      <p:pic>
        <p:nvPicPr>
          <p:cNvPr id="5" name="Content Placeholder 4">
            <a:extLst>
              <a:ext uri="{FF2B5EF4-FFF2-40B4-BE49-F238E27FC236}">
                <a16:creationId xmlns:a16="http://schemas.microsoft.com/office/drawing/2014/main" id="{07B8DD22-949D-41CE-9BFB-572AA07B05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2087" y="1868557"/>
            <a:ext cx="8517835" cy="4651513"/>
          </a:xfrm>
          <a:prstGeom prst="roundRect">
            <a:avLst>
              <a:gd name="adj" fmla="val 8594"/>
            </a:avLst>
          </a:prstGeom>
          <a:solidFill>
            <a:srgbClr val="FFFFFF">
              <a:shade val="85000"/>
            </a:srgbClr>
          </a:solidFill>
          <a:ln>
            <a:solidFill>
              <a:schemeClr val="bg1"/>
            </a:solidFill>
          </a:ln>
          <a:effectLst>
            <a:reflection blurRad="12700" stA="38000" endPos="28000" dist="5000" dir="5400000" sy="-100000" algn="bl" rotWithShape="0"/>
          </a:effectLst>
        </p:spPr>
      </p:pic>
      <p:sp>
        <p:nvSpPr>
          <p:cNvPr id="6" name="TextBox 5">
            <a:extLst>
              <a:ext uri="{FF2B5EF4-FFF2-40B4-BE49-F238E27FC236}">
                <a16:creationId xmlns:a16="http://schemas.microsoft.com/office/drawing/2014/main" id="{C0A406F0-2014-41EC-9110-B9CAFD52204A}"/>
              </a:ext>
            </a:extLst>
          </p:cNvPr>
          <p:cNvSpPr txBox="1"/>
          <p:nvPr/>
        </p:nvSpPr>
        <p:spPr>
          <a:xfrm>
            <a:off x="7185991" y="1153067"/>
            <a:ext cx="1451113" cy="369332"/>
          </a:xfrm>
          <a:prstGeom prst="rect">
            <a:avLst/>
          </a:prstGeom>
          <a:noFill/>
        </p:spPr>
        <p:txBody>
          <a:bodyPr wrap="square" rtlCol="0">
            <a:spAutoFit/>
          </a:bodyPr>
          <a:lstStyle/>
          <a:p>
            <a:r>
              <a:rPr lang="en-US" dirty="0"/>
              <a:t>(Supervisor)</a:t>
            </a:r>
          </a:p>
        </p:txBody>
      </p:sp>
    </p:spTree>
    <p:extLst>
      <p:ext uri="{BB962C8B-B14F-4D97-AF65-F5344CB8AC3E}">
        <p14:creationId xmlns:p14="http://schemas.microsoft.com/office/powerpoint/2010/main" val="3180424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1000" fill="hold"/>
                                        <p:tgtEl>
                                          <p:spTgt spid="5"/>
                                        </p:tgtEl>
                                        <p:attrNameLst>
                                          <p:attrName>ppt_x</p:attrName>
                                        </p:attrNameLst>
                                      </p:cBhvr>
                                      <p:tavLst>
                                        <p:tav tm="0">
                                          <p:val>
                                            <p:strVal val="#ppt_x"/>
                                          </p:val>
                                        </p:tav>
                                        <p:tav tm="100000">
                                          <p:val>
                                            <p:strVal val="#ppt_x"/>
                                          </p:val>
                                        </p:tav>
                                      </p:tavLst>
                                    </p:anim>
                                    <p:anim calcmode="lin" valueType="num">
                                      <p:cBhvr additive="base">
                                        <p:cTn id="1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D5855-FD4B-48DB-B7D0-B43453D4D71B}"/>
              </a:ext>
            </a:extLst>
          </p:cNvPr>
          <p:cNvSpPr>
            <a:spLocks noGrp="1"/>
          </p:cNvSpPr>
          <p:nvPr>
            <p:ph type="title"/>
          </p:nvPr>
        </p:nvSpPr>
        <p:spPr>
          <a:xfrm>
            <a:off x="268357" y="609602"/>
            <a:ext cx="10548871" cy="1020416"/>
          </a:xfrm>
        </p:spPr>
        <p:txBody>
          <a:bodyPr/>
          <a:lstStyle/>
          <a:p>
            <a:r>
              <a:rPr lang="en-US" b="1" i="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3- ACTIVITY DIAGRAM</a:t>
            </a:r>
            <a:endParaRPr lang="en-US" dirty="0"/>
          </a:p>
        </p:txBody>
      </p:sp>
      <p:sp>
        <p:nvSpPr>
          <p:cNvPr id="3" name="Text Placeholder 2">
            <a:extLst>
              <a:ext uri="{FF2B5EF4-FFF2-40B4-BE49-F238E27FC236}">
                <a16:creationId xmlns:a16="http://schemas.microsoft.com/office/drawing/2014/main" id="{E17A519B-59B9-4FF5-9004-53A66E74525D}"/>
              </a:ext>
            </a:extLst>
          </p:cNvPr>
          <p:cNvSpPr>
            <a:spLocks noGrp="1"/>
          </p:cNvSpPr>
          <p:nvPr>
            <p:ph type="body" idx="1"/>
          </p:nvPr>
        </p:nvSpPr>
        <p:spPr>
          <a:xfrm>
            <a:off x="268357" y="1630018"/>
            <a:ext cx="10744200" cy="4094922"/>
          </a:xfrm>
        </p:spPr>
        <p:txBody>
          <a:bodyPr>
            <a:normAutofit/>
          </a:bodyPr>
          <a:lstStyle/>
          <a:p>
            <a:r>
              <a:rPr lang="en-US" dirty="0"/>
              <a:t>This activity diagram models a process for managing materials.</a:t>
            </a:r>
          </a:p>
          <a:p>
            <a:r>
              <a:rPr lang="en-US" b="1" dirty="0">
                <a:ln w="9525">
                  <a:solidFill>
                    <a:schemeClr val="bg1"/>
                  </a:solidFill>
                  <a:prstDash val="solid"/>
                </a:ln>
                <a:effectLst>
                  <a:outerShdw blurRad="12700" dist="38100" dir="2700000" algn="tl" rotWithShape="0">
                    <a:schemeClr val="bg1">
                      <a:lumMod val="50000"/>
                    </a:schemeClr>
                  </a:outerShdw>
                </a:effectLst>
              </a:rPr>
              <a:t>1-</a:t>
            </a:r>
            <a:r>
              <a:rPr lang="en-US" dirty="0"/>
              <a:t> Login: The process starts with a user logging into the system. </a:t>
            </a:r>
          </a:p>
          <a:p>
            <a:r>
              <a:rPr lang="en-US" b="1" dirty="0">
                <a:ln w="9525">
                  <a:solidFill>
                    <a:schemeClr val="bg1"/>
                  </a:solidFill>
                  <a:prstDash val="solid"/>
                </a:ln>
                <a:effectLst>
                  <a:outerShdw blurRad="12700" dist="38100" dir="2700000" algn="tl" rotWithShape="0">
                    <a:schemeClr val="bg1">
                      <a:lumMod val="50000"/>
                    </a:schemeClr>
                  </a:outerShdw>
                </a:effectLst>
              </a:rPr>
              <a:t>2- </a:t>
            </a:r>
            <a:r>
              <a:rPr lang="en-US" dirty="0"/>
              <a:t>Manage Materials: The logged-in user can perform various actions on materials, such as adding, removing, updating, or checking information about them. </a:t>
            </a:r>
          </a:p>
          <a:p>
            <a:r>
              <a:rPr lang="en-US" b="1" dirty="0">
                <a:ln w="9525">
                  <a:solidFill>
                    <a:schemeClr val="bg1"/>
                  </a:solidFill>
                  <a:prstDash val="solid"/>
                </a:ln>
                <a:effectLst>
                  <a:outerShdw blurRad="12700" dist="38100" dir="2700000" algn="tl" rotWithShape="0">
                    <a:schemeClr val="bg1">
                      <a:lumMod val="50000"/>
                    </a:schemeClr>
                  </a:outerShdw>
                </a:effectLst>
              </a:rPr>
              <a:t>3-</a:t>
            </a:r>
            <a:r>
              <a:rPr lang="en-US" dirty="0"/>
              <a:t> Confirmation: After managing materials, a decision is made whether to send a confirmation or refuse it. </a:t>
            </a:r>
          </a:p>
          <a:p>
            <a:r>
              <a:rPr lang="en-US" b="1" dirty="0">
                <a:ln w="9525">
                  <a:solidFill>
                    <a:schemeClr val="bg1"/>
                  </a:solidFill>
                  <a:prstDash val="solid"/>
                </a:ln>
                <a:effectLst>
                  <a:outerShdw blurRad="12700" dist="38100" dir="2700000" algn="tl" rotWithShape="0">
                    <a:schemeClr val="bg1">
                      <a:lumMod val="50000"/>
                    </a:schemeClr>
                  </a:outerShdw>
                </a:effectLst>
              </a:rPr>
              <a:t>4-</a:t>
            </a:r>
            <a:r>
              <a:rPr lang="en-US" dirty="0"/>
              <a:t> Send Reports: If confirmation is sent, the process moves on to sending reports.</a:t>
            </a:r>
          </a:p>
          <a:p>
            <a:endParaRPr lang="en-US" dirty="0"/>
          </a:p>
        </p:txBody>
      </p:sp>
    </p:spTree>
    <p:extLst>
      <p:ext uri="{BB962C8B-B14F-4D97-AF65-F5344CB8AC3E}">
        <p14:creationId xmlns:p14="http://schemas.microsoft.com/office/powerpoint/2010/main" val="378128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BFAA6-86F6-40EA-AE29-8340FB3F0FDB}"/>
              </a:ext>
            </a:extLst>
          </p:cNvPr>
          <p:cNvSpPr>
            <a:spLocks noGrp="1"/>
          </p:cNvSpPr>
          <p:nvPr>
            <p:ph type="title"/>
          </p:nvPr>
        </p:nvSpPr>
        <p:spPr/>
        <p:txBody>
          <a:bodyPr>
            <a:normAutofit fontScale="90000"/>
          </a:bodyPr>
          <a:lstStyle/>
          <a:p>
            <a:br>
              <a:rPr lang="en-US" dirty="0"/>
            </a:br>
            <a:r>
              <a:rPr lang="en-US" b="1" i="1" u="sng"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4- STATECHART DIAGRAM</a:t>
            </a:r>
            <a:br>
              <a:rPr lang="en-US" dirty="0"/>
            </a:br>
            <a:endParaRPr lang="ar-EG" dirty="0"/>
          </a:p>
        </p:txBody>
      </p:sp>
      <p:pic>
        <p:nvPicPr>
          <p:cNvPr id="5" name="Content Placeholder 4">
            <a:extLst>
              <a:ext uri="{FF2B5EF4-FFF2-40B4-BE49-F238E27FC236}">
                <a16:creationId xmlns:a16="http://schemas.microsoft.com/office/drawing/2014/main" id="{F8D73174-5D1C-4B6A-8A99-7F8BC491D7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3974" y="1798983"/>
            <a:ext cx="7991061" cy="4790659"/>
          </a:xfrm>
          <a:prstGeom prst="roundRect">
            <a:avLst>
              <a:gd name="adj" fmla="val 8594"/>
            </a:avLst>
          </a:prstGeom>
          <a:solidFill>
            <a:srgbClr val="FFFFFF">
              <a:shade val="85000"/>
            </a:srgbClr>
          </a:solidFill>
          <a:ln>
            <a:solidFill>
              <a:schemeClr val="bg1"/>
            </a:solidFill>
          </a:ln>
          <a:effectLst>
            <a:reflection blurRad="12700" stA="38000" endPos="28000" dist="5000" dir="5400000" sy="-100000" algn="bl" rotWithShape="0"/>
          </a:effectLst>
        </p:spPr>
      </p:pic>
    </p:spTree>
    <p:extLst>
      <p:ext uri="{BB962C8B-B14F-4D97-AF65-F5344CB8AC3E}">
        <p14:creationId xmlns:p14="http://schemas.microsoft.com/office/powerpoint/2010/main" val="8014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D9077-19D3-4C1F-A95E-9BC7831F0DC3}"/>
              </a:ext>
            </a:extLst>
          </p:cNvPr>
          <p:cNvSpPr>
            <a:spLocks noGrp="1"/>
          </p:cNvSpPr>
          <p:nvPr>
            <p:ph type="title"/>
          </p:nvPr>
        </p:nvSpPr>
        <p:spPr>
          <a:xfrm>
            <a:off x="427383" y="609601"/>
            <a:ext cx="10389845" cy="970721"/>
          </a:xfrm>
        </p:spPr>
        <p:txBody>
          <a:bodyPr/>
          <a:lstStyle/>
          <a:p>
            <a:r>
              <a:rPr lang="en-US" b="1" i="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4- STATECHART DIAGRAM</a:t>
            </a:r>
            <a:endParaRPr lang="en-US" dirty="0"/>
          </a:p>
        </p:txBody>
      </p:sp>
      <p:sp>
        <p:nvSpPr>
          <p:cNvPr id="3" name="Text Placeholder 2">
            <a:extLst>
              <a:ext uri="{FF2B5EF4-FFF2-40B4-BE49-F238E27FC236}">
                <a16:creationId xmlns:a16="http://schemas.microsoft.com/office/drawing/2014/main" id="{7D53FD1A-1011-4D5B-BB2E-20B8F2F05CFE}"/>
              </a:ext>
            </a:extLst>
          </p:cNvPr>
          <p:cNvSpPr>
            <a:spLocks noGrp="1"/>
          </p:cNvSpPr>
          <p:nvPr>
            <p:ph type="body" idx="1"/>
          </p:nvPr>
        </p:nvSpPr>
        <p:spPr>
          <a:xfrm>
            <a:off x="288235" y="1480929"/>
            <a:ext cx="10528993" cy="5188228"/>
          </a:xfrm>
        </p:spPr>
        <p:txBody>
          <a:bodyPr>
            <a:normAutofit fontScale="92500" lnSpcReduction="20000"/>
          </a:bodyPr>
          <a:lstStyle/>
          <a:p>
            <a:r>
              <a:rPr lang="en-US" dirty="0"/>
              <a:t>This diagram that outlines a sequence of steps for processing materials and expenses. </a:t>
            </a:r>
          </a:p>
          <a:p>
            <a:r>
              <a:rPr lang="en-US" b="1" dirty="0">
                <a:ln w="9525">
                  <a:solidFill>
                    <a:schemeClr val="bg1"/>
                  </a:solidFill>
                  <a:prstDash val="solid"/>
                </a:ln>
                <a:effectLst>
                  <a:outerShdw blurRad="12700" dist="38100" dir="2700000" algn="tl" rotWithShape="0">
                    <a:schemeClr val="bg1">
                      <a:lumMod val="50000"/>
                    </a:schemeClr>
                  </a:outerShdw>
                </a:effectLst>
              </a:rPr>
              <a:t>1-</a:t>
            </a:r>
            <a:r>
              <a:rPr lang="en-US" dirty="0"/>
              <a:t> Log in: A user attempts to log in.</a:t>
            </a:r>
          </a:p>
          <a:p>
            <a:r>
              <a:rPr lang="en-US" dirty="0"/>
              <a:t>   If invalid, the process halts.</a:t>
            </a:r>
          </a:p>
          <a:p>
            <a:r>
              <a:rPr lang="en-US" dirty="0"/>
              <a:t>   If valid, the process continues to the next step.  </a:t>
            </a:r>
          </a:p>
          <a:p>
            <a:r>
              <a:rPr lang="en-US" b="1" dirty="0">
                <a:ln w="9525">
                  <a:solidFill>
                    <a:schemeClr val="bg1"/>
                  </a:solidFill>
                  <a:prstDash val="solid"/>
                </a:ln>
                <a:effectLst>
                  <a:outerShdw blurRad="12700" dist="38100" dir="2700000" algn="tl" rotWithShape="0">
                    <a:schemeClr val="bg1">
                      <a:lumMod val="50000"/>
                    </a:schemeClr>
                  </a:outerShdw>
                </a:effectLst>
              </a:rPr>
              <a:t>2-</a:t>
            </a:r>
            <a:r>
              <a:rPr lang="en-US" dirty="0"/>
              <a:t> Check info: User information is verified for validity.</a:t>
            </a:r>
          </a:p>
          <a:p>
            <a:r>
              <a:rPr lang="en-US" dirty="0"/>
              <a:t>   If valid, the user can proceed to the next stage.</a:t>
            </a:r>
          </a:p>
          <a:p>
            <a:r>
              <a:rPr lang="en-US" b="1" dirty="0">
                <a:ln w="9525">
                  <a:solidFill>
                    <a:schemeClr val="bg1"/>
                  </a:solidFill>
                  <a:prstDash val="solid"/>
                </a:ln>
                <a:effectLst>
                  <a:outerShdw blurRad="12700" dist="38100" dir="2700000" algn="tl" rotWithShape="0">
                    <a:schemeClr val="bg1">
                      <a:lumMod val="50000"/>
                    </a:schemeClr>
                  </a:outerShdw>
                </a:effectLst>
              </a:rPr>
              <a:t>3-</a:t>
            </a:r>
            <a:r>
              <a:rPr lang="en-US" dirty="0"/>
              <a:t> View material: The user views the material available for selection.</a:t>
            </a:r>
          </a:p>
          <a:p>
            <a:r>
              <a:rPr lang="en-US" b="1" dirty="0">
                <a:ln w="9525">
                  <a:solidFill>
                    <a:schemeClr val="bg1"/>
                  </a:solidFill>
                  <a:prstDash val="solid"/>
                </a:ln>
                <a:effectLst>
                  <a:outerShdw blurRad="12700" dist="38100" dir="2700000" algn="tl" rotWithShape="0">
                    <a:schemeClr val="bg1">
                      <a:lumMod val="50000"/>
                    </a:schemeClr>
                  </a:outerShdw>
                </a:effectLst>
              </a:rPr>
              <a:t>4-</a:t>
            </a:r>
            <a:r>
              <a:rPr lang="en-US" dirty="0"/>
              <a:t> Select material: The user selects a material for further action.</a:t>
            </a:r>
          </a:p>
          <a:p>
            <a:r>
              <a:rPr lang="en-US" b="1" dirty="0">
                <a:ln w="9525">
                  <a:solidFill>
                    <a:schemeClr val="bg1"/>
                  </a:solidFill>
                  <a:prstDash val="solid"/>
                </a:ln>
                <a:effectLst>
                  <a:outerShdw blurRad="12700" dist="38100" dir="2700000" algn="tl" rotWithShape="0">
                    <a:schemeClr val="bg1">
                      <a:lumMod val="50000"/>
                    </a:schemeClr>
                  </a:outerShdw>
                </a:effectLst>
              </a:rPr>
              <a:t>5-</a:t>
            </a:r>
            <a:r>
              <a:rPr lang="en-US" dirty="0"/>
              <a:t> Check material: The selected material undergoes an admin check:</a:t>
            </a:r>
          </a:p>
          <a:p>
            <a:r>
              <a:rPr lang="en-US" dirty="0"/>
              <a:t>    If there is an error, the process leads to refuse confirmation.    </a:t>
            </a:r>
          </a:p>
          <a:p>
            <a:r>
              <a:rPr lang="en-US" dirty="0"/>
              <a:t>   If the material is correct, the process moves to send confirmation.</a:t>
            </a:r>
          </a:p>
          <a:p>
            <a:r>
              <a:rPr lang="en-US" b="1" dirty="0">
                <a:ln w="9525">
                  <a:solidFill>
                    <a:schemeClr val="bg1"/>
                  </a:solidFill>
                  <a:prstDash val="solid"/>
                </a:ln>
                <a:effectLst>
                  <a:outerShdw blurRad="12700" dist="38100" dir="2700000" algn="tl" rotWithShape="0">
                    <a:schemeClr val="bg1">
                      <a:lumMod val="50000"/>
                    </a:schemeClr>
                  </a:outerShdw>
                </a:effectLst>
              </a:rPr>
              <a:t>6-</a:t>
            </a:r>
            <a:r>
              <a:rPr lang="en-US" dirty="0"/>
              <a:t> Send confirmation: Confirmation is sent for the correct material.</a:t>
            </a:r>
          </a:p>
          <a:p>
            <a:r>
              <a:rPr lang="en-US" b="1" dirty="0">
                <a:ln w="9525">
                  <a:solidFill>
                    <a:schemeClr val="bg1"/>
                  </a:solidFill>
                  <a:prstDash val="solid"/>
                </a:ln>
                <a:effectLst>
                  <a:outerShdw blurRad="12700" dist="38100" dir="2700000" algn="tl" rotWithShape="0">
                    <a:schemeClr val="bg1">
                      <a:lumMod val="50000"/>
                    </a:schemeClr>
                  </a:outerShdw>
                </a:effectLst>
              </a:rPr>
              <a:t>7-</a:t>
            </a:r>
            <a:r>
              <a:rPr lang="en-US" dirty="0"/>
              <a:t> Send report: A report is generated and sent.</a:t>
            </a:r>
          </a:p>
          <a:p>
            <a:r>
              <a:rPr lang="en-US" b="1" dirty="0">
                <a:ln w="9525">
                  <a:solidFill>
                    <a:schemeClr val="bg1"/>
                  </a:solidFill>
                  <a:prstDash val="solid"/>
                </a:ln>
                <a:effectLst>
                  <a:outerShdw blurRad="12700" dist="38100" dir="2700000" algn="tl" rotWithShape="0">
                    <a:schemeClr val="bg1">
                      <a:lumMod val="50000"/>
                    </a:schemeClr>
                  </a:outerShdw>
                </a:effectLst>
              </a:rPr>
              <a:t>8-</a:t>
            </a:r>
            <a:r>
              <a:rPr lang="en-US" dirty="0"/>
              <a:t> Pay the expenses: Final step where expenses are paid.</a:t>
            </a:r>
          </a:p>
        </p:txBody>
      </p:sp>
    </p:spTree>
    <p:extLst>
      <p:ext uri="{BB962C8B-B14F-4D97-AF65-F5344CB8AC3E}">
        <p14:creationId xmlns:p14="http://schemas.microsoft.com/office/powerpoint/2010/main" val="3780449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1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1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10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circle(in)">
                                      <p:cBhvr>
                                        <p:cTn id="52" dur="10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circle(in)">
                                      <p:cBhvr>
                                        <p:cTn id="57" dur="10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circle(in)">
                                      <p:cBhvr>
                                        <p:cTn id="62" dur="10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circle(in)">
                                      <p:cBhvr>
                                        <p:cTn id="67" dur="1000"/>
                                        <p:tgtEl>
                                          <p:spTgt spid="3">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6" presetClass="entr" presetSubtype="16" fill="hold" grpId="0" nodeType="clickEffect">
                                  <p:stCondLst>
                                    <p:cond delay="0"/>
                                  </p:stCondLst>
                                  <p:childTnLst>
                                    <p:set>
                                      <p:cBhvr>
                                        <p:cTn id="71" dur="1" fill="hold">
                                          <p:stCondLst>
                                            <p:cond delay="0"/>
                                          </p:stCondLst>
                                        </p:cTn>
                                        <p:tgtEl>
                                          <p:spTgt spid="3">
                                            <p:txEl>
                                              <p:pRg st="12" end="12"/>
                                            </p:txEl>
                                          </p:spTgt>
                                        </p:tgtEl>
                                        <p:attrNameLst>
                                          <p:attrName>style.visibility</p:attrName>
                                        </p:attrNameLst>
                                      </p:cBhvr>
                                      <p:to>
                                        <p:strVal val="visible"/>
                                      </p:to>
                                    </p:set>
                                    <p:animEffect transition="in" filter="circle(in)">
                                      <p:cBhvr>
                                        <p:cTn id="72" dur="1000"/>
                                        <p:tgtEl>
                                          <p:spTgt spid="3">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6" presetClass="entr" presetSubtype="16" fill="hold" grpId="0" nodeType="clickEffect">
                                  <p:stCondLst>
                                    <p:cond delay="0"/>
                                  </p:stCondLst>
                                  <p:childTnLst>
                                    <p:set>
                                      <p:cBhvr>
                                        <p:cTn id="76" dur="1" fill="hold">
                                          <p:stCondLst>
                                            <p:cond delay="0"/>
                                          </p:stCondLst>
                                        </p:cTn>
                                        <p:tgtEl>
                                          <p:spTgt spid="3">
                                            <p:txEl>
                                              <p:pRg st="13" end="13"/>
                                            </p:txEl>
                                          </p:spTgt>
                                        </p:tgtEl>
                                        <p:attrNameLst>
                                          <p:attrName>style.visibility</p:attrName>
                                        </p:attrNameLst>
                                      </p:cBhvr>
                                      <p:to>
                                        <p:strVal val="visible"/>
                                      </p:to>
                                    </p:set>
                                    <p:animEffect transition="in" filter="circle(in)">
                                      <p:cBhvr>
                                        <p:cTn id="77" dur="10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4AD3F-AF0F-4D9F-B379-BB0BD93FA35B}"/>
              </a:ext>
            </a:extLst>
          </p:cNvPr>
          <p:cNvSpPr>
            <a:spLocks noGrp="1"/>
          </p:cNvSpPr>
          <p:nvPr>
            <p:ph type="title"/>
          </p:nvPr>
        </p:nvSpPr>
        <p:spPr/>
        <p:txBody>
          <a:bodyPr/>
          <a:lstStyle/>
          <a:p>
            <a:r>
              <a:rPr lang="en-US" b="1"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a:t>
            </a:r>
            <a:r>
              <a:rPr lang="en-US" b="1" i="1" u="sng"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5- CLASS DIAGRAM</a:t>
            </a:r>
            <a:br>
              <a:rPr lang="en-US" dirty="0"/>
            </a:br>
            <a:endParaRPr lang="ar-EG" dirty="0"/>
          </a:p>
        </p:txBody>
      </p:sp>
      <p:pic>
        <p:nvPicPr>
          <p:cNvPr id="6" name="Content Placeholder 5">
            <a:extLst>
              <a:ext uri="{FF2B5EF4-FFF2-40B4-BE49-F238E27FC236}">
                <a16:creationId xmlns:a16="http://schemas.microsoft.com/office/drawing/2014/main" id="{8D9DB8FF-AA2E-4D8F-A3AD-6533AE76B5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3853" y="1789044"/>
            <a:ext cx="8348870" cy="4691270"/>
          </a:xfrm>
          <a:prstGeom prst="roundRect">
            <a:avLst>
              <a:gd name="adj" fmla="val 8594"/>
            </a:avLst>
          </a:prstGeom>
          <a:solidFill>
            <a:srgbClr val="FFFFFF">
              <a:shade val="85000"/>
            </a:srgbClr>
          </a:solidFill>
          <a:ln>
            <a:solidFill>
              <a:schemeClr val="bg1"/>
            </a:solidFill>
          </a:ln>
          <a:effectLst>
            <a:reflection blurRad="12700" stA="38000" endPos="28000" dist="5000" dir="5400000" sy="-100000" algn="bl" rotWithShape="0"/>
          </a:effectLst>
        </p:spPr>
      </p:pic>
    </p:spTree>
    <p:extLst>
      <p:ext uri="{BB962C8B-B14F-4D97-AF65-F5344CB8AC3E}">
        <p14:creationId xmlns:p14="http://schemas.microsoft.com/office/powerpoint/2010/main" val="2881588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5ABC-659B-4C60-BFCE-B3AF3B2654D1}"/>
              </a:ext>
            </a:extLst>
          </p:cNvPr>
          <p:cNvSpPr>
            <a:spLocks noGrp="1"/>
          </p:cNvSpPr>
          <p:nvPr>
            <p:ph type="title"/>
          </p:nvPr>
        </p:nvSpPr>
        <p:spPr>
          <a:xfrm>
            <a:off x="278297" y="609601"/>
            <a:ext cx="10538932" cy="457199"/>
          </a:xfrm>
        </p:spPr>
        <p:txBody>
          <a:bodyPr>
            <a:normAutofit fontScale="90000"/>
          </a:bodyPr>
          <a:lstStyle/>
          <a:p>
            <a:r>
              <a:rPr lang="en-US" b="1" i="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5- CLASS DIAGRAM</a:t>
            </a:r>
            <a:endParaRPr lang="en-US" dirty="0"/>
          </a:p>
        </p:txBody>
      </p:sp>
      <p:sp>
        <p:nvSpPr>
          <p:cNvPr id="3" name="Text Placeholder 2">
            <a:extLst>
              <a:ext uri="{FF2B5EF4-FFF2-40B4-BE49-F238E27FC236}">
                <a16:creationId xmlns:a16="http://schemas.microsoft.com/office/drawing/2014/main" id="{46E8435E-47D5-4458-BA9D-41F72B2052CE}"/>
              </a:ext>
            </a:extLst>
          </p:cNvPr>
          <p:cNvSpPr>
            <a:spLocks noGrp="1"/>
          </p:cNvSpPr>
          <p:nvPr>
            <p:ph type="body" idx="1"/>
          </p:nvPr>
        </p:nvSpPr>
        <p:spPr>
          <a:xfrm>
            <a:off x="437322" y="993913"/>
            <a:ext cx="10379906" cy="5864087"/>
          </a:xfrm>
        </p:spPr>
        <p:txBody>
          <a:bodyPr>
            <a:normAutofit fontScale="70000" lnSpcReduction="20000"/>
          </a:bodyPr>
          <a:lstStyle/>
          <a:p>
            <a:r>
              <a:rPr lang="en-US" dirty="0"/>
              <a:t>This class diagram models a system for managing materials and registrations.</a:t>
            </a:r>
          </a:p>
          <a:p>
            <a:r>
              <a:rPr lang="en-US" dirty="0"/>
              <a:t> It includes classes for Admin, Student, Notification, Materials, Registration, and Payment.</a:t>
            </a:r>
          </a:p>
          <a:p>
            <a:r>
              <a:rPr lang="en-US" b="1" dirty="0">
                <a:ln w="9525">
                  <a:solidFill>
                    <a:schemeClr val="bg1"/>
                  </a:solidFill>
                  <a:prstDash val="solid"/>
                </a:ln>
                <a:effectLst>
                  <a:outerShdw blurRad="12700" dist="38100" dir="2700000" algn="tl" rotWithShape="0">
                    <a:schemeClr val="bg1">
                      <a:lumMod val="50000"/>
                    </a:schemeClr>
                  </a:outerShdw>
                </a:effectLst>
              </a:rPr>
              <a:t>1-</a:t>
            </a:r>
            <a:r>
              <a:rPr lang="en-US" dirty="0"/>
              <a:t> Admin: This class represents the administrator of the system. It has attributes for managing materials and sending notifications.</a:t>
            </a:r>
          </a:p>
          <a:p>
            <a:r>
              <a:rPr lang="en-US" b="1" dirty="0">
                <a:ln w="9525">
                  <a:solidFill>
                    <a:schemeClr val="bg1"/>
                  </a:solidFill>
                  <a:prstDash val="solid"/>
                </a:ln>
                <a:effectLst>
                  <a:outerShdw blurRad="12700" dist="38100" dir="2700000" algn="tl" rotWithShape="0">
                    <a:schemeClr val="bg1">
                      <a:lumMod val="50000"/>
                    </a:schemeClr>
                  </a:outerShdw>
                </a:effectLst>
              </a:rPr>
              <a:t>2-</a:t>
            </a:r>
            <a:r>
              <a:rPr lang="en-US" dirty="0"/>
              <a:t> Student: This class represents a student user. It has attributes for user information, email, and payment details.</a:t>
            </a:r>
          </a:p>
          <a:p>
            <a:r>
              <a:rPr lang="en-US" b="1" dirty="0">
                <a:ln w="9525">
                  <a:solidFill>
                    <a:schemeClr val="bg1"/>
                  </a:solidFill>
                  <a:prstDash val="solid"/>
                </a:ln>
                <a:effectLst>
                  <a:outerShdw blurRad="12700" dist="38100" dir="2700000" algn="tl" rotWithShape="0">
                    <a:schemeClr val="bg1">
                      <a:lumMod val="50000"/>
                    </a:schemeClr>
                  </a:outerShdw>
                </a:effectLst>
              </a:rPr>
              <a:t>3-</a:t>
            </a:r>
            <a:r>
              <a:rPr lang="en-US" dirty="0"/>
              <a:t> Notification: This class represents notifications sent to students. It has attributes for recipient email and content.</a:t>
            </a:r>
          </a:p>
          <a:p>
            <a:r>
              <a:rPr lang="en-US" b="1" dirty="0">
                <a:ln w="9525">
                  <a:solidFill>
                    <a:schemeClr val="bg1"/>
                  </a:solidFill>
                  <a:prstDash val="solid"/>
                </a:ln>
                <a:effectLst>
                  <a:outerShdw blurRad="12700" dist="38100" dir="2700000" algn="tl" rotWithShape="0">
                    <a:schemeClr val="bg1">
                      <a:lumMod val="50000"/>
                    </a:schemeClr>
                  </a:outerShdw>
                </a:effectLst>
              </a:rPr>
              <a:t>4-</a:t>
            </a:r>
            <a:r>
              <a:rPr lang="en-US" dirty="0"/>
              <a:t> Materials: This class represents the materials that can be registered for. It has attributes for material ID, name, description, and availability.</a:t>
            </a:r>
          </a:p>
          <a:p>
            <a:r>
              <a:rPr lang="en-US" b="1" dirty="0">
                <a:ln w="9525">
                  <a:solidFill>
                    <a:schemeClr val="bg1"/>
                  </a:solidFill>
                  <a:prstDash val="solid"/>
                </a:ln>
                <a:effectLst>
                  <a:outerShdw blurRad="12700" dist="38100" dir="2700000" algn="tl" rotWithShape="0">
                    <a:schemeClr val="bg1">
                      <a:lumMod val="50000"/>
                    </a:schemeClr>
                  </a:outerShdw>
                </a:effectLst>
              </a:rPr>
              <a:t>5-</a:t>
            </a:r>
            <a:r>
              <a:rPr lang="en-US" dirty="0"/>
              <a:t> Registration: This class represents a registration for a material. It has attributes for registration ID, student ID, material ID, and status.</a:t>
            </a:r>
          </a:p>
          <a:p>
            <a:r>
              <a:rPr lang="en-US" b="1" dirty="0">
                <a:ln w="9525">
                  <a:solidFill>
                    <a:schemeClr val="bg1"/>
                  </a:solidFill>
                  <a:prstDash val="solid"/>
                </a:ln>
                <a:effectLst>
                  <a:outerShdw blurRad="12700" dist="38100" dir="2700000" algn="tl" rotWithShape="0">
                    <a:schemeClr val="bg1">
                      <a:lumMod val="50000"/>
                    </a:schemeClr>
                  </a:outerShdw>
                </a:effectLst>
              </a:rPr>
              <a:t>6- </a:t>
            </a:r>
            <a:r>
              <a:rPr lang="en-US" dirty="0"/>
              <a:t>Payment: This class represents a payment made for a registration. It has attributes for payment ID, registration ID, amount, and status.</a:t>
            </a:r>
          </a:p>
          <a:p>
            <a:r>
              <a:rPr lang="en-US" dirty="0"/>
              <a:t>Relationships: </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Admin - Materials: The Admin class has a relationship with the Materials class, indicating that the admin can manage materials (add, update, remove).</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Admin - Notification: The Admin class has a relationship with the Notification class, indicating that the admin can send notifications to students.</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Student - Registration: The Student class has a relationship with the Registration class, indicating that a student can register for materials.</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Student - Payment: The Student class has a relationship with the Payment class, indicating that a student can make payments for registrations.</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Registration - Materials: The Registration class has a relationship with the Materials class, indicating that a registration is associated with a specific material.</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Registration - Payment: The Registration class has a relationship with the Payment class, indicating that a registration can have associated payments.</a:t>
            </a:r>
          </a:p>
        </p:txBody>
      </p:sp>
    </p:spTree>
    <p:extLst>
      <p:ext uri="{BB962C8B-B14F-4D97-AF65-F5344CB8AC3E}">
        <p14:creationId xmlns:p14="http://schemas.microsoft.com/office/powerpoint/2010/main" val="3333976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1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1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10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circle(in)">
                                      <p:cBhvr>
                                        <p:cTn id="52" dur="10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circle(in)">
                                      <p:cBhvr>
                                        <p:cTn id="57" dur="10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circle(in)">
                                      <p:cBhvr>
                                        <p:cTn id="62" dur="10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circle(in)">
                                      <p:cBhvr>
                                        <p:cTn id="67" dur="1000"/>
                                        <p:tgtEl>
                                          <p:spTgt spid="3">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6" presetClass="entr" presetSubtype="16" fill="hold" grpId="0" nodeType="clickEffect">
                                  <p:stCondLst>
                                    <p:cond delay="0"/>
                                  </p:stCondLst>
                                  <p:childTnLst>
                                    <p:set>
                                      <p:cBhvr>
                                        <p:cTn id="71" dur="1" fill="hold">
                                          <p:stCondLst>
                                            <p:cond delay="0"/>
                                          </p:stCondLst>
                                        </p:cTn>
                                        <p:tgtEl>
                                          <p:spTgt spid="3">
                                            <p:txEl>
                                              <p:pRg st="12" end="12"/>
                                            </p:txEl>
                                          </p:spTgt>
                                        </p:tgtEl>
                                        <p:attrNameLst>
                                          <p:attrName>style.visibility</p:attrName>
                                        </p:attrNameLst>
                                      </p:cBhvr>
                                      <p:to>
                                        <p:strVal val="visible"/>
                                      </p:to>
                                    </p:set>
                                    <p:animEffect transition="in" filter="circle(in)">
                                      <p:cBhvr>
                                        <p:cTn id="72" dur="1000"/>
                                        <p:tgtEl>
                                          <p:spTgt spid="3">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6" presetClass="entr" presetSubtype="16" fill="hold" grpId="0" nodeType="clickEffect">
                                  <p:stCondLst>
                                    <p:cond delay="0"/>
                                  </p:stCondLst>
                                  <p:childTnLst>
                                    <p:set>
                                      <p:cBhvr>
                                        <p:cTn id="76" dur="1" fill="hold">
                                          <p:stCondLst>
                                            <p:cond delay="0"/>
                                          </p:stCondLst>
                                        </p:cTn>
                                        <p:tgtEl>
                                          <p:spTgt spid="3">
                                            <p:txEl>
                                              <p:pRg st="13" end="13"/>
                                            </p:txEl>
                                          </p:spTgt>
                                        </p:tgtEl>
                                        <p:attrNameLst>
                                          <p:attrName>style.visibility</p:attrName>
                                        </p:attrNameLst>
                                      </p:cBhvr>
                                      <p:to>
                                        <p:strVal val="visible"/>
                                      </p:to>
                                    </p:set>
                                    <p:animEffect transition="in" filter="circle(in)">
                                      <p:cBhvr>
                                        <p:cTn id="77" dur="1000"/>
                                        <p:tgtEl>
                                          <p:spTgt spid="3">
                                            <p:txEl>
                                              <p:pRg st="13" end="1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6" presetClass="entr" presetSubtype="16" fill="hold" grpId="0" nodeType="clickEffect">
                                  <p:stCondLst>
                                    <p:cond delay="0"/>
                                  </p:stCondLst>
                                  <p:childTnLst>
                                    <p:set>
                                      <p:cBhvr>
                                        <p:cTn id="81" dur="1" fill="hold">
                                          <p:stCondLst>
                                            <p:cond delay="0"/>
                                          </p:stCondLst>
                                        </p:cTn>
                                        <p:tgtEl>
                                          <p:spTgt spid="3">
                                            <p:txEl>
                                              <p:pRg st="14" end="14"/>
                                            </p:txEl>
                                          </p:spTgt>
                                        </p:tgtEl>
                                        <p:attrNameLst>
                                          <p:attrName>style.visibility</p:attrName>
                                        </p:attrNameLst>
                                      </p:cBhvr>
                                      <p:to>
                                        <p:strVal val="visible"/>
                                      </p:to>
                                    </p:set>
                                    <p:animEffect transition="in" filter="circle(in)">
                                      <p:cBhvr>
                                        <p:cTn id="82" dur="10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A4E6-5A48-4CF5-8119-087AED772544}"/>
              </a:ext>
            </a:extLst>
          </p:cNvPr>
          <p:cNvSpPr>
            <a:spLocks noGrp="1"/>
          </p:cNvSpPr>
          <p:nvPr>
            <p:ph type="title"/>
          </p:nvPr>
        </p:nvSpPr>
        <p:spPr/>
        <p:txBody>
          <a:bodyPr/>
          <a:lstStyle/>
          <a:p>
            <a:r>
              <a:rPr lang="en-US" b="1" i="1" u="sng"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6- SEQUENCE DIAGRAM</a:t>
            </a:r>
            <a:endParaRPr lang="ar-EG" b="1" i="1" u="sng"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pic>
        <p:nvPicPr>
          <p:cNvPr id="11" name="Content Placeholder 10">
            <a:extLst>
              <a:ext uri="{FF2B5EF4-FFF2-40B4-BE49-F238E27FC236}">
                <a16:creationId xmlns:a16="http://schemas.microsoft.com/office/drawing/2014/main" id="{87986787-D85D-4EE6-8B32-A0C3C05FC2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2" y="1749287"/>
            <a:ext cx="9004850" cy="4591877"/>
          </a:xfrm>
          <a:prstGeom prst="roundRect">
            <a:avLst>
              <a:gd name="adj" fmla="val 8594"/>
            </a:avLst>
          </a:prstGeom>
          <a:solidFill>
            <a:srgbClr val="FFFFFF">
              <a:shade val="85000"/>
            </a:srgbClr>
          </a:solidFill>
          <a:ln>
            <a:solidFill>
              <a:schemeClr val="bg1"/>
            </a:solidFill>
          </a:ln>
          <a:effectLst>
            <a:reflection blurRad="12700" stA="38000" endPos="28000" dist="5000" dir="5400000" sy="-100000" algn="bl" rotWithShape="0"/>
          </a:effectLst>
        </p:spPr>
      </p:pic>
    </p:spTree>
    <p:extLst>
      <p:ext uri="{BB962C8B-B14F-4D97-AF65-F5344CB8AC3E}">
        <p14:creationId xmlns:p14="http://schemas.microsoft.com/office/powerpoint/2010/main" val="3675946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1292-9276-4DEC-AC0A-779A43BE68C6}"/>
              </a:ext>
            </a:extLst>
          </p:cNvPr>
          <p:cNvSpPr>
            <a:spLocks noGrp="1"/>
          </p:cNvSpPr>
          <p:nvPr>
            <p:ph type="title"/>
          </p:nvPr>
        </p:nvSpPr>
        <p:spPr>
          <a:xfrm>
            <a:off x="318053" y="609601"/>
            <a:ext cx="10499176" cy="457199"/>
          </a:xfrm>
        </p:spPr>
        <p:txBody>
          <a:bodyPr>
            <a:normAutofit fontScale="90000"/>
          </a:bodyPr>
          <a:lstStyle/>
          <a:p>
            <a:r>
              <a:rPr lang="en-US" b="1" i="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6- SEQUENCE DIAGRAM</a:t>
            </a:r>
            <a:endParaRPr lang="en-US" dirty="0"/>
          </a:p>
        </p:txBody>
      </p:sp>
      <p:sp>
        <p:nvSpPr>
          <p:cNvPr id="3" name="Text Placeholder 2">
            <a:extLst>
              <a:ext uri="{FF2B5EF4-FFF2-40B4-BE49-F238E27FC236}">
                <a16:creationId xmlns:a16="http://schemas.microsoft.com/office/drawing/2014/main" id="{CB2E9B35-9125-491D-A9D9-2526807D1807}"/>
              </a:ext>
            </a:extLst>
          </p:cNvPr>
          <p:cNvSpPr>
            <a:spLocks noGrp="1"/>
          </p:cNvSpPr>
          <p:nvPr>
            <p:ph type="body" idx="1"/>
          </p:nvPr>
        </p:nvSpPr>
        <p:spPr>
          <a:xfrm>
            <a:off x="318052" y="1242391"/>
            <a:ext cx="10499176" cy="5416826"/>
          </a:xfrm>
        </p:spPr>
        <p:txBody>
          <a:bodyPr/>
          <a:lstStyle/>
          <a:p>
            <a:r>
              <a:rPr lang="en-US" dirty="0"/>
              <a:t>This is a sequence diagram representing the process of course registration for a student. It illustrates the following steps:</a:t>
            </a:r>
          </a:p>
          <a:p>
            <a:r>
              <a:rPr lang="en-US" b="1" dirty="0">
                <a:ln w="9525">
                  <a:solidFill>
                    <a:schemeClr val="bg1"/>
                  </a:solidFill>
                  <a:prstDash val="solid"/>
                </a:ln>
                <a:effectLst>
                  <a:outerShdw blurRad="12700" dist="38100" dir="2700000" algn="tl" rotWithShape="0">
                    <a:schemeClr val="bg1">
                      <a:lumMod val="50000"/>
                    </a:schemeClr>
                  </a:outerShdw>
                </a:effectLst>
              </a:rPr>
              <a:t>1-</a:t>
            </a:r>
            <a:r>
              <a:rPr lang="en-US" dirty="0"/>
              <a:t> Login: The student logs in using their student ID and password, which is verified.</a:t>
            </a:r>
          </a:p>
          <a:p>
            <a:r>
              <a:rPr lang="en-US" b="1" dirty="0">
                <a:ln w="9525">
                  <a:solidFill>
                    <a:schemeClr val="bg1"/>
                  </a:solidFill>
                  <a:prstDash val="solid"/>
                </a:ln>
                <a:effectLst>
                  <a:outerShdw blurRad="12700" dist="38100" dir="2700000" algn="tl" rotWithShape="0">
                    <a:schemeClr val="bg1">
                      <a:lumMod val="50000"/>
                    </a:schemeClr>
                  </a:outerShdw>
                </a:effectLst>
              </a:rPr>
              <a:t>2- </a:t>
            </a:r>
            <a:r>
              <a:rPr lang="en-US" dirty="0"/>
              <a:t>View Materials: Once logged in, the system displays a list of available courses.</a:t>
            </a:r>
          </a:p>
          <a:p>
            <a:r>
              <a:rPr lang="en-US" b="1" dirty="0">
                <a:ln w="9525">
                  <a:solidFill>
                    <a:schemeClr val="bg1"/>
                  </a:solidFill>
                  <a:prstDash val="solid"/>
                </a:ln>
                <a:effectLst>
                  <a:outerShdw blurRad="12700" dist="38100" dir="2700000" algn="tl" rotWithShape="0">
                    <a:schemeClr val="bg1">
                      <a:lumMod val="50000"/>
                    </a:schemeClr>
                  </a:outerShdw>
                </a:effectLst>
              </a:rPr>
              <a:t>3-</a:t>
            </a:r>
            <a:r>
              <a:rPr lang="en-US" dirty="0"/>
              <a:t> Register for a Course: The student selects a course to register for. </a:t>
            </a:r>
          </a:p>
          <a:p>
            <a:r>
              <a:rPr lang="en-US" dirty="0"/>
              <a:t>The system verifies: Availability of places in the course.</a:t>
            </a:r>
          </a:p>
          <a:p>
            <a:r>
              <a:rPr lang="en-US" dirty="0"/>
              <a:t> Whether the student meets any prerequisites. If the student has paid the required fees.</a:t>
            </a:r>
          </a:p>
          <a:p>
            <a:r>
              <a:rPr lang="en-US" b="1" dirty="0">
                <a:ln w="9525">
                  <a:solidFill>
                    <a:schemeClr val="bg1"/>
                  </a:solidFill>
                  <a:prstDash val="solid"/>
                </a:ln>
                <a:effectLst>
                  <a:outerShdw blurRad="12700" dist="38100" dir="2700000" algn="tl" rotWithShape="0">
                    <a:schemeClr val="bg1">
                      <a:lumMod val="50000"/>
                    </a:schemeClr>
                  </a:outerShdw>
                </a:effectLst>
              </a:rPr>
              <a:t>4- </a:t>
            </a:r>
            <a:r>
              <a:rPr lang="en-US" dirty="0"/>
              <a:t>Decision: If all conditions are satisfied, the course is successfully registered.</a:t>
            </a:r>
          </a:p>
          <a:p>
            <a:r>
              <a:rPr lang="en-US" dirty="0"/>
              <a:t>Otherwise, the system informs the student that the course registration is unsuccessful. </a:t>
            </a:r>
          </a:p>
          <a:p>
            <a:r>
              <a:rPr lang="en-US" dirty="0"/>
              <a:t>The diagram also includes self-calls for validations (e.g., prerequisites and payment checks) and conditional logic to determine the outcome.</a:t>
            </a:r>
          </a:p>
        </p:txBody>
      </p:sp>
    </p:spTree>
    <p:extLst>
      <p:ext uri="{BB962C8B-B14F-4D97-AF65-F5344CB8AC3E}">
        <p14:creationId xmlns:p14="http://schemas.microsoft.com/office/powerpoint/2010/main" val="2741376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1000"/>
                                        <p:tgtEl>
                                          <p:spTgt spid="3">
                                            <p:txEl>
                                              <p:pRg st="5" end="5"/>
                                            </p:txEl>
                                          </p:spTgt>
                                        </p:tgtEl>
                                      </p:cBhvr>
                                    </p:animEffect>
                                    <p:anim calcmode="lin" valueType="num">
                                      <p:cBhvr>
                                        <p:cTn id="4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6" end="6"/>
                                            </p:txEl>
                                          </p:spTgt>
                                        </p:tgtEl>
                                        <p:attrNameLst>
                                          <p:attrName>style.visibility</p:attrName>
                                        </p:attrNameLst>
                                      </p:cBhvr>
                                      <p:to>
                                        <p:strVal val="visible"/>
                                      </p:to>
                                    </p:set>
                                    <p:animEffect transition="in" filter="fade">
                                      <p:cBhvr>
                                        <p:cTn id="54" dur="1000"/>
                                        <p:tgtEl>
                                          <p:spTgt spid="3">
                                            <p:txEl>
                                              <p:pRg st="6" end="6"/>
                                            </p:txEl>
                                          </p:spTgt>
                                        </p:tgtEl>
                                      </p:cBhvr>
                                    </p:animEffect>
                                    <p:anim calcmode="lin" valueType="num">
                                      <p:cBhvr>
                                        <p:cTn id="5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xEl>
                                              <p:pRg st="7" end="7"/>
                                            </p:txEl>
                                          </p:spTgt>
                                        </p:tgtEl>
                                        <p:attrNameLst>
                                          <p:attrName>style.visibility</p:attrName>
                                        </p:attrNameLst>
                                      </p:cBhvr>
                                      <p:to>
                                        <p:strVal val="visible"/>
                                      </p:to>
                                    </p:set>
                                    <p:animEffect transition="in" filter="fade">
                                      <p:cBhvr>
                                        <p:cTn id="61" dur="1000"/>
                                        <p:tgtEl>
                                          <p:spTgt spid="3">
                                            <p:txEl>
                                              <p:pRg st="7" end="7"/>
                                            </p:txEl>
                                          </p:spTgt>
                                        </p:tgtEl>
                                      </p:cBhvr>
                                    </p:animEffect>
                                    <p:anim calcmode="lin" valueType="num">
                                      <p:cBhvr>
                                        <p:cTn id="6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3">
                                            <p:txEl>
                                              <p:pRg st="8" end="8"/>
                                            </p:txEl>
                                          </p:spTgt>
                                        </p:tgtEl>
                                        <p:attrNameLst>
                                          <p:attrName>style.visibility</p:attrName>
                                        </p:attrNameLst>
                                      </p:cBhvr>
                                      <p:to>
                                        <p:strVal val="visible"/>
                                      </p:to>
                                    </p:set>
                                    <p:animEffect transition="in" filter="fade">
                                      <p:cBhvr>
                                        <p:cTn id="68" dur="1000"/>
                                        <p:tgtEl>
                                          <p:spTgt spid="3">
                                            <p:txEl>
                                              <p:pRg st="8" end="8"/>
                                            </p:txEl>
                                          </p:spTgt>
                                        </p:tgtEl>
                                      </p:cBhvr>
                                    </p:animEffect>
                                    <p:anim calcmode="lin" valueType="num">
                                      <p:cBhvr>
                                        <p:cTn id="6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42ECB-53CA-41A6-AF8D-BC0561379CA8}"/>
              </a:ext>
            </a:extLst>
          </p:cNvPr>
          <p:cNvSpPr>
            <a:spLocks noGrp="1"/>
          </p:cNvSpPr>
          <p:nvPr>
            <p:ph type="title"/>
          </p:nvPr>
        </p:nvSpPr>
        <p:spPr/>
        <p:txBody>
          <a:bodyPr/>
          <a:lstStyle/>
          <a:p>
            <a:r>
              <a:rPr lang="en-US" b="1" i="1" u="sng"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7-DEPLOYMENT DIAGRAM </a:t>
            </a:r>
            <a:br>
              <a:rPr lang="en-US" dirty="0"/>
            </a:br>
            <a:endParaRPr lang="en-US" dirty="0"/>
          </a:p>
        </p:txBody>
      </p:sp>
      <p:pic>
        <p:nvPicPr>
          <p:cNvPr id="4" name="Content Placeholder 3">
            <a:extLst>
              <a:ext uri="{FF2B5EF4-FFF2-40B4-BE49-F238E27FC236}">
                <a16:creationId xmlns:a16="http://schemas.microsoft.com/office/drawing/2014/main" id="{5C0175C3-9D2F-47C9-91AB-499E2AAF97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8799" y="1918252"/>
            <a:ext cx="8761975" cy="4330148"/>
          </a:xfrm>
          <a:prstGeom prst="roundRect">
            <a:avLst>
              <a:gd name="adj" fmla="val 8594"/>
            </a:avLst>
          </a:prstGeom>
          <a:solidFill>
            <a:srgbClr val="FFFFFF">
              <a:shade val="85000"/>
            </a:srgbClr>
          </a:solidFill>
          <a:ln>
            <a:solidFill>
              <a:schemeClr val="bg1"/>
            </a:solidFill>
          </a:ln>
          <a:effectLst>
            <a:reflection blurRad="12700" stA="38000" endPos="28000" dist="5000" dir="5400000" sy="-100000" algn="bl" rotWithShape="0"/>
          </a:effectLst>
        </p:spPr>
      </p:pic>
    </p:spTree>
    <p:extLst>
      <p:ext uri="{BB962C8B-B14F-4D97-AF65-F5344CB8AC3E}">
        <p14:creationId xmlns:p14="http://schemas.microsoft.com/office/powerpoint/2010/main" val="106206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DC9A6-9A4A-480F-8D7F-F09E9436CD47}"/>
              </a:ext>
            </a:extLst>
          </p:cNvPr>
          <p:cNvSpPr>
            <a:spLocks noGrp="1"/>
          </p:cNvSpPr>
          <p:nvPr>
            <p:ph type="title"/>
          </p:nvPr>
        </p:nvSpPr>
        <p:spPr>
          <a:xfrm>
            <a:off x="218661" y="609602"/>
            <a:ext cx="10598567" cy="612912"/>
          </a:xfrm>
        </p:spPr>
        <p:txBody>
          <a:bodyPr/>
          <a:lstStyle/>
          <a:p>
            <a:r>
              <a:rPr lang="en-US" b="1" i="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7-DEPLOYMENT DIAGRAM</a:t>
            </a:r>
            <a:endParaRPr lang="en-US" dirty="0"/>
          </a:p>
        </p:txBody>
      </p:sp>
      <p:sp>
        <p:nvSpPr>
          <p:cNvPr id="3" name="Text Placeholder 2">
            <a:extLst>
              <a:ext uri="{FF2B5EF4-FFF2-40B4-BE49-F238E27FC236}">
                <a16:creationId xmlns:a16="http://schemas.microsoft.com/office/drawing/2014/main" id="{C05A4241-02C9-4A01-9F33-FC00F6CFC8A5}"/>
              </a:ext>
            </a:extLst>
          </p:cNvPr>
          <p:cNvSpPr>
            <a:spLocks noGrp="1"/>
          </p:cNvSpPr>
          <p:nvPr>
            <p:ph type="body" idx="1"/>
          </p:nvPr>
        </p:nvSpPr>
        <p:spPr>
          <a:xfrm>
            <a:off x="337930" y="1351721"/>
            <a:ext cx="10479298" cy="5506279"/>
          </a:xfrm>
        </p:spPr>
        <p:txBody>
          <a:bodyPr>
            <a:normAutofit fontScale="70000" lnSpcReduction="20000"/>
          </a:bodyPr>
          <a:lstStyle/>
          <a:p>
            <a:r>
              <a:rPr lang="en-US" dirty="0"/>
              <a:t>This deployment diagram illustrates the architecture of a mobile course registration system. The system consists of the following components:</a:t>
            </a:r>
          </a:p>
          <a:p>
            <a:r>
              <a:rPr lang="en-US" b="1" dirty="0">
                <a:ln w="9525">
                  <a:solidFill>
                    <a:schemeClr val="bg1"/>
                  </a:solidFill>
                  <a:prstDash val="solid"/>
                </a:ln>
                <a:effectLst>
                  <a:outerShdw blurRad="12700" dist="38100" dir="2700000" algn="tl" rotWithShape="0">
                    <a:schemeClr val="bg1">
                      <a:lumMod val="50000"/>
                    </a:schemeClr>
                  </a:outerShdw>
                </a:effectLst>
              </a:rPr>
              <a:t>1-</a:t>
            </a:r>
            <a:r>
              <a:rPr lang="en-US" dirty="0"/>
              <a:t> Mobile Device:  The user interacts with the system through a mobile device. </a:t>
            </a:r>
          </a:p>
          <a:p>
            <a:r>
              <a:rPr lang="en-US" dirty="0"/>
              <a:t>        The device runs a mobile app that communicates with the backend server.</a:t>
            </a:r>
          </a:p>
          <a:p>
            <a:r>
              <a:rPr lang="en-US" b="1" dirty="0">
                <a:ln w="9525">
                  <a:solidFill>
                    <a:schemeClr val="bg1"/>
                  </a:solidFill>
                  <a:prstDash val="solid"/>
                </a:ln>
                <a:effectLst>
                  <a:outerShdw blurRad="12700" dist="38100" dir="2700000" algn="tl" rotWithShape="0">
                    <a:schemeClr val="bg1">
                      <a:lumMod val="50000"/>
                    </a:schemeClr>
                  </a:outerShdw>
                </a:effectLst>
              </a:rPr>
              <a:t>2-</a:t>
            </a:r>
            <a:r>
              <a:rPr lang="en-US" dirty="0"/>
              <a:t> Mobile App:  The mobile app handles user interactions and sends requests to the backend server. </a:t>
            </a:r>
          </a:p>
          <a:p>
            <a:r>
              <a:rPr lang="en-US" dirty="0"/>
              <a:t>   It receives notifications from the server and displays them to the user.</a:t>
            </a:r>
          </a:p>
          <a:p>
            <a:r>
              <a:rPr lang="en-US" b="1" dirty="0">
                <a:ln w="9525">
                  <a:solidFill>
                    <a:schemeClr val="bg1"/>
                  </a:solidFill>
                  <a:prstDash val="solid"/>
                </a:ln>
                <a:effectLst>
                  <a:outerShdw blurRad="12700" dist="38100" dir="2700000" algn="tl" rotWithShape="0">
                    <a:schemeClr val="bg1">
                      <a:lumMod val="50000"/>
                    </a:schemeClr>
                  </a:outerShdw>
                </a:effectLst>
              </a:rPr>
              <a:t>3-</a:t>
            </a:r>
            <a:r>
              <a:rPr lang="en-US" dirty="0"/>
              <a:t> Backend Server: The backend server hosts the core functionality of the system. </a:t>
            </a:r>
          </a:p>
          <a:p>
            <a:r>
              <a:rPr lang="en-US" dirty="0"/>
              <a:t>     It includes the following components:   </a:t>
            </a:r>
          </a:p>
          <a:p>
            <a:r>
              <a:rPr lang="en-US" b="1" dirty="0">
                <a:ln w="9525">
                  <a:solidFill>
                    <a:schemeClr val="bg1"/>
                  </a:solidFill>
                  <a:prstDash val="solid"/>
                </a:ln>
                <a:effectLst>
                  <a:outerShdw blurRad="12700" dist="38100" dir="2700000" algn="tl" rotWithShape="0">
                    <a:schemeClr val="bg1">
                      <a:lumMod val="50000"/>
                    </a:schemeClr>
                  </a:outerShdw>
                </a:effectLst>
              </a:rPr>
              <a:t>4-  </a:t>
            </a:r>
            <a:r>
              <a:rPr lang="en-US" dirty="0"/>
              <a:t>Login API: Handles user authentication and authorization.</a:t>
            </a:r>
          </a:p>
          <a:p>
            <a:r>
              <a:rPr lang="en-US" dirty="0"/>
              <a:t>      Course Registration API: Processes course registration requests.  </a:t>
            </a:r>
          </a:p>
          <a:p>
            <a:r>
              <a:rPr lang="en-US" dirty="0"/>
              <a:t>       Notification Service: Sends notifications to users.</a:t>
            </a:r>
          </a:p>
          <a:p>
            <a:r>
              <a:rPr lang="en-US" b="1" dirty="0">
                <a:ln w="9525">
                  <a:solidFill>
                    <a:schemeClr val="bg1"/>
                  </a:solidFill>
                  <a:prstDash val="solid"/>
                </a:ln>
                <a:effectLst>
                  <a:outerShdw blurRad="12700" dist="38100" dir="2700000" algn="tl" rotWithShape="0">
                    <a:schemeClr val="bg1">
                      <a:lumMod val="50000"/>
                    </a:schemeClr>
                  </a:outerShdw>
                </a:effectLst>
              </a:rPr>
              <a:t>5-</a:t>
            </a:r>
            <a:r>
              <a:rPr lang="en-US" dirty="0"/>
              <a:t> Database Server:  The database server stores user data and course information. </a:t>
            </a:r>
          </a:p>
          <a:p>
            <a:r>
              <a:rPr lang="en-US" dirty="0"/>
              <a:t>     It includes the following databases:   User Database: Stores user credentials and personal information.   </a:t>
            </a:r>
          </a:p>
          <a:p>
            <a:r>
              <a:rPr lang="en-US" b="1" dirty="0">
                <a:ln w="9525">
                  <a:solidFill>
                    <a:schemeClr val="bg1"/>
                  </a:solidFill>
                  <a:prstDash val="solid"/>
                </a:ln>
                <a:effectLst>
                  <a:outerShdw blurRad="12700" dist="38100" dir="2700000" algn="tl" rotWithShape="0">
                    <a:schemeClr val="bg1">
                      <a:lumMod val="50000"/>
                    </a:schemeClr>
                  </a:outerShdw>
                </a:effectLst>
              </a:rPr>
              <a:t>6-</a:t>
            </a:r>
            <a:r>
              <a:rPr lang="en-US" dirty="0"/>
              <a:t> Course Database: Stores information about available courses.</a:t>
            </a:r>
          </a:p>
          <a:p>
            <a:r>
              <a:rPr lang="en-US" b="1" dirty="0">
                <a:ln w="9525">
                  <a:solidFill>
                    <a:schemeClr val="bg1"/>
                  </a:solidFill>
                  <a:prstDash val="solid"/>
                </a:ln>
                <a:effectLst>
                  <a:outerShdw blurRad="12700" dist="38100" dir="2700000" algn="tl" rotWithShape="0">
                    <a:schemeClr val="bg1">
                      <a:lumMod val="50000"/>
                    </a:schemeClr>
                  </a:outerShdw>
                </a:effectLst>
              </a:rPr>
              <a:t>7-</a:t>
            </a:r>
            <a:r>
              <a:rPr lang="en-US" dirty="0"/>
              <a:t> Interactions:  The mobile app sends login credentials and course registration requests to the backend server. </a:t>
            </a:r>
          </a:p>
          <a:p>
            <a:r>
              <a:rPr lang="en-US" dirty="0"/>
              <a:t>    The backend server validates user credentials, fetches user data, and saves user registration information. </a:t>
            </a:r>
          </a:p>
          <a:p>
            <a:r>
              <a:rPr lang="en-US" dirty="0"/>
              <a:t>    The backend server fetches available courses from the course database and sends notifications to users. </a:t>
            </a:r>
          </a:p>
          <a:p>
            <a:r>
              <a:rPr lang="en-US" dirty="0"/>
              <a:t>     The notification service sends course-related notifications to the mobile app.</a:t>
            </a:r>
          </a:p>
        </p:txBody>
      </p:sp>
    </p:spTree>
    <p:extLst>
      <p:ext uri="{BB962C8B-B14F-4D97-AF65-F5344CB8AC3E}">
        <p14:creationId xmlns:p14="http://schemas.microsoft.com/office/powerpoint/2010/main" val="431193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1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1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10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circle(in)">
                                      <p:cBhvr>
                                        <p:cTn id="52" dur="10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circle(in)">
                                      <p:cBhvr>
                                        <p:cTn id="57" dur="10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circle(in)">
                                      <p:cBhvr>
                                        <p:cTn id="62" dur="10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circle(in)">
                                      <p:cBhvr>
                                        <p:cTn id="67" dur="1000"/>
                                        <p:tgtEl>
                                          <p:spTgt spid="3">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6" presetClass="entr" presetSubtype="16" fill="hold" grpId="0" nodeType="clickEffect">
                                  <p:stCondLst>
                                    <p:cond delay="0"/>
                                  </p:stCondLst>
                                  <p:childTnLst>
                                    <p:set>
                                      <p:cBhvr>
                                        <p:cTn id="71" dur="1" fill="hold">
                                          <p:stCondLst>
                                            <p:cond delay="0"/>
                                          </p:stCondLst>
                                        </p:cTn>
                                        <p:tgtEl>
                                          <p:spTgt spid="3">
                                            <p:txEl>
                                              <p:pRg st="12" end="12"/>
                                            </p:txEl>
                                          </p:spTgt>
                                        </p:tgtEl>
                                        <p:attrNameLst>
                                          <p:attrName>style.visibility</p:attrName>
                                        </p:attrNameLst>
                                      </p:cBhvr>
                                      <p:to>
                                        <p:strVal val="visible"/>
                                      </p:to>
                                    </p:set>
                                    <p:animEffect transition="in" filter="circle(in)">
                                      <p:cBhvr>
                                        <p:cTn id="72" dur="1000"/>
                                        <p:tgtEl>
                                          <p:spTgt spid="3">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6" presetClass="entr" presetSubtype="16" fill="hold" grpId="0" nodeType="clickEffect">
                                  <p:stCondLst>
                                    <p:cond delay="0"/>
                                  </p:stCondLst>
                                  <p:childTnLst>
                                    <p:set>
                                      <p:cBhvr>
                                        <p:cTn id="76" dur="1" fill="hold">
                                          <p:stCondLst>
                                            <p:cond delay="0"/>
                                          </p:stCondLst>
                                        </p:cTn>
                                        <p:tgtEl>
                                          <p:spTgt spid="3">
                                            <p:txEl>
                                              <p:pRg st="13" end="13"/>
                                            </p:txEl>
                                          </p:spTgt>
                                        </p:tgtEl>
                                        <p:attrNameLst>
                                          <p:attrName>style.visibility</p:attrName>
                                        </p:attrNameLst>
                                      </p:cBhvr>
                                      <p:to>
                                        <p:strVal val="visible"/>
                                      </p:to>
                                    </p:set>
                                    <p:animEffect transition="in" filter="circle(in)">
                                      <p:cBhvr>
                                        <p:cTn id="77" dur="1000"/>
                                        <p:tgtEl>
                                          <p:spTgt spid="3">
                                            <p:txEl>
                                              <p:pRg st="13" end="1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6" presetClass="entr" presetSubtype="16" fill="hold" grpId="0" nodeType="clickEffect">
                                  <p:stCondLst>
                                    <p:cond delay="0"/>
                                  </p:stCondLst>
                                  <p:childTnLst>
                                    <p:set>
                                      <p:cBhvr>
                                        <p:cTn id="81" dur="1" fill="hold">
                                          <p:stCondLst>
                                            <p:cond delay="0"/>
                                          </p:stCondLst>
                                        </p:cTn>
                                        <p:tgtEl>
                                          <p:spTgt spid="3">
                                            <p:txEl>
                                              <p:pRg st="14" end="14"/>
                                            </p:txEl>
                                          </p:spTgt>
                                        </p:tgtEl>
                                        <p:attrNameLst>
                                          <p:attrName>style.visibility</p:attrName>
                                        </p:attrNameLst>
                                      </p:cBhvr>
                                      <p:to>
                                        <p:strVal val="visible"/>
                                      </p:to>
                                    </p:set>
                                    <p:animEffect transition="in" filter="circle(in)">
                                      <p:cBhvr>
                                        <p:cTn id="82" dur="1000"/>
                                        <p:tgtEl>
                                          <p:spTgt spid="3">
                                            <p:txEl>
                                              <p:pRg st="14" end="14"/>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6" presetClass="entr" presetSubtype="16" fill="hold" grpId="0" nodeType="clickEffect">
                                  <p:stCondLst>
                                    <p:cond delay="0"/>
                                  </p:stCondLst>
                                  <p:childTnLst>
                                    <p:set>
                                      <p:cBhvr>
                                        <p:cTn id="86" dur="1" fill="hold">
                                          <p:stCondLst>
                                            <p:cond delay="0"/>
                                          </p:stCondLst>
                                        </p:cTn>
                                        <p:tgtEl>
                                          <p:spTgt spid="3">
                                            <p:txEl>
                                              <p:pRg st="15" end="15"/>
                                            </p:txEl>
                                          </p:spTgt>
                                        </p:tgtEl>
                                        <p:attrNameLst>
                                          <p:attrName>style.visibility</p:attrName>
                                        </p:attrNameLst>
                                      </p:cBhvr>
                                      <p:to>
                                        <p:strVal val="visible"/>
                                      </p:to>
                                    </p:set>
                                    <p:animEffect transition="in" filter="circle(in)">
                                      <p:cBhvr>
                                        <p:cTn id="87" dur="1000"/>
                                        <p:tgtEl>
                                          <p:spTgt spid="3">
                                            <p:txEl>
                                              <p:pRg st="15" end="15"/>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6" presetClass="entr" presetSubtype="16" fill="hold" grpId="0" nodeType="clickEffect">
                                  <p:stCondLst>
                                    <p:cond delay="0"/>
                                  </p:stCondLst>
                                  <p:childTnLst>
                                    <p:set>
                                      <p:cBhvr>
                                        <p:cTn id="91" dur="1" fill="hold">
                                          <p:stCondLst>
                                            <p:cond delay="0"/>
                                          </p:stCondLst>
                                        </p:cTn>
                                        <p:tgtEl>
                                          <p:spTgt spid="3">
                                            <p:txEl>
                                              <p:pRg st="16" end="16"/>
                                            </p:txEl>
                                          </p:spTgt>
                                        </p:tgtEl>
                                        <p:attrNameLst>
                                          <p:attrName>style.visibility</p:attrName>
                                        </p:attrNameLst>
                                      </p:cBhvr>
                                      <p:to>
                                        <p:strVal val="visible"/>
                                      </p:to>
                                    </p:set>
                                    <p:animEffect transition="in" filter="circle(in)">
                                      <p:cBhvr>
                                        <p:cTn id="92" dur="10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61741-EF65-4FF6-8266-AC09A25B3C7B}"/>
              </a:ext>
            </a:extLst>
          </p:cNvPr>
          <p:cNvSpPr>
            <a:spLocks noGrp="1"/>
          </p:cNvSpPr>
          <p:nvPr>
            <p:ph type="title"/>
          </p:nvPr>
        </p:nvSpPr>
        <p:spPr/>
        <p:txBody>
          <a:bodyPr/>
          <a:lstStyle/>
          <a:p>
            <a:r>
              <a:rPr lang="en-US" b="1" i="1" u="sng"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8-COMPONENT DIAGRAM</a:t>
            </a:r>
            <a:br>
              <a:rPr lang="ar-EG" dirty="0"/>
            </a:br>
            <a:endParaRPr lang="en-US" dirty="0"/>
          </a:p>
        </p:txBody>
      </p:sp>
      <p:pic>
        <p:nvPicPr>
          <p:cNvPr id="6" name="Content Placeholder 5">
            <a:extLst>
              <a:ext uri="{FF2B5EF4-FFF2-40B4-BE49-F238E27FC236}">
                <a16:creationId xmlns:a16="http://schemas.microsoft.com/office/drawing/2014/main" id="{03641A6B-D3A3-49FD-8A46-2EF6E39DC4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6149" y="1560444"/>
            <a:ext cx="8007181" cy="5029199"/>
          </a:xfrm>
          <a:prstGeom prst="roundRect">
            <a:avLst>
              <a:gd name="adj" fmla="val 8594"/>
            </a:avLst>
          </a:prstGeom>
          <a:solidFill>
            <a:srgbClr val="FFFFFF">
              <a:shade val="85000"/>
            </a:srgbClr>
          </a:solidFill>
          <a:ln>
            <a:solidFill>
              <a:schemeClr val="bg1"/>
            </a:solidFill>
          </a:ln>
          <a:effectLst>
            <a:reflection blurRad="12700" stA="38000" endPos="28000" dist="5000" dir="5400000" sy="-100000" algn="bl" rotWithShape="0"/>
          </a:effectLst>
        </p:spPr>
      </p:pic>
    </p:spTree>
    <p:extLst>
      <p:ext uri="{BB962C8B-B14F-4D97-AF65-F5344CB8AC3E}">
        <p14:creationId xmlns:p14="http://schemas.microsoft.com/office/powerpoint/2010/main" val="97651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E4384-1396-45A8-B8F3-A87B5BAB0764}"/>
              </a:ext>
            </a:extLst>
          </p:cNvPr>
          <p:cNvSpPr>
            <a:spLocks noGrp="1"/>
          </p:cNvSpPr>
          <p:nvPr>
            <p:ph type="title"/>
          </p:nvPr>
        </p:nvSpPr>
        <p:spPr>
          <a:xfrm>
            <a:off x="397565" y="337930"/>
            <a:ext cx="5476461" cy="1113183"/>
          </a:xfrm>
        </p:spPr>
        <p:txBody>
          <a:bodyPr/>
          <a:lstStyle/>
          <a:p>
            <a:r>
              <a:rPr lang="en-US" b="1" i="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8-COMPONENT DIAGRAM</a:t>
            </a:r>
            <a:endParaRPr lang="en-US" dirty="0"/>
          </a:p>
        </p:txBody>
      </p:sp>
      <p:sp>
        <p:nvSpPr>
          <p:cNvPr id="3" name="Text Placeholder 2">
            <a:extLst>
              <a:ext uri="{FF2B5EF4-FFF2-40B4-BE49-F238E27FC236}">
                <a16:creationId xmlns:a16="http://schemas.microsoft.com/office/drawing/2014/main" id="{B964A676-3D26-4B4A-88B8-40A422889756}"/>
              </a:ext>
            </a:extLst>
          </p:cNvPr>
          <p:cNvSpPr>
            <a:spLocks noGrp="1"/>
          </p:cNvSpPr>
          <p:nvPr>
            <p:ph type="body" idx="1"/>
          </p:nvPr>
        </p:nvSpPr>
        <p:spPr>
          <a:xfrm>
            <a:off x="397565" y="1451113"/>
            <a:ext cx="10419663" cy="5218044"/>
          </a:xfrm>
        </p:spPr>
        <p:txBody>
          <a:bodyPr>
            <a:normAutofit fontScale="92500" lnSpcReduction="10000"/>
          </a:bodyPr>
          <a:lstStyle/>
          <a:p>
            <a:r>
              <a:rPr lang="en-US" dirty="0"/>
              <a:t>This component diagram represents the architecture of a Mobile Registration System for managing user registration and material uploads. </a:t>
            </a:r>
          </a:p>
          <a:p>
            <a:r>
              <a:rPr lang="en-US" b="1" dirty="0">
                <a:ln w="9525">
                  <a:solidFill>
                    <a:schemeClr val="bg1"/>
                  </a:solidFill>
                  <a:prstDash val="solid"/>
                </a:ln>
                <a:effectLst>
                  <a:outerShdw blurRad="12700" dist="38100" dir="2700000" algn="tl" rotWithShape="0">
                    <a:schemeClr val="bg1">
                      <a:lumMod val="50000"/>
                    </a:schemeClr>
                  </a:outerShdw>
                </a:effectLst>
              </a:rPr>
              <a:t>1-</a:t>
            </a:r>
            <a:r>
              <a:rPr lang="en-US" dirty="0"/>
              <a:t> Mobile App: The main interface for user interaction.</a:t>
            </a:r>
          </a:p>
          <a:p>
            <a:r>
              <a:rPr lang="en-US" b="1" dirty="0">
                <a:ln w="9525">
                  <a:solidFill>
                    <a:schemeClr val="bg1"/>
                  </a:solidFill>
                  <a:prstDash val="solid"/>
                </a:ln>
                <a:effectLst>
                  <a:outerShdw blurRad="12700" dist="38100" dir="2700000" algn="tl" rotWithShape="0">
                    <a:schemeClr val="bg1">
                      <a:lumMod val="50000"/>
                    </a:schemeClr>
                  </a:outerShdw>
                </a:effectLst>
              </a:rPr>
              <a:t>2-</a:t>
            </a:r>
            <a:r>
              <a:rPr lang="en-US" dirty="0"/>
              <a:t> Components: </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Registration Form and Material Upload: Handle user input for registration and uploading materials.</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Mobile API: Serves as the central component for communication between the app and backend services.</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APIs (Registration API, Material API, User API, Backend API): Facilitate specific functions, such as handling registration, material management, and user authentication.</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Services: Process registration, materials, and authentication (e.g., Registration Service, Material Management Service, and Authentication Service).</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Databases: Store data (Registration Database, Material Storage, and User Database) and logs for operations.</a:t>
            </a:r>
          </a:p>
          <a:p>
            <a:r>
              <a:rPr lang="en-US" b="1" dirty="0">
                <a:ln w="9525">
                  <a:solidFill>
                    <a:schemeClr val="bg1"/>
                  </a:solidFill>
                  <a:prstDash val="solid"/>
                </a:ln>
                <a:effectLst>
                  <a:outerShdw blurRad="12700" dist="38100" dir="2700000" algn="tl" rotWithShape="0">
                    <a:schemeClr val="bg1">
                      <a:lumMod val="50000"/>
                    </a:schemeClr>
                  </a:outerShdw>
                </a:effectLst>
              </a:rPr>
              <a:t>.</a:t>
            </a:r>
            <a:r>
              <a:rPr lang="en-US" dirty="0"/>
              <a:t> Notification Services: Enable communication with an External Notification Service to notify users about their registration.</a:t>
            </a:r>
          </a:p>
        </p:txBody>
      </p:sp>
    </p:spTree>
    <p:extLst>
      <p:ext uri="{BB962C8B-B14F-4D97-AF65-F5344CB8AC3E}">
        <p14:creationId xmlns:p14="http://schemas.microsoft.com/office/powerpoint/2010/main" val="717017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1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1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10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circle(in)">
                                      <p:cBhvr>
                                        <p:cTn id="52"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C6CE-E592-467D-B9F9-CB84F0082515}"/>
              </a:ext>
            </a:extLst>
          </p:cNvPr>
          <p:cNvSpPr>
            <a:spLocks noGrp="1"/>
          </p:cNvSpPr>
          <p:nvPr>
            <p:ph type="title"/>
          </p:nvPr>
        </p:nvSpPr>
        <p:spPr>
          <a:xfrm>
            <a:off x="268357" y="609600"/>
            <a:ext cx="10548869" cy="4856922"/>
          </a:xfrm>
        </p:spPr>
        <p:txBody>
          <a:bodyPr>
            <a:normAutofit/>
          </a:bodyPr>
          <a:lstStyle/>
          <a:p>
            <a:pPr algn="ctr"/>
            <a:r>
              <a:rPr lang="en-US" sz="6600" dirty="0">
                <a:latin typeface="Algerian" panose="04020705040A02060702" pitchFamily="82" charset="0"/>
              </a:rPr>
              <a:t>Thank you </a:t>
            </a:r>
          </a:p>
        </p:txBody>
      </p:sp>
    </p:spTree>
    <p:extLst>
      <p:ext uri="{BB962C8B-B14F-4D97-AF65-F5344CB8AC3E}">
        <p14:creationId xmlns:p14="http://schemas.microsoft.com/office/powerpoint/2010/main" val="1925715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1542</TotalTime>
  <Words>2696</Words>
  <Application>Microsoft Office PowerPoint</Application>
  <PresentationFormat>Widescreen</PresentationFormat>
  <Paragraphs>285</Paragraphs>
  <Slides>38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Algerian</vt:lpstr>
      <vt:lpstr>Andalus</vt:lpstr>
      <vt:lpstr>Arial</vt:lpstr>
      <vt:lpstr>Bahnschrift Light SemiCondensed</vt:lpstr>
      <vt:lpstr>Bodoni MT</vt:lpstr>
      <vt:lpstr>Calibri</vt:lpstr>
      <vt:lpstr>Calibri Light</vt:lpstr>
      <vt:lpstr>Times New Roman</vt:lpstr>
      <vt:lpstr>Celestial</vt:lpstr>
      <vt:lpstr>PROJECT OF INTRODUCTION OF SOFTWARE</vt:lpstr>
      <vt:lpstr>Members Of Team:</vt:lpstr>
      <vt:lpstr>Project content:</vt:lpstr>
      <vt:lpstr>1- Introduction of project</vt:lpstr>
      <vt:lpstr>Project content:</vt:lpstr>
      <vt:lpstr>2- User Scenarios</vt:lpstr>
      <vt:lpstr>1-Happy path  </vt:lpstr>
      <vt:lpstr>2-Unhappy path  </vt:lpstr>
      <vt:lpstr>Project content:</vt:lpstr>
      <vt:lpstr>3- Requirements</vt:lpstr>
      <vt:lpstr>(A)  User Requirements </vt:lpstr>
      <vt:lpstr>(B)  System Requirements </vt:lpstr>
      <vt:lpstr>3- Requirements</vt:lpstr>
      <vt:lpstr>(A) Functional Requirements </vt:lpstr>
      <vt:lpstr>(B) Non-Functional Requirement </vt:lpstr>
      <vt:lpstr>Project content:</vt:lpstr>
      <vt:lpstr>4- Methodolog </vt:lpstr>
      <vt:lpstr>Project content:</vt:lpstr>
      <vt:lpstr>5- Diagrams</vt:lpstr>
      <vt:lpstr>1- BUSINESS USE CASE DIAGRAM </vt:lpstr>
      <vt:lpstr>1- BUSINESS USE CASE DIAGRAM</vt:lpstr>
      <vt:lpstr>2- USE CASE DIAGRAM</vt:lpstr>
      <vt:lpstr>2- USE CASE DIAGRAM</vt:lpstr>
      <vt:lpstr>3- ACTIVITY DIAGRAM </vt:lpstr>
      <vt:lpstr>3- ACTIVITY DIAGRAM </vt:lpstr>
      <vt:lpstr>3- ACTIVITY DIAGRAM</vt:lpstr>
      <vt:lpstr>3- ACTIVITY DIAGRAM</vt:lpstr>
      <vt:lpstr> 4- STATECHART DIAGRAM </vt:lpstr>
      <vt:lpstr>4- STATECHART DIAGRAM</vt:lpstr>
      <vt:lpstr> 5- CLASS DIAGRAM </vt:lpstr>
      <vt:lpstr>5- CLASS DIAGRAM</vt:lpstr>
      <vt:lpstr>6- SEQUENCE DIAGRAM</vt:lpstr>
      <vt:lpstr>6- SEQUENCE DIAGRAM</vt:lpstr>
      <vt:lpstr>7-DEPLOYMENT DIAGRAM  </vt:lpstr>
      <vt:lpstr>7-DEPLOYMENT DIAGRAM</vt:lpstr>
      <vt:lpstr>8-COMPONENT DIAGRAM </vt:lpstr>
      <vt:lpstr>8-COMPONENT DIAGRAM</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Norhan Mohamed yahia</dc:creator>
  <cp:lastModifiedBy>Norhan Mohamed yahia</cp:lastModifiedBy>
  <cp:revision>138</cp:revision>
  <dcterms:created xsi:type="dcterms:W3CDTF">2024-11-01T19:33:23Z</dcterms:created>
  <dcterms:modified xsi:type="dcterms:W3CDTF">2024-12-20T06:37:10Z</dcterms:modified>
</cp:coreProperties>
</file>