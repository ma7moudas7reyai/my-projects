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ndal" charset="1" panose="02000503000000020004"/>
      <p:regular r:id="rId29"/>
    </p:embeddedFont>
    <p:embeddedFont>
      <p:font typeface="Droid Arabic Naskh Bold" charset="1" panose="020B0806030804020204"/>
      <p:regular r:id="rId30"/>
    </p:embeddedFont>
    <p:embeddedFont>
      <p:font typeface="Droid Arabic Kufi Bold" charset="1" panose="020B0806030804020204"/>
      <p:regular r:id="rId31"/>
    </p:embeddedFont>
    <p:embeddedFont>
      <p:font typeface="Droid Arabic Kufi" charset="1" panose="020B0606030804020204"/>
      <p:regular r:id="rId32"/>
    </p:embeddedFont>
    <p:embeddedFont>
      <p:font typeface="Proxima Nova Bold" charset="1" panose="02000506030000020004"/>
      <p:regular r:id="rId33"/>
    </p:embeddedFont>
    <p:embeddedFont>
      <p:font typeface="Proxima Nova" charset="1" panose="02000506030000020004"/>
      <p:regular r:id="rId34"/>
    </p:embeddedFont>
    <p:embeddedFont>
      <p:font typeface="XM Vahid Bold" charset="1" panose="020008030900000200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jpeg" Type="http://schemas.openxmlformats.org/officeDocument/2006/relationships/image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7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8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9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70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7412">
            <a:off x="-200900" y="6314284"/>
            <a:ext cx="4059295" cy="4326768"/>
          </a:xfrm>
          <a:custGeom>
            <a:avLst/>
            <a:gdLst/>
            <a:ahLst/>
            <a:cxnLst/>
            <a:rect r="r" b="b" t="t" l="l"/>
            <a:pathLst>
              <a:path h="4326768" w="4059295">
                <a:moveTo>
                  <a:pt x="0" y="0"/>
                </a:moveTo>
                <a:lnTo>
                  <a:pt x="4059296" y="0"/>
                </a:lnTo>
                <a:lnTo>
                  <a:pt x="4059296" y="4326769"/>
                </a:lnTo>
                <a:lnTo>
                  <a:pt x="0" y="4326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76979">
            <a:off x="14931017" y="-254132"/>
            <a:ext cx="3691690" cy="3823784"/>
          </a:xfrm>
          <a:custGeom>
            <a:avLst/>
            <a:gdLst/>
            <a:ahLst/>
            <a:cxnLst/>
            <a:rect r="r" b="b" t="t" l="l"/>
            <a:pathLst>
              <a:path h="3823784" w="3691690">
                <a:moveTo>
                  <a:pt x="0" y="0"/>
                </a:moveTo>
                <a:lnTo>
                  <a:pt x="3691690" y="0"/>
                </a:lnTo>
                <a:lnTo>
                  <a:pt x="3691690" y="3823784"/>
                </a:lnTo>
                <a:lnTo>
                  <a:pt x="0" y="382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84494">
            <a:off x="425411" y="433286"/>
            <a:ext cx="3466502" cy="3182879"/>
          </a:xfrm>
          <a:custGeom>
            <a:avLst/>
            <a:gdLst/>
            <a:ahLst/>
            <a:cxnLst/>
            <a:rect r="r" b="b" t="t" l="l"/>
            <a:pathLst>
              <a:path h="3182879" w="3466502">
                <a:moveTo>
                  <a:pt x="0" y="0"/>
                </a:moveTo>
                <a:lnTo>
                  <a:pt x="3466502" y="0"/>
                </a:lnTo>
                <a:lnTo>
                  <a:pt x="3466502" y="3182880"/>
                </a:lnTo>
                <a:lnTo>
                  <a:pt x="0" y="3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3242">
            <a:off x="14628762" y="6507084"/>
            <a:ext cx="3246709" cy="3258558"/>
          </a:xfrm>
          <a:custGeom>
            <a:avLst/>
            <a:gdLst/>
            <a:ahLst/>
            <a:cxnLst/>
            <a:rect r="r" b="b" t="t" l="l"/>
            <a:pathLst>
              <a:path h="3258558" w="3246709">
                <a:moveTo>
                  <a:pt x="0" y="0"/>
                </a:moveTo>
                <a:lnTo>
                  <a:pt x="3246708" y="0"/>
                </a:lnTo>
                <a:lnTo>
                  <a:pt x="3246708" y="3258557"/>
                </a:lnTo>
                <a:lnTo>
                  <a:pt x="0" y="3258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22088" y="3081466"/>
            <a:ext cx="13643825" cy="380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6"/>
              </a:lnSpc>
            </a:pPr>
            <a:r>
              <a:rPr lang="en-US" sz="9876" spc="-296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Delhi Air Quality Prediction</a:t>
            </a:r>
          </a:p>
          <a:p>
            <a:pPr algn="ctr">
              <a:lnSpc>
                <a:spcPts val="987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7307" y="6172200"/>
            <a:ext cx="4850435" cy="4114800"/>
          </a:xfrm>
          <a:custGeom>
            <a:avLst/>
            <a:gdLst/>
            <a:ahLst/>
            <a:cxnLst/>
            <a:rect r="r" b="b" t="t" l="l"/>
            <a:pathLst>
              <a:path h="4114800" w="4850435">
                <a:moveTo>
                  <a:pt x="0" y="0"/>
                </a:moveTo>
                <a:lnTo>
                  <a:pt x="4850435" y="0"/>
                </a:lnTo>
                <a:lnTo>
                  <a:pt x="4850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07615">
            <a:off x="15603488" y="288613"/>
            <a:ext cx="3311624" cy="3354315"/>
          </a:xfrm>
          <a:custGeom>
            <a:avLst/>
            <a:gdLst/>
            <a:ahLst/>
            <a:cxnLst/>
            <a:rect r="r" b="b" t="t" l="l"/>
            <a:pathLst>
              <a:path h="3354315" w="3311624">
                <a:moveTo>
                  <a:pt x="0" y="0"/>
                </a:moveTo>
                <a:lnTo>
                  <a:pt x="3311624" y="0"/>
                </a:lnTo>
                <a:lnTo>
                  <a:pt x="3311624" y="3354315"/>
                </a:lnTo>
                <a:lnTo>
                  <a:pt x="0" y="3354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26708" y="6172200"/>
            <a:ext cx="5361303" cy="4114800"/>
          </a:xfrm>
          <a:custGeom>
            <a:avLst/>
            <a:gdLst/>
            <a:ahLst/>
            <a:cxnLst/>
            <a:rect r="r" b="b" t="t" l="l"/>
            <a:pathLst>
              <a:path h="4114800" w="5361303">
                <a:moveTo>
                  <a:pt x="0" y="0"/>
                </a:moveTo>
                <a:lnTo>
                  <a:pt x="5361303" y="0"/>
                </a:lnTo>
                <a:lnTo>
                  <a:pt x="53613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67911" y="413856"/>
            <a:ext cx="14718776" cy="516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Droid Arabic Naskh Bold"/>
                <a:ea typeface="Droid Arabic Naskh Bold"/>
                <a:cs typeface="Droid Arabic Naskh Bold"/>
                <a:sym typeface="Droid Arabic Naskh Bold"/>
              </a:rPr>
              <a:t>Project Supervision&amp; Team Members</a:t>
            </a:r>
          </a:p>
          <a:p>
            <a:pPr algn="ctr">
              <a:lnSpc>
                <a:spcPts val="11480"/>
              </a:lnSpc>
            </a:pPr>
          </a:p>
          <a:p>
            <a:pPr algn="ctr" rtl="true">
              <a:lnSpc>
                <a:spcPts val="114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82099" y="3448230"/>
            <a:ext cx="6456580" cy="655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b="true" sz="36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Supervised by: </a:t>
            </a:r>
          </a:p>
          <a:p>
            <a:pPr algn="ctr" rtl="true">
              <a:lnSpc>
                <a:spcPts val="5179"/>
              </a:lnSpc>
            </a:pPr>
            <a:r>
              <a:rPr lang="ar-EG" sz="36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•</a:t>
            </a:r>
            <a:r>
              <a:rPr lang="en-US" sz="36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Dr. Yasmin Mahmoud</a:t>
            </a:r>
            <a:r>
              <a:rPr lang="ar-EG" sz="36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</a:t>
            </a:r>
          </a:p>
          <a:p>
            <a:pPr algn="ctr" rtl="true">
              <a:lnSpc>
                <a:spcPts val="5179"/>
              </a:lnSpc>
            </a:pPr>
          </a:p>
          <a:p>
            <a:pPr algn="ctr">
              <a:lnSpc>
                <a:spcPts val="5179"/>
              </a:lnSpc>
            </a:pPr>
            <a:r>
              <a:rPr lang="en-US" b="true" sz="36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Teaching Assistants:</a:t>
            </a:r>
          </a:p>
          <a:p>
            <a:pPr algn="ctr" rtl="true">
              <a:lnSpc>
                <a:spcPts val="5179"/>
              </a:lnSpc>
            </a:pPr>
          </a:p>
          <a:p>
            <a:pPr algn="ctr" rtl="true">
              <a:lnSpc>
                <a:spcPts val="5179"/>
              </a:lnSpc>
            </a:pPr>
            <a:r>
              <a:rPr lang="ar-EG" sz="36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• </a:t>
            </a:r>
            <a:r>
              <a:rPr lang="en-US" sz="36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Eng. George</a:t>
            </a:r>
            <a:r>
              <a:rPr lang="ar-EG" sz="36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</a:t>
            </a:r>
          </a:p>
          <a:p>
            <a:pPr algn="ctr" rtl="true">
              <a:lnSpc>
                <a:spcPts val="5179"/>
              </a:lnSpc>
            </a:pPr>
          </a:p>
          <a:p>
            <a:pPr algn="ctr" rtl="true">
              <a:lnSpc>
                <a:spcPts val="5179"/>
              </a:lnSpc>
            </a:pPr>
            <a:r>
              <a:rPr lang="ar-EG" sz="36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• </a:t>
            </a:r>
            <a:r>
              <a:rPr lang="en-US" sz="36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Eng. Ahmad Gomaa</a:t>
            </a:r>
          </a:p>
          <a:p>
            <a:pPr algn="ctr" rtl="true">
              <a:lnSpc>
                <a:spcPts val="5179"/>
              </a:lnSpc>
            </a:pPr>
          </a:p>
          <a:p>
            <a:pPr algn="ctr" rtl="true">
              <a:lnSpc>
                <a:spcPts val="51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277870"/>
            <a:ext cx="5589032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Project Team Members</a:t>
            </a: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Jumana Hazim</a:t>
            </a:r>
          </a:p>
          <a:p>
            <a:pPr algn="ctr" rtl="true">
              <a:lnSpc>
                <a:spcPts val="5319"/>
              </a:lnSpc>
            </a:pPr>
            <a:r>
              <a:rPr lang="ar-EG" sz="37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•</a:t>
            </a:r>
            <a:r>
              <a:rPr lang="en-US" sz="37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Mahmoud Ashry</a:t>
            </a:r>
          </a:p>
          <a:p>
            <a:pPr algn="ctr" rtl="true">
              <a:lnSpc>
                <a:spcPts val="5319"/>
              </a:lnSpc>
            </a:pPr>
            <a:r>
              <a:rPr lang="ar-EG" sz="37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•</a:t>
            </a:r>
            <a:r>
              <a:rPr lang="en-US" sz="37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Sohaila Abdelnasser</a:t>
            </a: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Rawan Mahmoud</a:t>
            </a: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Omar ElSherbiny</a:t>
            </a: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Ahmed Mahmoud</a:t>
            </a:r>
          </a:p>
          <a:p>
            <a:pPr algn="ctr">
              <a:lnSpc>
                <a:spcPts val="5319"/>
              </a:lnSpc>
            </a:pPr>
          </a:p>
          <a:p>
            <a:pPr algn="ctr" rtl="true">
              <a:lnSpc>
                <a:spcPts val="531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64413" y="604612"/>
            <a:ext cx="12103701" cy="9077776"/>
          </a:xfrm>
          <a:custGeom>
            <a:avLst/>
            <a:gdLst/>
            <a:ahLst/>
            <a:cxnLst/>
            <a:rect r="r" b="b" t="t" l="l"/>
            <a:pathLst>
              <a:path h="9077776" w="12103701">
                <a:moveTo>
                  <a:pt x="0" y="0"/>
                </a:moveTo>
                <a:lnTo>
                  <a:pt x="12103701" y="0"/>
                </a:lnTo>
                <a:lnTo>
                  <a:pt x="12103701" y="9077776"/>
                </a:lnTo>
                <a:lnTo>
                  <a:pt x="0" y="9077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39693" y="984840"/>
            <a:ext cx="13643825" cy="827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66558" indent="-483279" lvl="1">
              <a:lnSpc>
                <a:spcPts val="4476"/>
              </a:lnSpc>
              <a:buFont typeface="Arial"/>
              <a:buChar char="•"/>
            </a:pPr>
            <a:r>
              <a:rPr lang="en-US" sz="4476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Analysis: The dataset shows a clear imbalance, with the "Severe" category being the most frequent, followed by "Moderate".</a:t>
            </a:r>
          </a:p>
          <a:p>
            <a:pPr algn="ctr" marL="966558" indent="-483279" lvl="1">
              <a:lnSpc>
                <a:spcPts val="4476"/>
              </a:lnSpc>
              <a:buFont typeface="Arial"/>
              <a:buChar char="•"/>
            </a:pPr>
          </a:p>
          <a:p>
            <a:pPr algn="ctr" marL="966558" indent="-483279" lvl="1">
              <a:lnSpc>
                <a:spcPts val="4476"/>
              </a:lnSpc>
              <a:buFont typeface="Arial"/>
              <a:buChar char="•"/>
            </a:pPr>
            <a:r>
              <a:rPr lang="en-US" sz="4476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Insight: This high frequency of severe pollution levels highlights the critical air quality situation in Delhi.</a:t>
            </a:r>
          </a:p>
          <a:p>
            <a:pPr algn="ctr" marL="1031326" indent="-515663" lvl="1">
              <a:lnSpc>
                <a:spcPts val="4776"/>
              </a:lnSpc>
              <a:buFont typeface="Arial"/>
              <a:buChar char="•"/>
            </a:pPr>
          </a:p>
          <a:p>
            <a:pPr algn="ctr" marL="901789" indent="-450895" lvl="1">
              <a:lnSpc>
                <a:spcPts val="4176"/>
              </a:lnSpc>
              <a:buFont typeface="Arial"/>
              <a:buChar char="•"/>
            </a:pPr>
            <a:r>
              <a:rPr lang="en-US" sz="4176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Impact: Our model must be robust enough to accurately distinguish between these different categories to provide reliable health alerts.</a:t>
            </a:r>
          </a:p>
          <a:p>
            <a:pPr algn="ctr">
              <a:lnSpc>
                <a:spcPts val="797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147379">
            <a:off x="375783" y="5825145"/>
            <a:ext cx="3960572" cy="4114800"/>
          </a:xfrm>
          <a:custGeom>
            <a:avLst/>
            <a:gdLst/>
            <a:ahLst/>
            <a:cxnLst/>
            <a:rect r="r" b="b" t="t" l="l"/>
            <a:pathLst>
              <a:path h="4114800" w="3960572">
                <a:moveTo>
                  <a:pt x="0" y="0"/>
                </a:moveTo>
                <a:lnTo>
                  <a:pt x="3960572" y="0"/>
                </a:lnTo>
                <a:lnTo>
                  <a:pt x="3960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3172" y="311502"/>
            <a:ext cx="12885329" cy="9663997"/>
          </a:xfrm>
          <a:custGeom>
            <a:avLst/>
            <a:gdLst/>
            <a:ahLst/>
            <a:cxnLst/>
            <a:rect r="r" b="b" t="t" l="l"/>
            <a:pathLst>
              <a:path h="9663997" w="12885329">
                <a:moveTo>
                  <a:pt x="0" y="0"/>
                </a:moveTo>
                <a:lnTo>
                  <a:pt x="12885330" y="0"/>
                </a:lnTo>
                <a:lnTo>
                  <a:pt x="12885330" y="9663996"/>
                </a:lnTo>
                <a:lnTo>
                  <a:pt x="0" y="9663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1636" y="-199304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4"/>
                </a:lnTo>
                <a:lnTo>
                  <a:pt x="0" y="2941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9560">
            <a:off x="15265609" y="7918098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2756" y="2694849"/>
            <a:ext cx="17865244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Understanding Influencers: 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This heatmap illustrates how each variable correlates with the Air Quality Category.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Pollutant Impact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High positive values for PM2.5, PM10, and CO (around 0.52) confirm they are the primary drivers of poor air quality.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Weather Factors: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A strong negative correlation with Temperature (-0.61) suggests that colder conditions in Delhi are often associated with higher pollution levels.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Selection Strategy: We selected features with the highest correlation scores to ensure the model focuses on the most relevant data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1189" y="696286"/>
            <a:ext cx="12235225" cy="9176419"/>
          </a:xfrm>
          <a:custGeom>
            <a:avLst/>
            <a:gdLst/>
            <a:ahLst/>
            <a:cxnLst/>
            <a:rect r="r" b="b" t="t" l="l"/>
            <a:pathLst>
              <a:path h="9176419" w="12235225">
                <a:moveTo>
                  <a:pt x="0" y="0"/>
                </a:moveTo>
                <a:lnTo>
                  <a:pt x="12235225" y="0"/>
                </a:lnTo>
                <a:lnTo>
                  <a:pt x="12235225" y="9176419"/>
                </a:lnTo>
                <a:lnTo>
                  <a:pt x="0" y="9176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2694849"/>
            <a:ext cx="18006163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Prediction Accuracy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The Confusion Matrix for the Decision Tree model shows a perfect diagonal alignment.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</a:p>
          <a:p>
            <a:pPr algn="ctr" rtl="true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Interpretation: 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This means the model correctly classified every single instance in</a:t>
            </a:r>
            <a:r>
              <a:rPr lang="ar-EG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</a:t>
            </a:r>
          </a:p>
          <a:p>
            <a:pPr algn="ctr" rtl="true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test set without any misclassifications between the AQI categories</a:t>
            </a:r>
            <a:r>
              <a:rPr lang="ar-EG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.</a:t>
            </a:r>
          </a:p>
          <a:p>
            <a:pPr algn="ctr" rtl="true" marL="734059" indent="-367030" lvl="1">
              <a:lnSpc>
                <a:spcPts val="4759"/>
              </a:lnSpc>
              <a:buFont typeface="Arial"/>
              <a:buChar char="•"/>
            </a:pPr>
          </a:p>
          <a:p>
            <a:pPr algn="ctr" rtl="true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Reliability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Such high precision indicates that the features we selected (like PM2.5 and Temperature) provide very clear patterns for the model to distinguish between "Good" and "Severe" air quality</a:t>
            </a:r>
          </a:p>
          <a:p>
            <a:pPr algn="ctr" rtl="true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36735" y="537267"/>
            <a:ext cx="11334163" cy="4770638"/>
          </a:xfrm>
          <a:custGeom>
            <a:avLst/>
            <a:gdLst/>
            <a:ahLst/>
            <a:cxnLst/>
            <a:rect r="r" b="b" t="t" l="l"/>
            <a:pathLst>
              <a:path h="4770638" w="11334163">
                <a:moveTo>
                  <a:pt x="0" y="0"/>
                </a:moveTo>
                <a:lnTo>
                  <a:pt x="11334163" y="0"/>
                </a:lnTo>
                <a:lnTo>
                  <a:pt x="11334163" y="4770638"/>
                </a:lnTo>
                <a:lnTo>
                  <a:pt x="0" y="4770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953545"/>
            <a:ext cx="16399693" cy="293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676"/>
              </a:lnSpc>
            </a:pPr>
          </a:p>
          <a:p>
            <a:pPr algn="ctr">
              <a:lnSpc>
                <a:spcPts val="4676"/>
              </a:lnSpc>
            </a:pPr>
            <a:r>
              <a:rPr lang="en-US" b="true" sz="3340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Data Ingestion</a:t>
            </a:r>
            <a:r>
              <a:rPr lang="en-US" sz="334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Reading the dataset and checking its dimensions.</a:t>
            </a:r>
          </a:p>
          <a:p>
            <a:pPr algn="ctr" rtl="true">
              <a:lnSpc>
                <a:spcPts val="4676"/>
              </a:lnSpc>
            </a:pPr>
          </a:p>
          <a:p>
            <a:pPr algn="ctr" rtl="true">
              <a:lnSpc>
                <a:spcPts val="4676"/>
              </a:lnSpc>
            </a:pPr>
            <a:r>
              <a:rPr lang="en-US" b="true" sz="3340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Exploratory Data Analysis (EDA)</a:t>
            </a:r>
            <a:r>
              <a:rPr lang="en-US" sz="334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Checking for null values and visualizing the distribution of the target variable (aqi_category)</a:t>
            </a:r>
            <a:r>
              <a:rPr lang="ar-EG" sz="334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04969" y="876062"/>
            <a:ext cx="13765929" cy="4267438"/>
          </a:xfrm>
          <a:custGeom>
            <a:avLst/>
            <a:gdLst/>
            <a:ahLst/>
            <a:cxnLst/>
            <a:rect r="r" b="b" t="t" l="l"/>
            <a:pathLst>
              <a:path h="4267438" w="13765929">
                <a:moveTo>
                  <a:pt x="0" y="0"/>
                </a:moveTo>
                <a:lnTo>
                  <a:pt x="13765929" y="0"/>
                </a:lnTo>
                <a:lnTo>
                  <a:pt x="13765929" y="4267438"/>
                </a:lnTo>
                <a:lnTo>
                  <a:pt x="0" y="426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5783" y="6581449"/>
            <a:ext cx="17912217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Cleaning: Removing time-related columns that are not needed for the classification task.</a:t>
            </a:r>
          </a:p>
          <a:p>
            <a:pPr algn="ctr" rtl="true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Feature Encoding: Using LabelEncoder to transform categorical text labels into numerical format for the model</a:t>
            </a:r>
            <a:r>
              <a:rPr lang="ar-EG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.</a:t>
            </a:r>
          </a:p>
          <a:p>
            <a:pPr algn="ctr" rtl="true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07905" y="0"/>
            <a:ext cx="13060945" cy="5665185"/>
          </a:xfrm>
          <a:custGeom>
            <a:avLst/>
            <a:gdLst/>
            <a:ahLst/>
            <a:cxnLst/>
            <a:rect r="r" b="b" t="t" l="l"/>
            <a:pathLst>
              <a:path h="5665185" w="13060945">
                <a:moveTo>
                  <a:pt x="0" y="0"/>
                </a:moveTo>
                <a:lnTo>
                  <a:pt x="13060945" y="0"/>
                </a:lnTo>
                <a:lnTo>
                  <a:pt x="13060945" y="5665185"/>
                </a:lnTo>
                <a:lnTo>
                  <a:pt x="0" y="5665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6871415"/>
            <a:ext cx="18580833" cy="245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9119" indent="-379559" lvl="1">
              <a:lnSpc>
                <a:spcPts val="4922"/>
              </a:lnSpc>
              <a:buFont typeface="Arial"/>
              <a:buChar char="•"/>
            </a:pPr>
            <a:r>
              <a:rPr lang="en-US" b="true" sz="3516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Feature Importance</a:t>
            </a:r>
            <a:r>
              <a:rPr lang="en-US" sz="3516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Using a heatmap to confirm correlations with the target.</a:t>
            </a:r>
          </a:p>
          <a:p>
            <a:pPr algn="ctr" marL="759119" indent="-379559" lvl="1">
              <a:lnSpc>
                <a:spcPts val="4922"/>
              </a:lnSpc>
              <a:buFont typeface="Arial"/>
              <a:buChar char="•"/>
            </a:pPr>
            <a:r>
              <a:rPr lang="en-US" b="true" sz="3516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Scaling:</a:t>
            </a:r>
            <a:r>
              <a:rPr lang="en-US" sz="3516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  Applying StandardScaler to normalize the data ranges.</a:t>
            </a:r>
          </a:p>
          <a:p>
            <a:pPr algn="ctr" marL="759119" indent="-379559" lvl="1">
              <a:lnSpc>
                <a:spcPts val="4922"/>
              </a:lnSpc>
              <a:buFont typeface="Arial"/>
              <a:buChar char="•"/>
            </a:pPr>
            <a:r>
              <a:rPr lang="en-US" b="true" sz="3516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Splitting: </a:t>
            </a:r>
            <a:r>
              <a:rPr lang="en-US" sz="3516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Dividing the dataset into 80% training and 20% testing sets.</a:t>
            </a:r>
          </a:p>
          <a:p>
            <a:pPr algn="ctr" marL="759119" indent="-379559" lvl="1">
              <a:lnSpc>
                <a:spcPts val="4922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65263"/>
            <a:ext cx="9965628" cy="6760522"/>
          </a:xfrm>
          <a:custGeom>
            <a:avLst/>
            <a:gdLst/>
            <a:ahLst/>
            <a:cxnLst/>
            <a:rect r="r" b="b" t="t" l="l"/>
            <a:pathLst>
              <a:path h="6760522" w="9965628">
                <a:moveTo>
                  <a:pt x="0" y="0"/>
                </a:moveTo>
                <a:lnTo>
                  <a:pt x="9965628" y="0"/>
                </a:lnTo>
                <a:lnTo>
                  <a:pt x="9965628" y="6760522"/>
                </a:lnTo>
                <a:lnTo>
                  <a:pt x="0" y="67605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68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39249" y="4879567"/>
            <a:ext cx="8753580" cy="508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8"/>
              </a:lnSpc>
            </a:pPr>
            <a:r>
              <a:rPr lang="en-US" sz="2891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Model Selection: Using a variety of algorithms (Linear, Tree-based, and Ensemble) to compare their predictive power.</a:t>
            </a:r>
          </a:p>
          <a:p>
            <a:pPr algn="ctr">
              <a:lnSpc>
                <a:spcPts val="4048"/>
              </a:lnSpc>
            </a:pPr>
            <a:r>
              <a:rPr lang="en-US" sz="2891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Automated Workflow: Implementing a loop to train each model on the training set and generate predictions on the test set.</a:t>
            </a:r>
          </a:p>
          <a:p>
            <a:pPr algn="ctr">
              <a:lnSpc>
                <a:spcPts val="4048"/>
              </a:lnSpc>
            </a:pPr>
            <a:r>
              <a:rPr lang="en-US" sz="2891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Efficiency: This approach allows us to evaluate multiple strategies simultaneously under the same conditions</a:t>
            </a:r>
          </a:p>
          <a:p>
            <a:pPr algn="ctr">
              <a:lnSpc>
                <a:spcPts val="4048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64413" y="1153926"/>
            <a:ext cx="12868599" cy="7710669"/>
          </a:xfrm>
          <a:custGeom>
            <a:avLst/>
            <a:gdLst/>
            <a:ahLst/>
            <a:cxnLst/>
            <a:rect r="r" b="b" t="t" l="l"/>
            <a:pathLst>
              <a:path h="7710669" w="12868599">
                <a:moveTo>
                  <a:pt x="0" y="0"/>
                </a:moveTo>
                <a:lnTo>
                  <a:pt x="12868599" y="0"/>
                </a:lnTo>
                <a:lnTo>
                  <a:pt x="12868599" y="7710669"/>
                </a:lnTo>
                <a:lnTo>
                  <a:pt x="0" y="77106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015033"/>
            <a:ext cx="16190737" cy="424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754" indent="-393877" lvl="1">
              <a:lnSpc>
                <a:spcPts val="3648"/>
              </a:lnSpc>
              <a:buFont typeface="Arial"/>
              <a:buChar char="•"/>
            </a:pPr>
            <a:r>
              <a:rPr lang="en-US" b="true" sz="3648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Performance Assessment</a:t>
            </a:r>
            <a:r>
              <a:rPr lang="en-US" sz="364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Using the Confusion Matrix to see exactly where the model succeeded or struggled in classifying air quality.</a:t>
            </a:r>
          </a:p>
          <a:p>
            <a:pPr algn="l" marL="787754" indent="-393877" lvl="1">
              <a:lnSpc>
                <a:spcPts val="3648"/>
              </a:lnSpc>
              <a:buFont typeface="Arial"/>
              <a:buChar char="•"/>
            </a:pPr>
          </a:p>
          <a:p>
            <a:pPr algn="l" marL="787754" indent="-393877" lvl="1">
              <a:lnSpc>
                <a:spcPts val="3648"/>
              </a:lnSpc>
              <a:buFont typeface="Arial"/>
              <a:buChar char="•"/>
            </a:pPr>
            <a:r>
              <a:rPr lang="en-US" b="true" sz="3648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Accuracy Comparison</a:t>
            </a:r>
            <a:r>
              <a:rPr lang="en-US" sz="364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The bar chart visualizes the performance of all models, clearly highlighting the most effective one.</a:t>
            </a:r>
          </a:p>
          <a:p>
            <a:pPr algn="l" marL="787754" indent="-393877" lvl="1">
              <a:lnSpc>
                <a:spcPts val="3648"/>
              </a:lnSpc>
              <a:buFont typeface="Arial"/>
              <a:buChar char="•"/>
            </a:pPr>
          </a:p>
          <a:p>
            <a:pPr algn="l" marL="830931" indent="-415466" lvl="1">
              <a:lnSpc>
                <a:spcPts val="3848"/>
              </a:lnSpc>
              <a:buFont typeface="Arial"/>
              <a:buChar char="•"/>
            </a:pPr>
            <a:r>
              <a:rPr lang="en-US" b="true" sz="3848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Final Conclusion</a:t>
            </a:r>
            <a:r>
              <a:rPr lang="en-US" sz="384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Random Forest emerged as the best performer, providing the highest accuracy for Delhi's complex air quality patterns.</a:t>
            </a:r>
          </a:p>
          <a:p>
            <a:pPr algn="l">
              <a:lnSpc>
                <a:spcPts val="399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39560">
            <a:off x="-799107" y="8229600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20632" y="-453672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18556" y="0"/>
            <a:ext cx="10140744" cy="6933734"/>
          </a:xfrm>
          <a:custGeom>
            <a:avLst/>
            <a:gdLst/>
            <a:ahLst/>
            <a:cxnLst/>
            <a:rect r="r" b="b" t="t" l="l"/>
            <a:pathLst>
              <a:path h="6933734" w="10140744">
                <a:moveTo>
                  <a:pt x="0" y="0"/>
                </a:moveTo>
                <a:lnTo>
                  <a:pt x="10140744" y="0"/>
                </a:lnTo>
                <a:lnTo>
                  <a:pt x="10140744" y="6933734"/>
                </a:lnTo>
                <a:lnTo>
                  <a:pt x="0" y="6933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7128272"/>
            <a:ext cx="1617422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Description: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This figure shows the distribution of AQI categories in the dataset. It helps identify whether the dataset is balanced or imbalanced across different air quality levels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4338" y="2899877"/>
            <a:ext cx="664421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XM Vahid Bold"/>
                <a:ea typeface="XM Vahid Bold"/>
                <a:cs typeface="XM Vahid Bold"/>
                <a:sym typeface="XM Vahid Bold"/>
              </a:rPr>
              <a:t> Exploratory Data Analysis (EDA)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6034" y="1373526"/>
            <a:ext cx="8552816" cy="5858679"/>
          </a:xfrm>
          <a:custGeom>
            <a:avLst/>
            <a:gdLst/>
            <a:ahLst/>
            <a:cxnLst/>
            <a:rect r="r" b="b" t="t" l="l"/>
            <a:pathLst>
              <a:path h="5858679" w="8552816">
                <a:moveTo>
                  <a:pt x="0" y="0"/>
                </a:moveTo>
                <a:lnTo>
                  <a:pt x="8552816" y="0"/>
                </a:lnTo>
                <a:lnTo>
                  <a:pt x="8552816" y="5858679"/>
                </a:lnTo>
                <a:lnTo>
                  <a:pt x="0" y="585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91325" y="519320"/>
            <a:ext cx="9294019" cy="63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4"/>
              </a:lnSpc>
              <a:spcBef>
                <a:spcPct val="0"/>
              </a:spcBef>
            </a:pPr>
            <a:r>
              <a:rPr lang="en-US" sz="4734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 Dimensionality Reduction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70898" y="7451805"/>
            <a:ext cx="2995904" cy="3230877"/>
          </a:xfrm>
          <a:custGeom>
            <a:avLst/>
            <a:gdLst/>
            <a:ahLst/>
            <a:cxnLst/>
            <a:rect r="r" b="b" t="t" l="l"/>
            <a:pathLst>
              <a:path h="3230877" w="2995904">
                <a:moveTo>
                  <a:pt x="0" y="0"/>
                </a:moveTo>
                <a:lnTo>
                  <a:pt x="2995904" y="0"/>
                </a:lnTo>
                <a:lnTo>
                  <a:pt x="2995904" y="3230877"/>
                </a:lnTo>
                <a:lnTo>
                  <a:pt x="0" y="323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39238" y="1285875"/>
            <a:ext cx="9525" cy="18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3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8077835"/>
            <a:ext cx="1738472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Description: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This figure shows how much variance is explained by each principal component. It helps in reducing dimensionality while preserving important information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94010" y="1329635"/>
            <a:ext cx="9522910" cy="5701842"/>
          </a:xfrm>
          <a:custGeom>
            <a:avLst/>
            <a:gdLst/>
            <a:ahLst/>
            <a:cxnLst/>
            <a:rect r="r" b="b" t="t" l="l"/>
            <a:pathLst>
              <a:path h="5701842" w="9522910">
                <a:moveTo>
                  <a:pt x="0" y="0"/>
                </a:moveTo>
                <a:lnTo>
                  <a:pt x="9522910" y="0"/>
                </a:lnTo>
                <a:lnTo>
                  <a:pt x="9522910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83236" y="6639229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5"/>
                </a:lnTo>
                <a:lnTo>
                  <a:pt x="0" y="3215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94914" y="519320"/>
            <a:ext cx="12602766" cy="63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4"/>
              </a:lnSpc>
              <a:spcBef>
                <a:spcPct val="0"/>
              </a:spcBef>
            </a:pPr>
            <a:r>
              <a:rPr lang="en-US" sz="4734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Feature Importance (Random Forest)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25428" y="8180151"/>
            <a:ext cx="1738472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Description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This figure shows the importance of each feature in predicting AQI. Pollutants like PM2.5 and PM10 have the highest impact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83236" y="6639229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5"/>
                </a:lnTo>
                <a:lnTo>
                  <a:pt x="0" y="3215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04484" y="1530680"/>
            <a:ext cx="8796150" cy="5816454"/>
          </a:xfrm>
          <a:custGeom>
            <a:avLst/>
            <a:gdLst/>
            <a:ahLst/>
            <a:cxnLst/>
            <a:rect r="r" b="b" t="t" l="l"/>
            <a:pathLst>
              <a:path h="5816454" w="8796150">
                <a:moveTo>
                  <a:pt x="0" y="0"/>
                </a:moveTo>
                <a:lnTo>
                  <a:pt x="8796150" y="0"/>
                </a:lnTo>
                <a:lnTo>
                  <a:pt x="8796150" y="5816454"/>
                </a:lnTo>
                <a:lnTo>
                  <a:pt x="0" y="5816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17280" y="784422"/>
            <a:ext cx="11840766" cy="56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4234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 Decision Tree – Max Depth vs Accuracy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7666436"/>
            <a:ext cx="1739551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Description: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Shows how changing tree depth affects model performance and helps control overfitting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83236" y="6639229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5"/>
                </a:lnTo>
                <a:lnTo>
                  <a:pt x="0" y="3215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61043" y="1586625"/>
            <a:ext cx="6855877" cy="7113750"/>
          </a:xfrm>
          <a:custGeom>
            <a:avLst/>
            <a:gdLst/>
            <a:ahLst/>
            <a:cxnLst/>
            <a:rect r="r" b="b" t="t" l="l"/>
            <a:pathLst>
              <a:path h="7113750" w="6855877">
                <a:moveTo>
                  <a:pt x="0" y="0"/>
                </a:moveTo>
                <a:lnTo>
                  <a:pt x="6855877" y="0"/>
                </a:lnTo>
                <a:lnTo>
                  <a:pt x="6855877" y="7113750"/>
                </a:lnTo>
                <a:lnTo>
                  <a:pt x="0" y="7113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15337" y="481971"/>
            <a:ext cx="13818989" cy="97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b="true" sz="5700">
                <a:solidFill>
                  <a:srgbClr val="000000"/>
                </a:solidFill>
                <a:latin typeface="Droid Arabic Naskh Bold"/>
                <a:ea typeface="Droid Arabic Naskh Bold"/>
                <a:cs typeface="Droid Arabic Naskh Bold"/>
                <a:sym typeface="Droid Arabic Naskh Bold"/>
              </a:rPr>
              <a:t> KNN – Different K Values Comparison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1850" y="4749508"/>
            <a:ext cx="1009000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Description: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Compares performance across different K values.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83236" y="6639229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5"/>
                </a:lnTo>
                <a:lnTo>
                  <a:pt x="0" y="3215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76350" y="1755331"/>
            <a:ext cx="8295841" cy="6491496"/>
          </a:xfrm>
          <a:custGeom>
            <a:avLst/>
            <a:gdLst/>
            <a:ahLst/>
            <a:cxnLst/>
            <a:rect r="r" b="b" t="t" l="l"/>
            <a:pathLst>
              <a:path h="6491496" w="8295841">
                <a:moveTo>
                  <a:pt x="0" y="0"/>
                </a:moveTo>
                <a:lnTo>
                  <a:pt x="8295841" y="0"/>
                </a:lnTo>
                <a:lnTo>
                  <a:pt x="8295841" y="6491495"/>
                </a:lnTo>
                <a:lnTo>
                  <a:pt x="0" y="64914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00109" y="879485"/>
            <a:ext cx="13687782" cy="63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4"/>
              </a:lnSpc>
              <a:spcBef>
                <a:spcPct val="0"/>
              </a:spcBef>
            </a:pPr>
            <a:r>
              <a:rPr lang="en-US" sz="4734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 KNN – Optimal Number of Neighbors (K)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910"/>
            <a:ext cx="145724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Description: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Shows relationship between K value and model accuracy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83236" y="6639229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5"/>
                </a:lnTo>
                <a:lnTo>
                  <a:pt x="0" y="3215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22168" y="1761881"/>
            <a:ext cx="8394752" cy="6484946"/>
          </a:xfrm>
          <a:custGeom>
            <a:avLst/>
            <a:gdLst/>
            <a:ahLst/>
            <a:cxnLst/>
            <a:rect r="r" b="b" t="t" l="l"/>
            <a:pathLst>
              <a:path h="6484946" w="8394752">
                <a:moveTo>
                  <a:pt x="0" y="0"/>
                </a:moveTo>
                <a:lnTo>
                  <a:pt x="8394752" y="0"/>
                </a:lnTo>
                <a:lnTo>
                  <a:pt x="8394752" y="6484945"/>
                </a:lnTo>
                <a:lnTo>
                  <a:pt x="0" y="6484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15337" y="733563"/>
            <a:ext cx="16380137" cy="75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00000"/>
                </a:solidFill>
                <a:latin typeface="Droid Arabic Naskh Bold"/>
                <a:ea typeface="Droid Arabic Naskh Bold"/>
                <a:cs typeface="Droid Arabic Naskh Bold"/>
                <a:sym typeface="Droid Arabic Naskh Bold"/>
              </a:rPr>
              <a:t>: Random Forest – Number of Estimators vs Accuracy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057" y="6572554"/>
            <a:ext cx="886994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Description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Shows how increasing number of trees improves model performance until it stabilizes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1636" y="-316736"/>
            <a:ext cx="2566973" cy="2941323"/>
          </a:xfrm>
          <a:custGeom>
            <a:avLst/>
            <a:gdLst/>
            <a:ahLst/>
            <a:cxnLst/>
            <a:rect r="r" b="b" t="t" l="l"/>
            <a:pathLst>
              <a:path h="2941323" w="2566973">
                <a:moveTo>
                  <a:pt x="0" y="0"/>
                </a:moveTo>
                <a:lnTo>
                  <a:pt x="2566973" y="0"/>
                </a:lnTo>
                <a:lnTo>
                  <a:pt x="2566973" y="2941323"/>
                </a:lnTo>
                <a:lnTo>
                  <a:pt x="0" y="294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83236" y="6639229"/>
            <a:ext cx="3467368" cy="3215196"/>
          </a:xfrm>
          <a:custGeom>
            <a:avLst/>
            <a:gdLst/>
            <a:ahLst/>
            <a:cxnLst/>
            <a:rect r="r" b="b" t="t" l="l"/>
            <a:pathLst>
              <a:path h="3215196" w="3467368">
                <a:moveTo>
                  <a:pt x="0" y="0"/>
                </a:moveTo>
                <a:lnTo>
                  <a:pt x="3467368" y="0"/>
                </a:lnTo>
                <a:lnTo>
                  <a:pt x="3467368" y="3215195"/>
                </a:lnTo>
                <a:lnTo>
                  <a:pt x="0" y="3215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52051" y="1233377"/>
            <a:ext cx="6671544" cy="7013449"/>
          </a:xfrm>
          <a:custGeom>
            <a:avLst/>
            <a:gdLst/>
            <a:ahLst/>
            <a:cxnLst/>
            <a:rect r="r" b="b" t="t" l="l"/>
            <a:pathLst>
              <a:path h="7013449" w="6671544">
                <a:moveTo>
                  <a:pt x="0" y="0"/>
                </a:moveTo>
                <a:lnTo>
                  <a:pt x="6671544" y="0"/>
                </a:lnTo>
                <a:lnTo>
                  <a:pt x="6671544" y="7013449"/>
                </a:lnTo>
                <a:lnTo>
                  <a:pt x="0" y="7013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58405" y="134439"/>
            <a:ext cx="12493823" cy="13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b="true" sz="7900">
                <a:solidFill>
                  <a:srgbClr val="000000"/>
                </a:solidFill>
                <a:latin typeface="Droid Arabic Naskh Bold"/>
                <a:ea typeface="Droid Arabic Naskh Bold"/>
                <a:cs typeface="Droid Arabic Naskh Bold"/>
                <a:sym typeface="Droid Arabic Naskh Bold"/>
              </a:rPr>
              <a:t> SVM Kernel Comparison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134" y="6946536"/>
            <a:ext cx="1046702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Description:</a:t>
            </a:r>
            <a:r>
              <a:rPr lang="en-US" sz="3399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This figure illustrates the comparison between different SVM kernels: Linear, RBF, and Polynomial.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7412">
            <a:off x="-200900" y="6314284"/>
            <a:ext cx="4059295" cy="4326768"/>
          </a:xfrm>
          <a:custGeom>
            <a:avLst/>
            <a:gdLst/>
            <a:ahLst/>
            <a:cxnLst/>
            <a:rect r="r" b="b" t="t" l="l"/>
            <a:pathLst>
              <a:path h="4326768" w="4059295">
                <a:moveTo>
                  <a:pt x="0" y="0"/>
                </a:moveTo>
                <a:lnTo>
                  <a:pt x="4059296" y="0"/>
                </a:lnTo>
                <a:lnTo>
                  <a:pt x="4059296" y="4326769"/>
                </a:lnTo>
                <a:lnTo>
                  <a:pt x="0" y="4326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76979">
            <a:off x="14931017" y="-254132"/>
            <a:ext cx="3691690" cy="3823784"/>
          </a:xfrm>
          <a:custGeom>
            <a:avLst/>
            <a:gdLst/>
            <a:ahLst/>
            <a:cxnLst/>
            <a:rect r="r" b="b" t="t" l="l"/>
            <a:pathLst>
              <a:path h="3823784" w="3691690">
                <a:moveTo>
                  <a:pt x="0" y="0"/>
                </a:moveTo>
                <a:lnTo>
                  <a:pt x="3691690" y="0"/>
                </a:lnTo>
                <a:lnTo>
                  <a:pt x="3691690" y="3823784"/>
                </a:lnTo>
                <a:lnTo>
                  <a:pt x="0" y="382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84494">
            <a:off x="425411" y="433286"/>
            <a:ext cx="3466502" cy="3182879"/>
          </a:xfrm>
          <a:custGeom>
            <a:avLst/>
            <a:gdLst/>
            <a:ahLst/>
            <a:cxnLst/>
            <a:rect r="r" b="b" t="t" l="l"/>
            <a:pathLst>
              <a:path h="3182879" w="3466502">
                <a:moveTo>
                  <a:pt x="0" y="0"/>
                </a:moveTo>
                <a:lnTo>
                  <a:pt x="3466502" y="0"/>
                </a:lnTo>
                <a:lnTo>
                  <a:pt x="3466502" y="3182880"/>
                </a:lnTo>
                <a:lnTo>
                  <a:pt x="0" y="3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3242">
            <a:off x="14628762" y="6507084"/>
            <a:ext cx="3246709" cy="3258558"/>
          </a:xfrm>
          <a:custGeom>
            <a:avLst/>
            <a:gdLst/>
            <a:ahLst/>
            <a:cxnLst/>
            <a:rect r="r" b="b" t="t" l="l"/>
            <a:pathLst>
              <a:path h="3258558" w="3246709">
                <a:moveTo>
                  <a:pt x="0" y="0"/>
                </a:moveTo>
                <a:lnTo>
                  <a:pt x="3246708" y="0"/>
                </a:lnTo>
                <a:lnTo>
                  <a:pt x="3246708" y="3258557"/>
                </a:lnTo>
                <a:lnTo>
                  <a:pt x="0" y="3258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99411" y="3489883"/>
            <a:ext cx="8889178" cy="3564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32"/>
              </a:lnSpc>
            </a:pPr>
            <a:r>
              <a:rPr lang="en-US" sz="13732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Thank</a:t>
            </a:r>
          </a:p>
          <a:p>
            <a:pPr algn="ctr">
              <a:lnSpc>
                <a:spcPts val="13732"/>
              </a:lnSpc>
            </a:pPr>
            <a:r>
              <a:rPr lang="en-US" sz="13732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DAHH_DlxxMs</dc:identifier>
  <dcterms:modified xsi:type="dcterms:W3CDTF">2011-08-01T06:04:30Z</dcterms:modified>
  <cp:revision>1</cp:revision>
  <dc:title>Delhi Air Quality Prediction</dc:title>
</cp:coreProperties>
</file>