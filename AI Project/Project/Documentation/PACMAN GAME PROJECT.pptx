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elegraf" charset="1" panose="00000500000000000000"/>
      <p:regular r:id="rId13"/>
    </p:embeddedFont>
    <p:embeddedFont>
      <p:font typeface="Telegraf Heavy" charset="1" panose="00000A00000000000000"/>
      <p:regular r:id="rId14"/>
    </p:embeddedFont>
    <p:embeddedFont>
      <p:font typeface="Telegraf Bold" charset="1" panose="00000800000000000000"/>
      <p:regular r:id="rId15"/>
    </p:embeddedFont>
    <p:embeddedFont>
      <p:font typeface="Telegraf Medium" charset="1" panose="00000600000000000000"/>
      <p:regular r:id="rId16"/>
    </p:embeddedFont>
    <p:embeddedFont>
      <p:font typeface="Telegraf Extra-Light" charset="1" panose="000003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24297" y="2720635"/>
            <a:ext cx="1329416" cy="1448593"/>
            <a:chOff x="0" y="0"/>
            <a:chExt cx="350134" cy="3815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0134" cy="381522"/>
            </a:xfrm>
            <a:custGeom>
              <a:avLst/>
              <a:gdLst/>
              <a:ahLst/>
              <a:cxnLst/>
              <a:rect r="r" b="b" t="t" l="l"/>
              <a:pathLst>
                <a:path h="381522" w="350134">
                  <a:moveTo>
                    <a:pt x="0" y="0"/>
                  </a:moveTo>
                  <a:lnTo>
                    <a:pt x="350134" y="0"/>
                  </a:lnTo>
                  <a:lnTo>
                    <a:pt x="350134" y="381522"/>
                  </a:lnTo>
                  <a:lnTo>
                    <a:pt x="0" y="3815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4765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50134" cy="419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810307" y="2720635"/>
            <a:ext cx="5743654" cy="574365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24297" y="766151"/>
            <a:ext cx="15462115" cy="870746"/>
            <a:chOff x="0" y="0"/>
            <a:chExt cx="7216575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16575" cy="406400"/>
            </a:xfrm>
            <a:custGeom>
              <a:avLst/>
              <a:gdLst/>
              <a:ahLst/>
              <a:cxnLst/>
              <a:rect r="r" b="b" t="t" l="l"/>
              <a:pathLst>
                <a:path h="406400" w="7216575">
                  <a:moveTo>
                    <a:pt x="7013375" y="0"/>
                  </a:moveTo>
                  <a:cubicBezTo>
                    <a:pt x="7125600" y="0"/>
                    <a:pt x="7216575" y="90976"/>
                    <a:pt x="7216575" y="203200"/>
                  </a:cubicBezTo>
                  <a:cubicBezTo>
                    <a:pt x="7216575" y="315424"/>
                    <a:pt x="7125600" y="406400"/>
                    <a:pt x="701337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39000"/>
                  </a:srgbClr>
                </a:gs>
                <a:gs pos="100000">
                  <a:srgbClr val="9B9B9B">
                    <a:alpha val="10335"/>
                  </a:srgbClr>
                </a:gs>
              </a:gsLst>
              <a:lin ang="0"/>
            </a:gradFill>
            <a:ln w="38100" cap="sq">
              <a:solidFill>
                <a:srgbClr val="5CE1E6">
                  <a:alpha val="38824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7216575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283257" y="990458"/>
            <a:ext cx="416341" cy="422132"/>
            <a:chOff x="0" y="0"/>
            <a:chExt cx="109654" cy="1111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654" cy="111179"/>
            </a:xfrm>
            <a:custGeom>
              <a:avLst/>
              <a:gdLst/>
              <a:ahLst/>
              <a:cxnLst/>
              <a:rect r="r" b="b" t="t" l="l"/>
              <a:pathLst>
                <a:path h="111179" w="109654">
                  <a:moveTo>
                    <a:pt x="0" y="0"/>
                  </a:moveTo>
                  <a:lnTo>
                    <a:pt x="109654" y="0"/>
                  </a:lnTo>
                  <a:lnTo>
                    <a:pt x="109654" y="111179"/>
                  </a:lnTo>
                  <a:lnTo>
                    <a:pt x="0" y="1111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9654" cy="1492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547162" y="8907433"/>
            <a:ext cx="2013598" cy="701734"/>
            <a:chOff x="0" y="0"/>
            <a:chExt cx="530330" cy="1848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0330" cy="184819"/>
            </a:xfrm>
            <a:custGeom>
              <a:avLst/>
              <a:gdLst/>
              <a:ahLst/>
              <a:cxnLst/>
              <a:rect r="r" b="b" t="t" l="l"/>
              <a:pathLst>
                <a:path h="184819" w="530330">
                  <a:moveTo>
                    <a:pt x="0" y="0"/>
                  </a:moveTo>
                  <a:lnTo>
                    <a:pt x="530330" y="0"/>
                  </a:lnTo>
                  <a:lnTo>
                    <a:pt x="530330" y="184819"/>
                  </a:lnTo>
                  <a:lnTo>
                    <a:pt x="0" y="1848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30330" cy="2229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8968598" y="3892138"/>
            <a:ext cx="8996888" cy="20243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969901" y="3190633"/>
            <a:ext cx="7458611" cy="171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7"/>
              </a:lnSpc>
            </a:pPr>
            <a:r>
              <a:rPr lang="en-US" sz="1224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Pacman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827768" y="4807072"/>
            <a:ext cx="7458611" cy="171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7"/>
              </a:lnSpc>
            </a:pPr>
            <a:r>
              <a:rPr lang="en-US" sz="12242" b="true">
                <a:solidFill>
                  <a:srgbClr val="FFFFFF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Game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28995" y="995045"/>
            <a:ext cx="2507341" cy="384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4"/>
              </a:lnSpc>
              <a:spcBef>
                <a:spcPct val="0"/>
              </a:spcBef>
            </a:pPr>
            <a:r>
              <a:rPr lang="en-US" sz="211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Paucek &amp; Lage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621254" y="1044575"/>
            <a:ext cx="1330251" cy="33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Home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870091" y="1044575"/>
            <a:ext cx="1330251" cy="33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 b="true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About Us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467042" y="1044575"/>
            <a:ext cx="1330251" cy="33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 b="true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Project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882037" y="1044575"/>
            <a:ext cx="1330251" cy="33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 b="true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Contact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59897" y="7646642"/>
            <a:ext cx="6054754" cy="42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6"/>
              </a:lnSpc>
              <a:spcBef>
                <a:spcPct val="0"/>
              </a:spcBef>
            </a:pPr>
            <a:r>
              <a:rPr lang="en-US" sz="2304" spc="1316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PRESENTATION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040979" y="9057541"/>
            <a:ext cx="1330251" cy="33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 b="true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Start Slide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3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4297" y="766151"/>
            <a:ext cx="15462115" cy="870746"/>
            <a:chOff x="0" y="0"/>
            <a:chExt cx="7216575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16575" cy="406400"/>
            </a:xfrm>
            <a:custGeom>
              <a:avLst/>
              <a:gdLst/>
              <a:ahLst/>
              <a:cxnLst/>
              <a:rect r="r" b="b" t="t" l="l"/>
              <a:pathLst>
                <a:path h="406400" w="7216575">
                  <a:moveTo>
                    <a:pt x="7013375" y="0"/>
                  </a:moveTo>
                  <a:cubicBezTo>
                    <a:pt x="7125600" y="0"/>
                    <a:pt x="7216575" y="90976"/>
                    <a:pt x="7216575" y="203200"/>
                  </a:cubicBezTo>
                  <a:cubicBezTo>
                    <a:pt x="7216575" y="315424"/>
                    <a:pt x="7125600" y="406400"/>
                    <a:pt x="701337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39000"/>
                  </a:srgbClr>
                </a:gs>
                <a:gs pos="100000">
                  <a:srgbClr val="9B9B9B">
                    <a:alpha val="10335"/>
                  </a:srgbClr>
                </a:gs>
              </a:gsLst>
              <a:lin ang="0"/>
            </a:gradFill>
            <a:ln w="38100" cap="sq">
              <a:solidFill>
                <a:srgbClr val="5CE1E6">
                  <a:alpha val="3882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7216575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83257" y="990458"/>
            <a:ext cx="416341" cy="422132"/>
            <a:chOff x="0" y="0"/>
            <a:chExt cx="109654" cy="1111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654" cy="111179"/>
            </a:xfrm>
            <a:custGeom>
              <a:avLst/>
              <a:gdLst/>
              <a:ahLst/>
              <a:cxnLst/>
              <a:rect r="r" b="b" t="t" l="l"/>
              <a:pathLst>
                <a:path h="111179" w="109654">
                  <a:moveTo>
                    <a:pt x="0" y="0"/>
                  </a:moveTo>
                  <a:lnTo>
                    <a:pt x="109654" y="0"/>
                  </a:lnTo>
                  <a:lnTo>
                    <a:pt x="109654" y="111179"/>
                  </a:lnTo>
                  <a:lnTo>
                    <a:pt x="0" y="1111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9654" cy="1492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47162" y="8907433"/>
            <a:ext cx="2013598" cy="701734"/>
            <a:chOff x="0" y="0"/>
            <a:chExt cx="530330" cy="1848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0330" cy="184819"/>
            </a:xfrm>
            <a:custGeom>
              <a:avLst/>
              <a:gdLst/>
              <a:ahLst/>
              <a:cxnLst/>
              <a:rect r="r" b="b" t="t" l="l"/>
              <a:pathLst>
                <a:path h="184819" w="530330">
                  <a:moveTo>
                    <a:pt x="0" y="0"/>
                  </a:moveTo>
                  <a:lnTo>
                    <a:pt x="530330" y="0"/>
                  </a:lnTo>
                  <a:lnTo>
                    <a:pt x="530330" y="184819"/>
                  </a:lnTo>
                  <a:lnTo>
                    <a:pt x="0" y="1848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30330" cy="2229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67519" y="1815773"/>
            <a:ext cx="1055783" cy="991441"/>
            <a:chOff x="0" y="0"/>
            <a:chExt cx="278066" cy="2611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8066" cy="261120"/>
            </a:xfrm>
            <a:custGeom>
              <a:avLst/>
              <a:gdLst/>
              <a:ahLst/>
              <a:cxnLst/>
              <a:rect r="r" b="b" t="t" l="l"/>
              <a:pathLst>
                <a:path h="261120" w="278066">
                  <a:moveTo>
                    <a:pt x="0" y="0"/>
                  </a:moveTo>
                  <a:lnTo>
                    <a:pt x="278066" y="0"/>
                  </a:lnTo>
                  <a:lnTo>
                    <a:pt x="278066" y="261120"/>
                  </a:lnTo>
                  <a:lnTo>
                    <a:pt x="0" y="2611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78066" cy="299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373747" y="1815773"/>
            <a:ext cx="5743654" cy="574365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2998554" y="2807215"/>
            <a:ext cx="6084851" cy="5941027"/>
          </a:xfrm>
          <a:custGeom>
            <a:avLst/>
            <a:gdLst/>
            <a:ahLst/>
            <a:cxnLst/>
            <a:rect r="r" b="b" t="t" l="l"/>
            <a:pathLst>
              <a:path h="5941027" w="6084851">
                <a:moveTo>
                  <a:pt x="0" y="0"/>
                </a:moveTo>
                <a:lnTo>
                  <a:pt x="6084851" y="0"/>
                </a:lnTo>
                <a:lnTo>
                  <a:pt x="6084851" y="5941027"/>
                </a:lnTo>
                <a:lnTo>
                  <a:pt x="0" y="59410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828995" y="995045"/>
            <a:ext cx="2507341" cy="384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4"/>
              </a:lnSpc>
              <a:spcBef>
                <a:spcPct val="0"/>
              </a:spcBef>
            </a:pPr>
            <a:r>
              <a:rPr lang="en-US" sz="211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Paucek &amp; Lage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21254" y="1044575"/>
            <a:ext cx="1330251" cy="33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870091" y="1044575"/>
            <a:ext cx="1330251" cy="33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 b="true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About Us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467042" y="1044575"/>
            <a:ext cx="1330251" cy="33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 b="true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Project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882037" y="1044575"/>
            <a:ext cx="1330251" cy="33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 b="true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Contact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040979" y="9057541"/>
            <a:ext cx="1330251" cy="33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 b="true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Next Slide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24297" y="2004051"/>
            <a:ext cx="6667542" cy="70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9"/>
              </a:lnSpc>
            </a:pPr>
            <a:r>
              <a:rPr lang="en-US" sz="4907">
                <a:solidFill>
                  <a:srgbClr val="FFFFFF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Project Supervision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828995" y="2757745"/>
            <a:ext cx="6957977" cy="728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3"/>
              </a:lnSpc>
            </a:pPr>
            <a:r>
              <a:rPr lang="en-US" sz="5115" b="true">
                <a:solidFill>
                  <a:srgbClr val="FFFFFF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&amp; Team Members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1484" y="3720739"/>
            <a:ext cx="8326654" cy="159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0"/>
              </a:lnSpc>
            </a:pPr>
            <a:r>
              <a:rPr lang="en-US" sz="4092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Supervised by: </a:t>
            </a:r>
          </a:p>
          <a:p>
            <a:pPr algn="l">
              <a:lnSpc>
                <a:spcPts val="4010"/>
              </a:lnSpc>
            </a:pPr>
          </a:p>
          <a:p>
            <a:pPr algn="l" marL="883609" indent="-441804" lvl="1">
              <a:lnSpc>
                <a:spcPts val="4010"/>
              </a:lnSpc>
              <a:buFont typeface="Arial"/>
              <a:buChar char="•"/>
            </a:pPr>
            <a:r>
              <a:rPr lang="en-US" sz="409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Dr. Mahmoud Bassiuoni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1484" y="5463863"/>
            <a:ext cx="7762363" cy="4277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6"/>
              </a:lnSpc>
            </a:pPr>
          </a:p>
          <a:p>
            <a:pPr algn="l">
              <a:lnSpc>
                <a:spcPts val="3716"/>
              </a:lnSpc>
            </a:pPr>
            <a:r>
              <a:rPr lang="en-US" sz="3792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</a:t>
            </a:r>
            <a:r>
              <a:rPr lang="en-US" sz="3792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eaching Assistants:</a:t>
            </a:r>
          </a:p>
          <a:p>
            <a:pPr algn="l">
              <a:lnSpc>
                <a:spcPts val="3716"/>
              </a:lnSpc>
            </a:pPr>
            <a:r>
              <a:rPr lang="en-US" sz="379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</a:p>
          <a:p>
            <a:pPr algn="l" marL="818856" indent="-409428" lvl="1">
              <a:lnSpc>
                <a:spcPts val="3716"/>
              </a:lnSpc>
              <a:buFont typeface="Arial"/>
              <a:buChar char="•"/>
            </a:pPr>
            <a:r>
              <a:rPr lang="en-US" sz="379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379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Eng. Mohamed Gaber</a:t>
            </a:r>
          </a:p>
          <a:p>
            <a:pPr algn="l">
              <a:lnSpc>
                <a:spcPts val="3716"/>
              </a:lnSpc>
            </a:pPr>
          </a:p>
          <a:p>
            <a:pPr algn="l" marL="818856" indent="-409428" lvl="1">
              <a:lnSpc>
                <a:spcPts val="3716"/>
              </a:lnSpc>
              <a:buFont typeface="Arial"/>
              <a:buChar char="•"/>
            </a:pPr>
            <a:r>
              <a:rPr lang="en-US" sz="379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Eng. Basma Bassem</a:t>
            </a:r>
          </a:p>
          <a:p>
            <a:pPr algn="l">
              <a:lnSpc>
                <a:spcPts val="3716"/>
              </a:lnSpc>
            </a:pPr>
          </a:p>
          <a:p>
            <a:pPr algn="l">
              <a:lnSpc>
                <a:spcPts val="3716"/>
              </a:lnSpc>
            </a:pPr>
          </a:p>
          <a:p>
            <a:pPr algn="l">
              <a:lnSpc>
                <a:spcPts val="3716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6182498" y="3825103"/>
            <a:ext cx="9063077" cy="381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6"/>
              </a:lnSpc>
            </a:pPr>
            <a:r>
              <a:rPr lang="en-US" sz="3792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Project </a:t>
            </a:r>
            <a:r>
              <a:rPr lang="en-US" sz="3792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</a:t>
            </a:r>
            <a:r>
              <a:rPr lang="en-US" sz="3792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eam Members</a:t>
            </a:r>
          </a:p>
          <a:p>
            <a:pPr algn="l">
              <a:lnSpc>
                <a:spcPts val="3716"/>
              </a:lnSpc>
            </a:pPr>
          </a:p>
          <a:p>
            <a:pPr algn="l" marL="818856" indent="-409428" lvl="1">
              <a:lnSpc>
                <a:spcPts val="3716"/>
              </a:lnSpc>
              <a:buFont typeface="Arial"/>
              <a:buChar char="•"/>
            </a:pPr>
            <a:r>
              <a:rPr lang="en-US" sz="379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Mahmoud Ashry</a:t>
            </a:r>
          </a:p>
          <a:p>
            <a:pPr algn="l">
              <a:lnSpc>
                <a:spcPts val="3716"/>
              </a:lnSpc>
            </a:pPr>
          </a:p>
          <a:p>
            <a:pPr algn="l" marL="818856" indent="-409428" lvl="1">
              <a:lnSpc>
                <a:spcPts val="3716"/>
              </a:lnSpc>
              <a:buFont typeface="Arial"/>
              <a:buChar char="•"/>
            </a:pPr>
            <a:r>
              <a:rPr lang="en-US" sz="379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Sohaila Abdelnasser</a:t>
            </a:r>
          </a:p>
          <a:p>
            <a:pPr algn="l">
              <a:lnSpc>
                <a:spcPts val="3716"/>
              </a:lnSpc>
            </a:pPr>
          </a:p>
          <a:p>
            <a:pPr algn="l" marL="818856" indent="-409428" lvl="1">
              <a:lnSpc>
                <a:spcPts val="3716"/>
              </a:lnSpc>
              <a:buFont typeface="Arial"/>
              <a:buChar char="•"/>
            </a:pPr>
            <a:r>
              <a:rPr lang="en-US" sz="379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Fatma</a:t>
            </a:r>
            <a:r>
              <a:rPr lang="en-US" sz="379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El Zahraa Mohamed </a:t>
            </a:r>
          </a:p>
          <a:p>
            <a:pPr algn="l">
              <a:lnSpc>
                <a:spcPts val="3716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6182498" y="7314005"/>
            <a:ext cx="9063077" cy="147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8856" indent="-409428" lvl="1">
              <a:lnSpc>
                <a:spcPts val="3716"/>
              </a:lnSpc>
              <a:buFont typeface="Arial"/>
              <a:buChar char="•"/>
            </a:pPr>
            <a:r>
              <a:rPr lang="en-US" b="true" sz="379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sz="379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Jumana Hazem</a:t>
            </a:r>
          </a:p>
          <a:p>
            <a:pPr algn="l">
              <a:lnSpc>
                <a:spcPts val="3716"/>
              </a:lnSpc>
            </a:pPr>
          </a:p>
          <a:p>
            <a:pPr algn="l" marL="818856" indent="-409428" lvl="1">
              <a:lnSpc>
                <a:spcPts val="3716"/>
              </a:lnSpc>
              <a:buFont typeface="Arial"/>
              <a:buChar char="•"/>
            </a:pPr>
            <a:r>
              <a:rPr lang="en-US" sz="379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Omar mohamed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182498" y="8943975"/>
            <a:ext cx="9063077" cy="10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8856" indent="-409428" lvl="1">
              <a:lnSpc>
                <a:spcPts val="3716"/>
              </a:lnSpc>
              <a:buFont typeface="Arial"/>
              <a:buChar char="•"/>
            </a:pPr>
            <a:r>
              <a:rPr lang="en-US" sz="379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Hana Mohammed</a:t>
            </a:r>
          </a:p>
          <a:p>
            <a:pPr algn="l">
              <a:lnSpc>
                <a:spcPts val="3716"/>
              </a:lnSpc>
            </a:pP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3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4297" y="766151"/>
            <a:ext cx="15462115" cy="870746"/>
            <a:chOff x="0" y="0"/>
            <a:chExt cx="7216575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16575" cy="406400"/>
            </a:xfrm>
            <a:custGeom>
              <a:avLst/>
              <a:gdLst/>
              <a:ahLst/>
              <a:cxnLst/>
              <a:rect r="r" b="b" t="t" l="l"/>
              <a:pathLst>
                <a:path h="406400" w="7216575">
                  <a:moveTo>
                    <a:pt x="7013375" y="0"/>
                  </a:moveTo>
                  <a:cubicBezTo>
                    <a:pt x="7125600" y="0"/>
                    <a:pt x="7216575" y="90976"/>
                    <a:pt x="7216575" y="203200"/>
                  </a:cubicBezTo>
                  <a:cubicBezTo>
                    <a:pt x="7216575" y="315424"/>
                    <a:pt x="7125600" y="406400"/>
                    <a:pt x="701337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39000"/>
                  </a:srgbClr>
                </a:gs>
                <a:gs pos="100000">
                  <a:srgbClr val="9B9B9B">
                    <a:alpha val="10335"/>
                  </a:srgbClr>
                </a:gs>
              </a:gsLst>
              <a:lin ang="0"/>
            </a:gradFill>
            <a:ln w="38100" cap="sq">
              <a:solidFill>
                <a:srgbClr val="5CE1E6">
                  <a:alpha val="3882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7216575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83257" y="990458"/>
            <a:ext cx="416341" cy="422132"/>
            <a:chOff x="0" y="0"/>
            <a:chExt cx="109654" cy="1111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654" cy="111179"/>
            </a:xfrm>
            <a:custGeom>
              <a:avLst/>
              <a:gdLst/>
              <a:ahLst/>
              <a:cxnLst/>
              <a:rect r="r" b="b" t="t" l="l"/>
              <a:pathLst>
                <a:path h="111179" w="109654">
                  <a:moveTo>
                    <a:pt x="0" y="0"/>
                  </a:moveTo>
                  <a:lnTo>
                    <a:pt x="109654" y="0"/>
                  </a:lnTo>
                  <a:lnTo>
                    <a:pt x="109654" y="111179"/>
                  </a:lnTo>
                  <a:lnTo>
                    <a:pt x="0" y="1111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9654" cy="1492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47162" y="8907433"/>
            <a:ext cx="2013598" cy="701734"/>
            <a:chOff x="0" y="0"/>
            <a:chExt cx="530330" cy="1848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0330" cy="184819"/>
            </a:xfrm>
            <a:custGeom>
              <a:avLst/>
              <a:gdLst/>
              <a:ahLst/>
              <a:cxnLst/>
              <a:rect r="r" b="b" t="t" l="l"/>
              <a:pathLst>
                <a:path h="184819" w="530330">
                  <a:moveTo>
                    <a:pt x="0" y="0"/>
                  </a:moveTo>
                  <a:lnTo>
                    <a:pt x="530330" y="0"/>
                  </a:lnTo>
                  <a:lnTo>
                    <a:pt x="530330" y="184819"/>
                  </a:lnTo>
                  <a:lnTo>
                    <a:pt x="0" y="1848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30330" cy="2229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490870" y="4592627"/>
            <a:ext cx="6416673" cy="3339370"/>
            <a:chOff x="0" y="0"/>
            <a:chExt cx="1689989" cy="8793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89989" cy="879348"/>
            </a:xfrm>
            <a:custGeom>
              <a:avLst/>
              <a:gdLst/>
              <a:ahLst/>
              <a:cxnLst/>
              <a:rect r="r" b="b" t="t" l="l"/>
              <a:pathLst>
                <a:path h="879348" w="1689989">
                  <a:moveTo>
                    <a:pt x="1689989" y="0"/>
                  </a:moveTo>
                  <a:lnTo>
                    <a:pt x="1689989" y="879348"/>
                  </a:lnTo>
                  <a:lnTo>
                    <a:pt x="0" y="879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689989" cy="917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009843" y="3998049"/>
            <a:ext cx="1254150" cy="823179"/>
          </a:xfrm>
          <a:custGeom>
            <a:avLst/>
            <a:gdLst/>
            <a:ahLst/>
            <a:cxnLst/>
            <a:rect r="r" b="b" t="t" l="l"/>
            <a:pathLst>
              <a:path h="823179" w="1254150">
                <a:moveTo>
                  <a:pt x="0" y="0"/>
                </a:moveTo>
                <a:lnTo>
                  <a:pt x="1254150" y="0"/>
                </a:lnTo>
                <a:lnTo>
                  <a:pt x="1254150" y="823178"/>
                </a:lnTo>
                <a:lnTo>
                  <a:pt x="0" y="823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243321" y="5238750"/>
            <a:ext cx="5310244" cy="122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41"/>
              </a:lnSpc>
            </a:pPr>
            <a:r>
              <a:rPr lang="en-US" sz="8716">
                <a:solidFill>
                  <a:srgbClr val="FFFFFF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Project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465681" y="6271837"/>
            <a:ext cx="7581009" cy="1851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14"/>
              </a:lnSpc>
            </a:pPr>
            <a:r>
              <a:rPr lang="en-US" sz="6953" b="true">
                <a:solidFill>
                  <a:srgbClr val="FFFFFF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     Description</a:t>
            </a:r>
          </a:p>
          <a:p>
            <a:pPr algn="l">
              <a:lnSpc>
                <a:spcPts val="6814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154789" y="1626907"/>
            <a:ext cx="5743654" cy="574365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-1519205">
            <a:off x="511469" y="2083156"/>
            <a:ext cx="3442968" cy="2441377"/>
          </a:xfrm>
          <a:custGeom>
            <a:avLst/>
            <a:gdLst/>
            <a:ahLst/>
            <a:cxnLst/>
            <a:rect r="r" b="b" t="t" l="l"/>
            <a:pathLst>
              <a:path h="2441377" w="3442968">
                <a:moveTo>
                  <a:pt x="0" y="0"/>
                </a:moveTo>
                <a:lnTo>
                  <a:pt x="3442968" y="0"/>
                </a:lnTo>
                <a:lnTo>
                  <a:pt x="3442968" y="2441377"/>
                </a:lnTo>
                <a:lnTo>
                  <a:pt x="0" y="24413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828995" y="995045"/>
            <a:ext cx="2507341" cy="384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4"/>
              </a:lnSpc>
              <a:spcBef>
                <a:spcPct val="0"/>
              </a:spcBef>
            </a:pPr>
            <a:r>
              <a:rPr lang="en-US" sz="211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Paucek &amp; Lage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621254" y="1044575"/>
            <a:ext cx="1330251" cy="33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Home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870091" y="1044575"/>
            <a:ext cx="1330251" cy="33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 b="true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About Us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467042" y="1044575"/>
            <a:ext cx="1330251" cy="33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 b="true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Project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882037" y="1044575"/>
            <a:ext cx="1330251" cy="33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 b="true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Contact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040979" y="9057541"/>
            <a:ext cx="1330251" cy="33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 b="true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Next Slide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63040" y="2643850"/>
            <a:ext cx="8002317" cy="6234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48"/>
              </a:lnSpc>
            </a:pPr>
            <a:r>
              <a:rPr lang="en-US" sz="224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Th</a:t>
            </a:r>
            <a:r>
              <a:rPr lang="en-US" sz="224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is project presents a Pacman-inspired game that demonstrates the application of Artificial Intelligence search algorithms in a game environment.</a:t>
            </a:r>
          </a:p>
          <a:p>
            <a:pPr algn="just">
              <a:lnSpc>
                <a:spcPts val="3148"/>
              </a:lnSpc>
            </a:pPr>
            <a:r>
              <a:rPr lang="en-US" sz="224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The game follows a Human vs AI model, where the human player controls Pacman, while the opponent (the ghost) is controlled by an intelligent agent.</a:t>
            </a:r>
          </a:p>
          <a:p>
            <a:pPr algn="just">
              <a:lnSpc>
                <a:spcPts val="3148"/>
              </a:lnSpc>
            </a:pPr>
          </a:p>
          <a:p>
            <a:pPr algn="just">
              <a:lnSpc>
                <a:spcPts val="3148"/>
              </a:lnSpc>
            </a:pPr>
            <a:r>
              <a:rPr lang="en-US" sz="224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The main objective of the game is for the human player to navigate Pacman through a maze, collect all available food pellets, and avoid being caught by the AI-controlled ghost.</a:t>
            </a:r>
          </a:p>
          <a:p>
            <a:pPr algn="just">
              <a:lnSpc>
                <a:spcPts val="3148"/>
              </a:lnSpc>
            </a:pPr>
            <a:r>
              <a:rPr lang="en-US" sz="224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The game ends when either:</a:t>
            </a:r>
          </a:p>
          <a:p>
            <a:pPr algn="just">
              <a:lnSpc>
                <a:spcPts val="3148"/>
              </a:lnSpc>
            </a:pPr>
          </a:p>
          <a:p>
            <a:pPr algn="just">
              <a:lnSpc>
                <a:spcPts val="3148"/>
              </a:lnSpc>
            </a:pPr>
            <a:r>
              <a:rPr lang="en-US" sz="224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Pacman collects all food pellets (win condition), or</a:t>
            </a:r>
          </a:p>
          <a:p>
            <a:pPr algn="just">
              <a:lnSpc>
                <a:spcPts val="3148"/>
              </a:lnSpc>
            </a:pPr>
          </a:p>
          <a:p>
            <a:pPr algn="just">
              <a:lnSpc>
                <a:spcPts val="3148"/>
              </a:lnSpc>
              <a:spcBef>
                <a:spcPct val="0"/>
              </a:spcBef>
            </a:pPr>
            <a:r>
              <a:rPr lang="en-US" sz="224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The ghost catches Pacman (lose condition).</a:t>
            </a:r>
          </a:p>
          <a:p>
            <a:pPr algn="just">
              <a:lnSpc>
                <a:spcPts val="3148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3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4297" y="766151"/>
            <a:ext cx="15462115" cy="870746"/>
            <a:chOff x="0" y="0"/>
            <a:chExt cx="7216575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16575" cy="406400"/>
            </a:xfrm>
            <a:custGeom>
              <a:avLst/>
              <a:gdLst/>
              <a:ahLst/>
              <a:cxnLst/>
              <a:rect r="r" b="b" t="t" l="l"/>
              <a:pathLst>
                <a:path h="406400" w="7216575">
                  <a:moveTo>
                    <a:pt x="7013375" y="0"/>
                  </a:moveTo>
                  <a:cubicBezTo>
                    <a:pt x="7125600" y="0"/>
                    <a:pt x="7216575" y="90976"/>
                    <a:pt x="7216575" y="203200"/>
                  </a:cubicBezTo>
                  <a:cubicBezTo>
                    <a:pt x="7216575" y="315424"/>
                    <a:pt x="7125600" y="406400"/>
                    <a:pt x="701337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39000"/>
                  </a:srgbClr>
                </a:gs>
                <a:gs pos="100000">
                  <a:srgbClr val="9B9B9B">
                    <a:alpha val="10335"/>
                  </a:srgbClr>
                </a:gs>
              </a:gsLst>
              <a:lin ang="0"/>
            </a:gradFill>
            <a:ln w="38100" cap="sq">
              <a:solidFill>
                <a:srgbClr val="5CE1E6">
                  <a:alpha val="3882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7216575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83257" y="990458"/>
            <a:ext cx="416341" cy="422132"/>
            <a:chOff x="0" y="0"/>
            <a:chExt cx="109654" cy="1111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654" cy="111179"/>
            </a:xfrm>
            <a:custGeom>
              <a:avLst/>
              <a:gdLst/>
              <a:ahLst/>
              <a:cxnLst/>
              <a:rect r="r" b="b" t="t" l="l"/>
              <a:pathLst>
                <a:path h="111179" w="109654">
                  <a:moveTo>
                    <a:pt x="0" y="0"/>
                  </a:moveTo>
                  <a:lnTo>
                    <a:pt x="109654" y="0"/>
                  </a:lnTo>
                  <a:lnTo>
                    <a:pt x="109654" y="111179"/>
                  </a:lnTo>
                  <a:lnTo>
                    <a:pt x="0" y="1111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9654" cy="1492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079613" y="9296400"/>
            <a:ext cx="2013598" cy="701734"/>
            <a:chOff x="0" y="0"/>
            <a:chExt cx="530330" cy="1848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0330" cy="184819"/>
            </a:xfrm>
            <a:custGeom>
              <a:avLst/>
              <a:gdLst/>
              <a:ahLst/>
              <a:cxnLst/>
              <a:rect r="r" b="b" t="t" l="l"/>
              <a:pathLst>
                <a:path h="184819" w="530330">
                  <a:moveTo>
                    <a:pt x="0" y="0"/>
                  </a:moveTo>
                  <a:lnTo>
                    <a:pt x="530330" y="0"/>
                  </a:lnTo>
                  <a:lnTo>
                    <a:pt x="530330" y="184819"/>
                  </a:lnTo>
                  <a:lnTo>
                    <a:pt x="0" y="1848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30330" cy="2229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15344" y="1876956"/>
            <a:ext cx="5743654" cy="574365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381313" y="1943631"/>
            <a:ext cx="12990824" cy="1066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6"/>
              </a:lnSpc>
            </a:pPr>
            <a:r>
              <a:rPr lang="en-US" sz="7475">
                <a:solidFill>
                  <a:srgbClr val="FFFFFF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Artificial Intelligence 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058999" y="1803205"/>
            <a:ext cx="938300" cy="845785"/>
            <a:chOff x="0" y="0"/>
            <a:chExt cx="247124" cy="2227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7124" cy="222758"/>
            </a:xfrm>
            <a:custGeom>
              <a:avLst/>
              <a:gdLst/>
              <a:ahLst/>
              <a:cxnLst/>
              <a:rect r="r" b="b" t="t" l="l"/>
              <a:pathLst>
                <a:path h="222758" w="247124">
                  <a:moveTo>
                    <a:pt x="0" y="0"/>
                  </a:moveTo>
                  <a:lnTo>
                    <a:pt x="247124" y="0"/>
                  </a:lnTo>
                  <a:lnTo>
                    <a:pt x="247124" y="222758"/>
                  </a:lnTo>
                  <a:lnTo>
                    <a:pt x="0" y="2227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1430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47124" cy="260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934712" y="2839332"/>
            <a:ext cx="3905319" cy="4114800"/>
          </a:xfrm>
          <a:custGeom>
            <a:avLst/>
            <a:gdLst/>
            <a:ahLst/>
            <a:cxnLst/>
            <a:rect r="r" b="b" t="t" l="l"/>
            <a:pathLst>
              <a:path h="4114800" w="3905319">
                <a:moveTo>
                  <a:pt x="0" y="0"/>
                </a:moveTo>
                <a:lnTo>
                  <a:pt x="3905319" y="0"/>
                </a:lnTo>
                <a:lnTo>
                  <a:pt x="3905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828995" y="995045"/>
            <a:ext cx="2507341" cy="384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4"/>
              </a:lnSpc>
              <a:spcBef>
                <a:spcPct val="0"/>
              </a:spcBef>
            </a:pPr>
            <a:r>
              <a:rPr lang="en-US" sz="211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Paucek &amp; Lage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621254" y="1044575"/>
            <a:ext cx="1330251" cy="33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Home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870091" y="1044575"/>
            <a:ext cx="1330251" cy="33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 b="true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About Us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67042" y="1044575"/>
            <a:ext cx="1330251" cy="33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 b="true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Project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882037" y="1044575"/>
            <a:ext cx="1330251" cy="33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 b="true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Contact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21286" y="9408408"/>
            <a:ext cx="1330251" cy="33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 b="true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Next Slide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728152" y="2915532"/>
            <a:ext cx="11643986" cy="1104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0"/>
              </a:lnSpc>
            </a:pPr>
            <a:r>
              <a:rPr lang="en-US" sz="7786" b="true">
                <a:solidFill>
                  <a:srgbClr val="FFFFFF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&amp; Component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00671" y="3865518"/>
            <a:ext cx="10152109" cy="5877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8906" indent="-239453" lvl="1">
              <a:lnSpc>
                <a:spcPts val="3105"/>
              </a:lnSpc>
              <a:buFont typeface="Arial"/>
              <a:buChar char="•"/>
            </a:pPr>
            <a:r>
              <a:rPr lang="en-US" sz="2218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Th</a:t>
            </a:r>
            <a:r>
              <a:rPr lang="en-US" sz="2218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 ghost in the game is implemented as an AI agent that uses the A* (A-star) search algorithm to chase Pacman efficiently inside the maze.</a:t>
            </a:r>
          </a:p>
          <a:p>
            <a:pPr algn="just">
              <a:lnSpc>
                <a:spcPts val="3105"/>
              </a:lnSpc>
            </a:pPr>
          </a:p>
          <a:p>
            <a:pPr algn="just" marL="478906" indent="-239453" lvl="1">
              <a:lnSpc>
                <a:spcPts val="3105"/>
              </a:lnSpc>
              <a:buFont typeface="Arial"/>
              <a:buChar char="•"/>
            </a:pPr>
            <a:r>
              <a:rPr lang="en-US" sz="2218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Each cell in the maze represents a state.</a:t>
            </a:r>
          </a:p>
          <a:p>
            <a:pPr algn="just">
              <a:lnSpc>
                <a:spcPts val="3105"/>
              </a:lnSpc>
            </a:pPr>
          </a:p>
          <a:p>
            <a:pPr algn="just" marL="478906" indent="-239453" lvl="1">
              <a:lnSpc>
                <a:spcPts val="3105"/>
              </a:lnSpc>
              <a:buFont typeface="Arial"/>
              <a:buChar char="•"/>
            </a:pPr>
            <a:r>
              <a:rPr lang="en-US" sz="2218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Possible actions include moving up, down, left, or right.</a:t>
            </a:r>
          </a:p>
          <a:p>
            <a:pPr algn="just">
              <a:lnSpc>
                <a:spcPts val="3105"/>
              </a:lnSpc>
            </a:pPr>
          </a:p>
          <a:p>
            <a:pPr algn="just" marL="478906" indent="-239453" lvl="1">
              <a:lnSpc>
                <a:spcPts val="3105"/>
              </a:lnSpc>
              <a:buFont typeface="Arial"/>
              <a:buChar char="•"/>
            </a:pPr>
            <a:r>
              <a:rPr lang="en-US" sz="2218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The goal state for the AI is reaching Pacman’s current position.</a:t>
            </a:r>
          </a:p>
          <a:p>
            <a:pPr algn="just">
              <a:lnSpc>
                <a:spcPts val="3105"/>
              </a:lnSpc>
            </a:pPr>
          </a:p>
          <a:p>
            <a:pPr algn="just" marL="478906" indent="-239453" lvl="1">
              <a:lnSpc>
                <a:spcPts val="3105"/>
              </a:lnSpc>
              <a:buFont typeface="Arial"/>
              <a:buChar char="•"/>
            </a:pPr>
            <a:r>
              <a:rPr lang="en-US" sz="2218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The Manhattan distance heuristic is used to estimate the cost from the ghost’s position to Pacman.</a:t>
            </a:r>
          </a:p>
          <a:p>
            <a:pPr algn="just">
              <a:lnSpc>
                <a:spcPts val="3105"/>
              </a:lnSpc>
            </a:pPr>
          </a:p>
          <a:p>
            <a:pPr algn="just" marL="478906" indent="-239453" lvl="1">
              <a:lnSpc>
                <a:spcPts val="3105"/>
              </a:lnSpc>
              <a:buFont typeface="Arial"/>
              <a:buChar char="•"/>
            </a:pPr>
            <a:r>
              <a:rPr lang="en-US" sz="2218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The A* algorithm guarantees finding an optimal or near-optimal path, making the ghost’s behavior intelligent and challenging, especially at higher difficulty levels.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3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4297" y="766151"/>
            <a:ext cx="15462115" cy="870746"/>
            <a:chOff x="0" y="0"/>
            <a:chExt cx="7216575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16575" cy="406400"/>
            </a:xfrm>
            <a:custGeom>
              <a:avLst/>
              <a:gdLst/>
              <a:ahLst/>
              <a:cxnLst/>
              <a:rect r="r" b="b" t="t" l="l"/>
              <a:pathLst>
                <a:path h="406400" w="7216575">
                  <a:moveTo>
                    <a:pt x="7013375" y="0"/>
                  </a:moveTo>
                  <a:cubicBezTo>
                    <a:pt x="7125600" y="0"/>
                    <a:pt x="7216575" y="90976"/>
                    <a:pt x="7216575" y="203200"/>
                  </a:cubicBezTo>
                  <a:cubicBezTo>
                    <a:pt x="7216575" y="315424"/>
                    <a:pt x="7125600" y="406400"/>
                    <a:pt x="701337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39000"/>
                  </a:srgbClr>
                </a:gs>
                <a:gs pos="100000">
                  <a:srgbClr val="9B9B9B">
                    <a:alpha val="10335"/>
                  </a:srgbClr>
                </a:gs>
              </a:gsLst>
              <a:lin ang="0"/>
            </a:gradFill>
            <a:ln w="38100" cap="sq">
              <a:solidFill>
                <a:srgbClr val="5CE1E6">
                  <a:alpha val="3882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7216575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83257" y="990458"/>
            <a:ext cx="416341" cy="422132"/>
            <a:chOff x="0" y="0"/>
            <a:chExt cx="109654" cy="1111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654" cy="111179"/>
            </a:xfrm>
            <a:custGeom>
              <a:avLst/>
              <a:gdLst/>
              <a:ahLst/>
              <a:cxnLst/>
              <a:rect r="r" b="b" t="t" l="l"/>
              <a:pathLst>
                <a:path h="111179" w="109654">
                  <a:moveTo>
                    <a:pt x="0" y="0"/>
                  </a:moveTo>
                  <a:lnTo>
                    <a:pt x="109654" y="0"/>
                  </a:lnTo>
                  <a:lnTo>
                    <a:pt x="109654" y="111179"/>
                  </a:lnTo>
                  <a:lnTo>
                    <a:pt x="0" y="1111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9654" cy="1492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47162" y="9344897"/>
            <a:ext cx="2013598" cy="701734"/>
            <a:chOff x="0" y="0"/>
            <a:chExt cx="530330" cy="1848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0330" cy="184819"/>
            </a:xfrm>
            <a:custGeom>
              <a:avLst/>
              <a:gdLst/>
              <a:ahLst/>
              <a:cxnLst/>
              <a:rect r="r" b="b" t="t" l="l"/>
              <a:pathLst>
                <a:path h="184819" w="530330">
                  <a:moveTo>
                    <a:pt x="0" y="0"/>
                  </a:moveTo>
                  <a:lnTo>
                    <a:pt x="530330" y="0"/>
                  </a:lnTo>
                  <a:lnTo>
                    <a:pt x="530330" y="184819"/>
                  </a:lnTo>
                  <a:lnTo>
                    <a:pt x="0" y="1848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30330" cy="2229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017" y="3292367"/>
            <a:ext cx="6721421" cy="672142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828995" y="2008689"/>
            <a:ext cx="10866005" cy="97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6"/>
              </a:lnSpc>
            </a:pPr>
            <a:r>
              <a:rPr lang="en-US" sz="6894">
                <a:solidFill>
                  <a:srgbClr val="FFFFFF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🎮 Difficulty 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026726" y="5414087"/>
            <a:ext cx="561811" cy="56181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491428" y="1822546"/>
            <a:ext cx="938300" cy="845785"/>
            <a:chOff x="0" y="0"/>
            <a:chExt cx="247124" cy="22275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7124" cy="222758"/>
            </a:xfrm>
            <a:custGeom>
              <a:avLst/>
              <a:gdLst/>
              <a:ahLst/>
              <a:cxnLst/>
              <a:rect r="r" b="b" t="t" l="l"/>
              <a:pathLst>
                <a:path h="222758" w="247124">
                  <a:moveTo>
                    <a:pt x="0" y="0"/>
                  </a:moveTo>
                  <a:lnTo>
                    <a:pt x="247124" y="0"/>
                  </a:lnTo>
                  <a:lnTo>
                    <a:pt x="247124" y="222758"/>
                  </a:lnTo>
                  <a:lnTo>
                    <a:pt x="0" y="2227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1430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47124" cy="260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052448" y="6973339"/>
            <a:ext cx="561811" cy="56181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100073" y="8467226"/>
            <a:ext cx="565886" cy="565886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270961" y="4509532"/>
            <a:ext cx="4317535" cy="4780128"/>
          </a:xfrm>
          <a:custGeom>
            <a:avLst/>
            <a:gdLst/>
            <a:ahLst/>
            <a:cxnLst/>
            <a:rect r="r" b="b" t="t" l="l"/>
            <a:pathLst>
              <a:path h="4780128" w="4317535">
                <a:moveTo>
                  <a:pt x="0" y="0"/>
                </a:moveTo>
                <a:lnTo>
                  <a:pt x="4317535" y="0"/>
                </a:lnTo>
                <a:lnTo>
                  <a:pt x="4317535" y="4780128"/>
                </a:lnTo>
                <a:lnTo>
                  <a:pt x="0" y="4780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828995" y="995045"/>
            <a:ext cx="2507341" cy="384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4"/>
              </a:lnSpc>
              <a:spcBef>
                <a:spcPct val="0"/>
              </a:spcBef>
            </a:pPr>
            <a:r>
              <a:rPr lang="en-US" sz="211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Paucek &amp; Lage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621254" y="1044575"/>
            <a:ext cx="1330251" cy="33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Home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870091" y="1044575"/>
            <a:ext cx="1330251" cy="33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 b="true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About Us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467042" y="1044575"/>
            <a:ext cx="1330251" cy="33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 b="true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Project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882037" y="1044575"/>
            <a:ext cx="1330251" cy="33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 b="true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Contact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040979" y="9437120"/>
            <a:ext cx="1330251" cy="33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 b="true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Next Slide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028772" y="3054242"/>
            <a:ext cx="8653165" cy="100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42"/>
              </a:lnSpc>
            </a:pPr>
            <a:r>
              <a:rPr lang="en-US" sz="7084" b="true">
                <a:solidFill>
                  <a:srgbClr val="FFFFFF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  Levels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536329" y="4148635"/>
            <a:ext cx="12757580" cy="88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2"/>
              </a:lnSpc>
            </a:pPr>
          </a:p>
          <a:p>
            <a:pPr algn="l">
              <a:lnSpc>
                <a:spcPts val="3292"/>
              </a:lnSpc>
            </a:pPr>
            <a:r>
              <a:rPr lang="en-US" sz="3359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Th</a:t>
            </a:r>
            <a:r>
              <a:rPr lang="en-US" sz="3359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e </a:t>
            </a:r>
            <a:r>
              <a:rPr lang="en-US" sz="3359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project is designed using a modular architecture: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030510" y="8460445"/>
            <a:ext cx="8421403" cy="88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2"/>
              </a:lnSpc>
            </a:pPr>
            <a:r>
              <a:rPr lang="en-US" sz="335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This separation improves readability, maintainability, and scalability of the code.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921663" y="5501021"/>
            <a:ext cx="8639098" cy="1294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2"/>
              </a:lnSpc>
            </a:pPr>
            <a:r>
              <a:rPr lang="en-US" sz="335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One module handles the game logic and AI decision-making.</a:t>
            </a:r>
          </a:p>
          <a:p>
            <a:pPr algn="l">
              <a:lnSpc>
                <a:spcPts val="3292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8961009" y="7060272"/>
            <a:ext cx="8997105" cy="88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2"/>
              </a:lnSpc>
            </a:pPr>
            <a:r>
              <a:rPr lang="en-US" sz="335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 separate module manages the graphical user interface (GUI) using Pygame.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3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4297" y="766151"/>
            <a:ext cx="15462115" cy="870746"/>
            <a:chOff x="0" y="0"/>
            <a:chExt cx="7216575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16575" cy="406400"/>
            </a:xfrm>
            <a:custGeom>
              <a:avLst/>
              <a:gdLst/>
              <a:ahLst/>
              <a:cxnLst/>
              <a:rect r="r" b="b" t="t" l="l"/>
              <a:pathLst>
                <a:path h="406400" w="7216575">
                  <a:moveTo>
                    <a:pt x="7013375" y="0"/>
                  </a:moveTo>
                  <a:cubicBezTo>
                    <a:pt x="7125600" y="0"/>
                    <a:pt x="7216575" y="90976"/>
                    <a:pt x="7216575" y="203200"/>
                  </a:cubicBezTo>
                  <a:cubicBezTo>
                    <a:pt x="7216575" y="315424"/>
                    <a:pt x="7125600" y="406400"/>
                    <a:pt x="701337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39000"/>
                  </a:srgbClr>
                </a:gs>
                <a:gs pos="100000">
                  <a:srgbClr val="9B9B9B">
                    <a:alpha val="10335"/>
                  </a:srgbClr>
                </a:gs>
              </a:gsLst>
              <a:lin ang="0"/>
            </a:gradFill>
            <a:ln w="38100" cap="sq">
              <a:solidFill>
                <a:srgbClr val="5CE1E6">
                  <a:alpha val="3882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7216575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83257" y="990458"/>
            <a:ext cx="416341" cy="422132"/>
            <a:chOff x="0" y="0"/>
            <a:chExt cx="109654" cy="1111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654" cy="111179"/>
            </a:xfrm>
            <a:custGeom>
              <a:avLst/>
              <a:gdLst/>
              <a:ahLst/>
              <a:cxnLst/>
              <a:rect r="r" b="b" t="t" l="l"/>
              <a:pathLst>
                <a:path h="111179" w="109654">
                  <a:moveTo>
                    <a:pt x="0" y="0"/>
                  </a:moveTo>
                  <a:lnTo>
                    <a:pt x="109654" y="0"/>
                  </a:lnTo>
                  <a:lnTo>
                    <a:pt x="109654" y="111179"/>
                  </a:lnTo>
                  <a:lnTo>
                    <a:pt x="0" y="1111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9654" cy="1492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47162" y="8907433"/>
            <a:ext cx="2013598" cy="701734"/>
            <a:chOff x="0" y="0"/>
            <a:chExt cx="530330" cy="1848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0330" cy="184819"/>
            </a:xfrm>
            <a:custGeom>
              <a:avLst/>
              <a:gdLst/>
              <a:ahLst/>
              <a:cxnLst/>
              <a:rect r="r" b="b" t="t" l="l"/>
              <a:pathLst>
                <a:path h="184819" w="530330">
                  <a:moveTo>
                    <a:pt x="0" y="0"/>
                  </a:moveTo>
                  <a:lnTo>
                    <a:pt x="530330" y="0"/>
                  </a:lnTo>
                  <a:lnTo>
                    <a:pt x="530330" y="184819"/>
                  </a:lnTo>
                  <a:lnTo>
                    <a:pt x="0" y="1848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30330" cy="2229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52038" y="3863046"/>
            <a:ext cx="5955380" cy="595538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828995" y="2008689"/>
            <a:ext cx="14430305" cy="97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6"/>
              </a:lnSpc>
            </a:pPr>
            <a:r>
              <a:rPr lang="en-US" sz="6894">
                <a:solidFill>
                  <a:srgbClr val="FFFFFF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System 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214199" y="5143500"/>
            <a:ext cx="561811" cy="56181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491428" y="1822546"/>
            <a:ext cx="938300" cy="845785"/>
            <a:chOff x="0" y="0"/>
            <a:chExt cx="247124" cy="22275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7124" cy="222758"/>
            </a:xfrm>
            <a:custGeom>
              <a:avLst/>
              <a:gdLst/>
              <a:ahLst/>
              <a:cxnLst/>
              <a:rect r="r" b="b" t="t" l="l"/>
              <a:pathLst>
                <a:path h="222758" w="247124">
                  <a:moveTo>
                    <a:pt x="0" y="0"/>
                  </a:moveTo>
                  <a:lnTo>
                    <a:pt x="247124" y="0"/>
                  </a:lnTo>
                  <a:lnTo>
                    <a:pt x="247124" y="222758"/>
                  </a:lnTo>
                  <a:lnTo>
                    <a:pt x="0" y="2227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1430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47124" cy="260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214199" y="7958490"/>
            <a:ext cx="565886" cy="565886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214199" y="6559831"/>
            <a:ext cx="561811" cy="56181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2828995" y="5143500"/>
            <a:ext cx="3466484" cy="4423588"/>
          </a:xfrm>
          <a:custGeom>
            <a:avLst/>
            <a:gdLst/>
            <a:ahLst/>
            <a:cxnLst/>
            <a:rect r="r" b="b" t="t" l="l"/>
            <a:pathLst>
              <a:path h="4423588" w="3466484">
                <a:moveTo>
                  <a:pt x="0" y="0"/>
                </a:moveTo>
                <a:lnTo>
                  <a:pt x="3466485" y="0"/>
                </a:lnTo>
                <a:lnTo>
                  <a:pt x="3466485" y="4423588"/>
                </a:lnTo>
                <a:lnTo>
                  <a:pt x="0" y="44235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828995" y="995045"/>
            <a:ext cx="2507341" cy="384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4"/>
              </a:lnSpc>
              <a:spcBef>
                <a:spcPct val="0"/>
              </a:spcBef>
            </a:pPr>
            <a:r>
              <a:rPr lang="en-US" sz="211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Paucek &amp; Lage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621254" y="1044575"/>
            <a:ext cx="1330251" cy="33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Home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870091" y="1044575"/>
            <a:ext cx="1330251" cy="33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 b="true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About Us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467042" y="1044575"/>
            <a:ext cx="1330251" cy="33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 b="true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Project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882037" y="1044575"/>
            <a:ext cx="1330251" cy="33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 b="true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Contact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040979" y="9057541"/>
            <a:ext cx="1330251" cy="33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 b="true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Next Slide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050718" y="2855431"/>
            <a:ext cx="8653165" cy="100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42"/>
              </a:lnSpc>
            </a:pPr>
            <a:r>
              <a:rPr lang="en-US" sz="7084" b="true">
                <a:solidFill>
                  <a:srgbClr val="FFFFFF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 Design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497248" y="3949638"/>
            <a:ext cx="12387767" cy="88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2"/>
              </a:lnSpc>
            </a:pPr>
          </a:p>
          <a:p>
            <a:pPr algn="l">
              <a:lnSpc>
                <a:spcPts val="3292"/>
              </a:lnSpc>
            </a:pPr>
            <a:r>
              <a:rPr lang="en-US" sz="3359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Th</a:t>
            </a:r>
            <a:r>
              <a:rPr lang="en-US" sz="3359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e </a:t>
            </a:r>
            <a:r>
              <a:rPr lang="en-US" sz="3359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project is designed using a modular architecture: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991554" y="8018282"/>
            <a:ext cx="10472188" cy="88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2"/>
              </a:lnSpc>
            </a:pPr>
            <a:r>
              <a:rPr lang="en-US" sz="335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This separation improves readability, maintainability, and scalability of the code.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991554" y="5277372"/>
            <a:ext cx="8049425" cy="88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2"/>
              </a:lnSpc>
            </a:pPr>
            <a:r>
              <a:rPr lang="en-US" sz="335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One module handles the game logic and AI decision-making.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953565" y="6561874"/>
            <a:ext cx="9607195" cy="88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2"/>
              </a:lnSpc>
            </a:pPr>
            <a:r>
              <a:rPr lang="en-US" sz="335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 separate module manages the graphical user interface (GUI) using Pygame.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24297" y="766151"/>
            <a:ext cx="15462115" cy="870746"/>
            <a:chOff x="0" y="0"/>
            <a:chExt cx="7216575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216575" cy="406400"/>
            </a:xfrm>
            <a:custGeom>
              <a:avLst/>
              <a:gdLst/>
              <a:ahLst/>
              <a:cxnLst/>
              <a:rect r="r" b="b" t="t" l="l"/>
              <a:pathLst>
                <a:path h="406400" w="7216575">
                  <a:moveTo>
                    <a:pt x="7013375" y="0"/>
                  </a:moveTo>
                  <a:cubicBezTo>
                    <a:pt x="7125600" y="0"/>
                    <a:pt x="7216575" y="90976"/>
                    <a:pt x="7216575" y="203200"/>
                  </a:cubicBezTo>
                  <a:cubicBezTo>
                    <a:pt x="7216575" y="315424"/>
                    <a:pt x="7125600" y="406400"/>
                    <a:pt x="701337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39000"/>
                  </a:srgbClr>
                </a:gs>
                <a:gs pos="100000">
                  <a:srgbClr val="9B9B9B">
                    <a:alpha val="10335"/>
                  </a:srgbClr>
                </a:gs>
              </a:gsLst>
              <a:lin ang="0"/>
            </a:gradFill>
            <a:ln w="38100" cap="sq">
              <a:solidFill>
                <a:srgbClr val="5CE1E6">
                  <a:alpha val="3882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7216575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283257" y="990458"/>
            <a:ext cx="416341" cy="422132"/>
            <a:chOff x="0" y="0"/>
            <a:chExt cx="109654" cy="1111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654" cy="111179"/>
            </a:xfrm>
            <a:custGeom>
              <a:avLst/>
              <a:gdLst/>
              <a:ahLst/>
              <a:cxnLst/>
              <a:rect r="r" b="b" t="t" l="l"/>
              <a:pathLst>
                <a:path h="111179" w="109654">
                  <a:moveTo>
                    <a:pt x="0" y="0"/>
                  </a:moveTo>
                  <a:lnTo>
                    <a:pt x="109654" y="0"/>
                  </a:lnTo>
                  <a:lnTo>
                    <a:pt x="109654" y="111179"/>
                  </a:lnTo>
                  <a:lnTo>
                    <a:pt x="0" y="1111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9654" cy="1492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828995" y="995045"/>
            <a:ext cx="2507341" cy="384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4"/>
              </a:lnSpc>
              <a:spcBef>
                <a:spcPct val="0"/>
              </a:spcBef>
            </a:pPr>
            <a:r>
              <a:rPr lang="en-US" sz="211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Paucek &amp; Lage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21254" y="1044575"/>
            <a:ext cx="1330251" cy="33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70091" y="1044575"/>
            <a:ext cx="1330251" cy="33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 b="true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About 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467042" y="1044575"/>
            <a:ext cx="1330251" cy="33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 b="true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Project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882037" y="1044575"/>
            <a:ext cx="1330251" cy="33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 b="true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Contact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5547162" y="8907433"/>
            <a:ext cx="2013598" cy="701734"/>
            <a:chOff x="0" y="0"/>
            <a:chExt cx="530330" cy="1848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0330" cy="184819"/>
            </a:xfrm>
            <a:custGeom>
              <a:avLst/>
              <a:gdLst/>
              <a:ahLst/>
              <a:cxnLst/>
              <a:rect r="r" b="b" t="t" l="l"/>
              <a:pathLst>
                <a:path h="184819" w="530330">
                  <a:moveTo>
                    <a:pt x="0" y="0"/>
                  </a:moveTo>
                  <a:lnTo>
                    <a:pt x="530330" y="0"/>
                  </a:lnTo>
                  <a:lnTo>
                    <a:pt x="530330" y="184819"/>
                  </a:lnTo>
                  <a:lnTo>
                    <a:pt x="0" y="1848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30330" cy="2229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6040979" y="9057541"/>
            <a:ext cx="1330251" cy="33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 b="true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End Slide</a:t>
            </a:r>
          </a:p>
        </p:txBody>
      </p:sp>
      <p:grpSp>
        <p:nvGrpSpPr>
          <p:cNvPr name="Group 18" id="18"/>
          <p:cNvGrpSpPr/>
          <p:nvPr/>
        </p:nvGrpSpPr>
        <p:grpSpPr>
          <a:xfrm rot="985282">
            <a:off x="4182882" y="2271599"/>
            <a:ext cx="5743654" cy="574365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41000"/>
                  </a:srgbClr>
                </a:gs>
                <a:gs pos="100000">
                  <a:srgbClr val="94B9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7538965">
            <a:off x="10139692" y="2271599"/>
            <a:ext cx="5743654" cy="574365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41000"/>
                  </a:srgbClr>
                </a:gs>
                <a:gs pos="100000">
                  <a:srgbClr val="94B9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501542" y="3756804"/>
            <a:ext cx="5284917" cy="171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7"/>
              </a:lnSpc>
            </a:pPr>
            <a:r>
              <a:rPr lang="en-US" sz="12242">
                <a:solidFill>
                  <a:srgbClr val="FFFFFF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Thank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501542" y="4959416"/>
            <a:ext cx="5284917" cy="171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7"/>
              </a:lnSpc>
            </a:pPr>
            <a:r>
              <a:rPr lang="en-US" sz="12242" b="true">
                <a:solidFill>
                  <a:srgbClr val="FFFFFF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You!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DAG73ikFsqU</dc:identifier>
  <dcterms:modified xsi:type="dcterms:W3CDTF">2011-08-01T06:04:30Z</dcterms:modified>
  <cp:revision>1</cp:revision>
  <dc:title>Navy and Blue Modern Professional Social Media Strategy Presentation</dc:title>
</cp:coreProperties>
</file>