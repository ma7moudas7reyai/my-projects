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20000"/>
            <a:ext cx="12192000" cy="7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90000" y="96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4300">
                <a:solidFill>
                  <a:srgbClr val="115E59"/>
                </a:solidFill>
                <a:b/>
              </a:rPr>
              <a:t>Spam Detection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90000" y="151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4300">
                <a:solidFill>
                  <a:srgbClr val="111827"/>
                </a:solidFill>
                <a:b/>
              </a:rPr>
              <a:t>System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2940000"/>
            <a:ext cx="3350000" cy="23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60000" y="2940000"/>
            <a:ext cx="335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20000" y="3200000"/>
            <a:ext cx="283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Course Doctors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040000" y="3640000"/>
            <a:ext cx="2790000" cy="15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Dr. Wafaa Samy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Dr. Mohamed Zedan</a:t>
            </a:r>
          </a:p>
        </p:txBody>
      </p:sp>
      <p:sp>
        <p:nvSpPr>
          <p:cNvPr id="20" name="Shape 20"/>
          <p:cNvSpPr/>
          <p:nvPr/>
        </p:nvSpPr>
        <p:spPr>
          <a:xfrm>
            <a:off x="4420000" y="2940000"/>
            <a:ext cx="3350000" cy="23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20000" y="2940000"/>
            <a:ext cx="335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680000" y="3200000"/>
            <a:ext cx="283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Teaching Assistants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00000" y="3640000"/>
            <a:ext cx="2790000" cy="15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Eng. Basma Bassem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Eng. Mohamed Ehab</a:t>
            </a:r>
          </a:p>
        </p:txBody>
      </p:sp>
      <p:sp>
        <p:nvSpPr>
          <p:cNvPr id="30" name="Shape 30"/>
          <p:cNvSpPr/>
          <p:nvPr/>
        </p:nvSpPr>
        <p:spPr>
          <a:xfrm>
            <a:off x="8080000" y="2940000"/>
            <a:ext cx="3350000" cy="23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080000" y="2940000"/>
            <a:ext cx="335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40000" y="3200000"/>
            <a:ext cx="283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Team Members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330000" y="370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>
                <a:solidFill>
                  <a:srgbClr val="334155"/>
                </a:solidFill>
              </a:rPr>
              <a:t>Mahmoud Ashrey</a:t>
            </a:r>
          </a:p>
          <a:p>
            <a:pPr algn="l"/>
            <a:r>
              <a:rPr lang="en-US" sz="1350">
                <a:solidFill>
                  <a:srgbClr val="334155"/>
                </a:solidFill>
              </a:rPr>
              <a:t>Fares Abdulrahman</a:t>
            </a:r>
          </a:p>
          <a:p>
            <a:pPr algn="l"/>
            <a:r>
              <a:rPr lang="en-US" sz="1350">
                <a:solidFill>
                  <a:srgbClr val="334155"/>
                </a:solidFill>
              </a:rPr>
              <a:t>Alyaa Hesham</a:t>
            </a:r>
          </a:p>
        </p:txBody>
      </p:sp>
      <p:sp>
        <p:nvSpPr>
          <p:cNvPr id="34" name="Paragraphs 34"/>
          <p:cNvSpPr txBox="1"/>
          <p:nvPr/>
        </p:nvSpPr>
        <p:spPr>
          <a:xfrm>
            <a:off x="9860000" y="3700000"/>
            <a:ext cx="13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>
                <a:solidFill>
                  <a:srgbClr val="334155"/>
                </a:solidFill>
              </a:rPr>
              <a:t>Mariam Metwally</a:t>
            </a:r>
          </a:p>
          <a:p>
            <a:pPr algn="l"/>
            <a:r>
              <a:rPr lang="en-US" sz="1350">
                <a:solidFill>
                  <a:srgbClr val="334155"/>
                </a:solidFill>
              </a:rPr>
              <a:t>Sama Wael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2000000" y="5790000"/>
            <a:ext cx="82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>
                <a:solidFill>
                  <a:srgbClr val="64748B"/>
                </a:solidFill>
              </a:rPr>
              <a:t>Natural Language Processing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000000" y="2200000"/>
            <a:ext cx="10200000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4100">
                <a:solidFill>
                  <a:srgbClr val="FFFFFF"/>
                </a:solidFill>
                <a:b/>
              </a:rPr>
              <a:t>Project Idea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700000" y="3020000"/>
            <a:ext cx="8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CCFBF1"/>
                </a:solidFill>
              </a:rPr>
              <a:t>An NLP system for detecting unwanted spam messages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Project Overview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03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Goal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Classify text messages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Spam or Not Spam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Approach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Text cleaning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TF-IDF features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Five classifiers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Output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Model comparison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Final voting decision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Main Project Files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04</a:t>
            </a:r>
          </a:p>
        </p:txBody>
      </p:sp>
      <p:sp>
        <p:nvSpPr>
          <p:cNvPr id="10" name="Shape 10"/>
          <p:cNvSpPr/>
          <p:nvPr/>
        </p:nvSpPr>
        <p:spPr>
          <a:xfrm>
            <a:off x="820000" y="1220000"/>
            <a:ext cx="5100000" cy="1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20000" y="1220000"/>
            <a:ext cx="51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80000" y="1480000"/>
            <a:ext cx="45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Training Script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00000" y="1920000"/>
            <a:ext cx="454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Spam Detection.py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Training, evaluation, saving models</a:t>
            </a:r>
          </a:p>
        </p:txBody>
      </p:sp>
      <p:sp>
        <p:nvSpPr>
          <p:cNvPr id="20" name="Shape 20"/>
          <p:cNvSpPr/>
          <p:nvPr/>
        </p:nvSpPr>
        <p:spPr>
          <a:xfrm>
            <a:off x="6290000" y="1220000"/>
            <a:ext cx="5100000" cy="1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290000" y="1220000"/>
            <a:ext cx="51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550000" y="1480000"/>
            <a:ext cx="45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GUI Script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6570000" y="1920000"/>
            <a:ext cx="454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gui.py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Input, predictions, final vote</a:t>
            </a:r>
          </a:p>
        </p:txBody>
      </p:sp>
      <p:sp>
        <p:nvSpPr>
          <p:cNvPr id="30" name="Shape 30"/>
          <p:cNvSpPr/>
          <p:nvPr/>
        </p:nvSpPr>
        <p:spPr>
          <a:xfrm>
            <a:off x="820000" y="3420000"/>
            <a:ext cx="5100000" cy="1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20000" y="3420000"/>
            <a:ext cx="51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1080000" y="3680000"/>
            <a:ext cx="45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Alternative GUI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1100000" y="4120000"/>
            <a:ext cx="454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Spam Detection GUI.py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Dark interface with result area</a:t>
            </a:r>
          </a:p>
        </p:txBody>
      </p:sp>
      <p:sp>
        <p:nvSpPr>
          <p:cNvPr id="40" name="Shape 40"/>
          <p:cNvSpPr/>
          <p:nvPr/>
        </p:nvSpPr>
        <p:spPr>
          <a:xfrm>
            <a:off x="6290000" y="3420000"/>
            <a:ext cx="5100000" cy="1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290000" y="3420000"/>
            <a:ext cx="5100000" cy="115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6550000" y="3680000"/>
            <a:ext cx="45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16A34A"/>
                </a:solidFill>
                <a:b/>
              </a:rPr>
              <a:t>Saved Models</a:t>
            </a:r>
          </a:p>
        </p:txBody>
      </p:sp>
      <p:sp>
        <p:nvSpPr>
          <p:cNvPr id="43" name="Paragraphs 43"/>
          <p:cNvSpPr txBox="1"/>
          <p:nvPr/>
        </p:nvSpPr>
        <p:spPr>
          <a:xfrm>
            <a:off x="6570000" y="4120000"/>
            <a:ext cx="454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vectorizer.pkl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lr, nb, svm, dt, rf model files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Dataset Summary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05</a:t>
            </a:r>
          </a:p>
        </p:txBody>
      </p:sp>
      <p:sp>
        <p:nvSpPr>
          <p:cNvPr id="10" name="Shape 10"/>
          <p:cNvSpPr/>
          <p:nvPr/>
        </p:nvSpPr>
        <p:spPr>
          <a:xfrm>
            <a:off x="790000" y="1780000"/>
            <a:ext cx="2300000" cy="17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40000" y="209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3300">
                <a:solidFill>
                  <a:srgbClr val="0F766E"/>
                </a:solidFill>
                <a:b/>
              </a:rPr>
              <a:t>5572</a:t>
            </a:r>
          </a:p>
        </p:txBody>
      </p:sp>
      <p:sp>
        <p:nvSpPr>
          <p:cNvPr id="12" name="Paragraphs 12"/>
          <p:cNvSpPr txBox="1"/>
          <p:nvPr/>
        </p:nvSpPr>
        <p:spPr>
          <a:xfrm>
            <a:off x="940000" y="271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50">
                <a:solidFill>
                  <a:srgbClr val="334155"/>
                </a:solidFill>
              </a:rPr>
              <a:t>Original</a:t>
            </a:r>
          </a:p>
          <a:p>
            <a:pPr algn="ctr"/>
            <a:r>
              <a:rPr lang="en-US" sz="1350">
                <a:solidFill>
                  <a:srgbClr val="334155"/>
                </a:solidFill>
              </a:rPr>
              <a:t>messages</a:t>
            </a:r>
          </a:p>
        </p:txBody>
      </p:sp>
      <p:sp>
        <p:nvSpPr>
          <p:cNvPr id="15" name="Shape 15"/>
          <p:cNvSpPr/>
          <p:nvPr/>
        </p:nvSpPr>
        <p:spPr>
          <a:xfrm>
            <a:off x="3600000" y="1780000"/>
            <a:ext cx="2300000" cy="17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3750000" y="209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3300">
                <a:solidFill>
                  <a:srgbClr val="2563EB"/>
                </a:solidFill>
                <a:b/>
              </a:rPr>
              <a:t>5169</a:t>
            </a:r>
          </a:p>
        </p:txBody>
      </p:sp>
      <p:sp>
        <p:nvSpPr>
          <p:cNvPr id="17" name="Paragraphs 17"/>
          <p:cNvSpPr txBox="1"/>
          <p:nvPr/>
        </p:nvSpPr>
        <p:spPr>
          <a:xfrm>
            <a:off x="3750000" y="271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50">
                <a:solidFill>
                  <a:srgbClr val="334155"/>
                </a:solidFill>
              </a:rPr>
              <a:t>After duplicate</a:t>
            </a:r>
          </a:p>
          <a:p>
            <a:pPr algn="ctr"/>
            <a:r>
              <a:rPr lang="en-US" sz="1350">
                <a:solidFill>
                  <a:srgbClr val="334155"/>
                </a:solidFill>
              </a:rPr>
              <a:t>removal</a:t>
            </a:r>
          </a:p>
        </p:txBody>
      </p:sp>
      <p:sp>
        <p:nvSpPr>
          <p:cNvPr id="20" name="Shape 20"/>
          <p:cNvSpPr/>
          <p:nvPr/>
        </p:nvSpPr>
        <p:spPr>
          <a:xfrm>
            <a:off x="6410000" y="1780000"/>
            <a:ext cx="2300000" cy="17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560000" y="209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3300">
                <a:solidFill>
                  <a:srgbClr val="16A34A"/>
                </a:solidFill>
                <a:b/>
              </a:rPr>
              <a:t>4825</a:t>
            </a:r>
          </a:p>
        </p:txBody>
      </p:sp>
      <p:sp>
        <p:nvSpPr>
          <p:cNvPr id="22" name="Paragraphs 22"/>
          <p:cNvSpPr txBox="1"/>
          <p:nvPr/>
        </p:nvSpPr>
        <p:spPr>
          <a:xfrm>
            <a:off x="6560000" y="271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50">
                <a:solidFill>
                  <a:srgbClr val="334155"/>
                </a:solidFill>
              </a:rPr>
              <a:t>Ham</a:t>
            </a:r>
          </a:p>
          <a:p>
            <a:pPr algn="ctr"/>
            <a:r>
              <a:rPr lang="en-US" sz="1350">
                <a:solidFill>
                  <a:srgbClr val="334155"/>
                </a:solidFill>
              </a:rPr>
              <a:t>messages</a:t>
            </a:r>
          </a:p>
        </p:txBody>
      </p:sp>
      <p:sp>
        <p:nvSpPr>
          <p:cNvPr id="25" name="Shape 25"/>
          <p:cNvSpPr/>
          <p:nvPr/>
        </p:nvSpPr>
        <p:spPr>
          <a:xfrm>
            <a:off x="9220000" y="1780000"/>
            <a:ext cx="2300000" cy="170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9370000" y="209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3300">
                <a:solidFill>
                  <a:srgbClr val="DC2626"/>
                </a:solidFill>
                <a:b/>
              </a:rPr>
              <a:t>747</a:t>
            </a:r>
          </a:p>
        </p:txBody>
      </p:sp>
      <p:sp>
        <p:nvSpPr>
          <p:cNvPr id="27" name="Paragraphs 27"/>
          <p:cNvSpPr txBox="1"/>
          <p:nvPr/>
        </p:nvSpPr>
        <p:spPr>
          <a:xfrm>
            <a:off x="9370000" y="2710000"/>
            <a:ext cx="20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50">
                <a:solidFill>
                  <a:srgbClr val="334155"/>
                </a:solidFill>
              </a:rPr>
              <a:t>Spam</a:t>
            </a:r>
          </a:p>
          <a:p>
            <a:pPr algn="ctr"/>
            <a:r>
              <a:rPr lang="en-US" sz="1350">
                <a:solidFill>
                  <a:srgbClr val="334155"/>
                </a:solidFill>
              </a:rPr>
              <a:t>messages</a:t>
            </a:r>
          </a:p>
        </p:txBody>
      </p:sp>
      <p:sp>
        <p:nvSpPr>
          <p:cNvPr id="40" name="Shape 40"/>
          <p:cNvSpPr/>
          <p:nvPr/>
        </p:nvSpPr>
        <p:spPr>
          <a:xfrm>
            <a:off x="1780000" y="4380000"/>
            <a:ext cx="865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980000" y="4555000"/>
            <a:ext cx="82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64748B"/>
                </a:solidFill>
              </a:rPr>
              <a:t>Dataset: spam_email_dataset.csv     Columns: v1 = label, v2 = message text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Training Pipeline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06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1165000" y="1890000"/>
            <a:ext cx="430000" cy="430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6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69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Load dataset</a:t>
            </a:r>
          </a:p>
        </p:txBody>
      </p:sp>
      <p:sp>
        <p:nvSpPr>
          <p:cNvPr id="16" name="Shape 16"/>
          <p:cNvSpPr/>
          <p:nvPr/>
        </p:nvSpPr>
        <p:spPr>
          <a:xfrm>
            <a:off x="377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7" name="Shape 17"/>
          <p:cNvSpPr/>
          <p:nvPr/>
        </p:nvSpPr>
        <p:spPr>
          <a:xfrm>
            <a:off x="3935000" y="1890000"/>
            <a:ext cx="430000" cy="43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393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46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Clean text</a:t>
            </a:r>
          </a:p>
        </p:txBody>
      </p:sp>
      <p:sp>
        <p:nvSpPr>
          <p:cNvPr id="22" name="Shape 22"/>
          <p:cNvSpPr/>
          <p:nvPr/>
        </p:nvSpPr>
        <p:spPr>
          <a:xfrm>
            <a:off x="654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705000" y="1890000"/>
            <a:ext cx="430000" cy="43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70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23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Split data</a:t>
            </a:r>
          </a:p>
        </p:txBody>
      </p:sp>
      <p:sp>
        <p:nvSpPr>
          <p:cNvPr id="28" name="Shape 28"/>
          <p:cNvSpPr/>
          <p:nvPr/>
        </p:nvSpPr>
        <p:spPr>
          <a:xfrm>
            <a:off x="931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9" name="Shape 29"/>
          <p:cNvSpPr/>
          <p:nvPr/>
        </p:nvSpPr>
        <p:spPr>
          <a:xfrm>
            <a:off x="9475000" y="1890000"/>
            <a:ext cx="430000" cy="430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947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00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Fit TF-IDF</a:t>
            </a:r>
          </a:p>
        </p:txBody>
      </p:sp>
      <p:sp>
        <p:nvSpPr>
          <p:cNvPr id="34" name="Shape 34"/>
          <p:cNvSpPr/>
          <p:nvPr/>
        </p:nvSpPr>
        <p:spPr>
          <a:xfrm>
            <a:off x="235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5" name="Shape 35"/>
          <p:cNvSpPr/>
          <p:nvPr/>
        </p:nvSpPr>
        <p:spPr>
          <a:xfrm>
            <a:off x="2515000" y="3340000"/>
            <a:ext cx="430000" cy="430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251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5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04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Train models</a:t>
            </a:r>
          </a:p>
        </p:txBody>
      </p:sp>
      <p:sp>
        <p:nvSpPr>
          <p:cNvPr id="40" name="Shape 40"/>
          <p:cNvSpPr/>
          <p:nvPr/>
        </p:nvSpPr>
        <p:spPr>
          <a:xfrm>
            <a:off x="512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5285000" y="3340000"/>
            <a:ext cx="430000" cy="430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28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6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81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Evaluate</a:t>
            </a:r>
          </a:p>
        </p:txBody>
      </p:sp>
      <p:sp>
        <p:nvSpPr>
          <p:cNvPr id="46" name="Shape 46"/>
          <p:cNvSpPr/>
          <p:nvPr/>
        </p:nvSpPr>
        <p:spPr>
          <a:xfrm>
            <a:off x="789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7" name="Shape 47"/>
          <p:cNvSpPr/>
          <p:nvPr/>
        </p:nvSpPr>
        <p:spPr>
          <a:xfrm>
            <a:off x="8055000" y="3340000"/>
            <a:ext cx="430000" cy="43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805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7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58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Save artifacts</a:t>
            </a:r>
          </a:p>
        </p:txBody>
      </p:sp>
      <p:sp>
        <p:nvSpPr>
          <p:cNvPr id="80" name="Shape 80"/>
          <p:cNvSpPr/>
          <p:nvPr/>
        </p:nvSpPr>
        <p:spPr>
          <a:xfrm>
            <a:off x="2080000" y="4820000"/>
            <a:ext cx="8040000" cy="5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2300000" y="4980000"/>
            <a:ext cx="7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2563EB"/>
                </a:solidFill>
                <a:b/>
              </a:rPr>
              <a:t>The code splits the data before fitting TF-IDF to avoid data leakage.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Data Preparation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07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Columns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Use v1 and v2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Rename to label and text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Labels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ham becomes 0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spam becomes 1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Cleanup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Remove duplicates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Print label distribution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Text Cleaning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08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Normalize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Lowercase text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Split words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Remove Noise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URLs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Numbers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Special characters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Stopwords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NLTK English stopwords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Keep useful terms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Train/Test And TF-IDF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09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Split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80% training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20% testing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stratify = y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No Leakage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Split first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Fit vectorizer on training only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Features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TfidfVectorizer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max_features = 3000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Sparse matrix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Machine Learning Models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10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50000"/>
            <a:ext cx="1800000" cy="3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1360000" y="2030000"/>
            <a:ext cx="780000" cy="780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360000" y="2245000"/>
            <a:ext cx="7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FFFFFF"/>
                </a:solidFill>
                <a:b/>
              </a:rPr>
              <a:t>LR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00000" y="3180000"/>
            <a:ext cx="1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111827"/>
                </a:solidFill>
                <a:b/>
              </a:rPr>
              <a:t>Logistic Regression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00000" y="385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50">
                <a:solidFill>
                  <a:srgbClr val="64748B"/>
                </a:solidFill>
              </a:rPr>
              <a:t>balanced</a:t>
            </a:r>
          </a:p>
        </p:txBody>
      </p:sp>
      <p:sp>
        <p:nvSpPr>
          <p:cNvPr id="16" name="Shape 16"/>
          <p:cNvSpPr/>
          <p:nvPr/>
        </p:nvSpPr>
        <p:spPr>
          <a:xfrm>
            <a:off x="3040000" y="1650000"/>
            <a:ext cx="1800000" cy="3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7" name="Shape 17"/>
          <p:cNvSpPr/>
          <p:nvPr/>
        </p:nvSpPr>
        <p:spPr>
          <a:xfrm>
            <a:off x="3550000" y="2030000"/>
            <a:ext cx="780000" cy="7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3550000" y="2245000"/>
            <a:ext cx="7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FFFFFF"/>
                </a:solidFill>
                <a:b/>
              </a:rPr>
              <a:t>NB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190000" y="3180000"/>
            <a:ext cx="1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111827"/>
                </a:solidFill>
                <a:b/>
              </a:rPr>
              <a:t>Naive Bayes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190000" y="385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50">
                <a:solidFill>
                  <a:srgbClr val="64748B"/>
                </a:solidFill>
              </a:rPr>
              <a:t>MultinomialNB</a:t>
            </a:r>
          </a:p>
        </p:txBody>
      </p:sp>
      <p:sp>
        <p:nvSpPr>
          <p:cNvPr id="22" name="Shape 22"/>
          <p:cNvSpPr/>
          <p:nvPr/>
        </p:nvSpPr>
        <p:spPr>
          <a:xfrm>
            <a:off x="5230000" y="1650000"/>
            <a:ext cx="1800000" cy="3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Shape 23"/>
          <p:cNvSpPr/>
          <p:nvPr/>
        </p:nvSpPr>
        <p:spPr>
          <a:xfrm>
            <a:off x="5740000" y="2030000"/>
            <a:ext cx="780000" cy="78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740000" y="2245000"/>
            <a:ext cx="7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FFFFFF"/>
                </a:solidFill>
                <a:b/>
              </a:rPr>
              <a:t>SVM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380000" y="3180000"/>
            <a:ext cx="1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111827"/>
                </a:solidFill>
                <a:b/>
              </a:rPr>
              <a:t>Support Vector Machine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380000" y="385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50">
                <a:solidFill>
                  <a:srgbClr val="64748B"/>
                </a:solidFill>
              </a:rPr>
              <a:t>balanced</a:t>
            </a:r>
          </a:p>
        </p:txBody>
      </p:sp>
      <p:sp>
        <p:nvSpPr>
          <p:cNvPr id="28" name="Shape 28"/>
          <p:cNvSpPr/>
          <p:nvPr/>
        </p:nvSpPr>
        <p:spPr>
          <a:xfrm>
            <a:off x="7420000" y="1650000"/>
            <a:ext cx="1800000" cy="3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930000" y="2030000"/>
            <a:ext cx="780000" cy="780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930000" y="2245000"/>
            <a:ext cx="7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FFFFFF"/>
                </a:solidFill>
                <a:b/>
              </a:rPr>
              <a:t>DT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570000" y="3180000"/>
            <a:ext cx="1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111827"/>
                </a:solidFill>
                <a:b/>
              </a:rPr>
              <a:t>Decision Tree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570000" y="385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50">
                <a:solidFill>
                  <a:srgbClr val="64748B"/>
                </a:solidFill>
              </a:rPr>
              <a:t>balanced</a:t>
            </a:r>
          </a:p>
        </p:txBody>
      </p:sp>
      <p:sp>
        <p:nvSpPr>
          <p:cNvPr id="34" name="Shape 34"/>
          <p:cNvSpPr/>
          <p:nvPr/>
        </p:nvSpPr>
        <p:spPr>
          <a:xfrm>
            <a:off x="9610000" y="1650000"/>
            <a:ext cx="1800000" cy="3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5" name="Shape 35"/>
          <p:cNvSpPr/>
          <p:nvPr/>
        </p:nvSpPr>
        <p:spPr>
          <a:xfrm>
            <a:off x="10120000" y="2030000"/>
            <a:ext cx="780000" cy="780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10120000" y="2245000"/>
            <a:ext cx="7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900">
                <a:solidFill>
                  <a:srgbClr val="FFFFFF"/>
                </a:solidFill>
                <a:b/>
              </a:rPr>
              <a:t>RF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9760000" y="3180000"/>
            <a:ext cx="1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111827"/>
                </a:solidFill>
                <a:b/>
              </a:rPr>
              <a:t>Random Forest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9760000" y="385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50">
                <a:solidFill>
                  <a:srgbClr val="64748B"/>
                </a:solidFill>
              </a:rPr>
              <a:t>balanced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Evaluation Metrics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11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Accuracy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Training accuracy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Testing accuracy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Report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Precision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Recall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F1-score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Matrix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Confusion matrix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Correct and wrong predictions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Saved Files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12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Vectorizer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vectorizer.pkl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Transforms new messages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Main Models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lr.pkl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nb.pkl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svm.pkl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Tree Models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dt.pkl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rf.pkl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Prediction Workflow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13</a:t>
            </a:r>
          </a:p>
        </p:txBody>
      </p:sp>
      <p:sp>
        <p:nvSpPr>
          <p:cNvPr id="10" name="Shape 10"/>
          <p:cNvSpPr/>
          <p:nvPr/>
        </p:nvSpPr>
        <p:spPr>
          <a:xfrm>
            <a:off x="197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135000" y="1890000"/>
            <a:ext cx="430000" cy="430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213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66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Enter message</a:t>
            </a:r>
          </a:p>
        </p:txBody>
      </p:sp>
      <p:sp>
        <p:nvSpPr>
          <p:cNvPr id="16" name="Shape 16"/>
          <p:cNvSpPr/>
          <p:nvPr/>
        </p:nvSpPr>
        <p:spPr>
          <a:xfrm>
            <a:off x="474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7" name="Shape 17"/>
          <p:cNvSpPr/>
          <p:nvPr/>
        </p:nvSpPr>
        <p:spPr>
          <a:xfrm>
            <a:off x="4905000" y="1890000"/>
            <a:ext cx="430000" cy="43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90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43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Clean text</a:t>
            </a:r>
          </a:p>
        </p:txBody>
      </p:sp>
      <p:sp>
        <p:nvSpPr>
          <p:cNvPr id="22" name="Shape 22"/>
          <p:cNvSpPr/>
          <p:nvPr/>
        </p:nvSpPr>
        <p:spPr>
          <a:xfrm>
            <a:off x="7510000" y="170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Shape 23"/>
          <p:cNvSpPr/>
          <p:nvPr/>
        </p:nvSpPr>
        <p:spPr>
          <a:xfrm>
            <a:off x="7675000" y="1890000"/>
            <a:ext cx="430000" cy="43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675000" y="198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200000" y="195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Apply TF-IDF</a:t>
            </a:r>
          </a:p>
        </p:txBody>
      </p:sp>
      <p:sp>
        <p:nvSpPr>
          <p:cNvPr id="28" name="Shape 28"/>
          <p:cNvSpPr/>
          <p:nvPr/>
        </p:nvSpPr>
        <p:spPr>
          <a:xfrm>
            <a:off x="235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9" name="Shape 29"/>
          <p:cNvSpPr/>
          <p:nvPr/>
        </p:nvSpPr>
        <p:spPr>
          <a:xfrm>
            <a:off x="2515000" y="3340000"/>
            <a:ext cx="430000" cy="430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251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04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Predict</a:t>
            </a:r>
          </a:p>
        </p:txBody>
      </p:sp>
      <p:sp>
        <p:nvSpPr>
          <p:cNvPr id="34" name="Shape 34"/>
          <p:cNvSpPr/>
          <p:nvPr/>
        </p:nvSpPr>
        <p:spPr>
          <a:xfrm>
            <a:off x="512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5" name="Shape 35"/>
          <p:cNvSpPr/>
          <p:nvPr/>
        </p:nvSpPr>
        <p:spPr>
          <a:xfrm>
            <a:off x="5285000" y="3340000"/>
            <a:ext cx="430000" cy="430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528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5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81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Display results</a:t>
            </a:r>
          </a:p>
        </p:txBody>
      </p:sp>
      <p:sp>
        <p:nvSpPr>
          <p:cNvPr id="40" name="Shape 40"/>
          <p:cNvSpPr/>
          <p:nvPr/>
        </p:nvSpPr>
        <p:spPr>
          <a:xfrm>
            <a:off x="7890000" y="3150000"/>
            <a:ext cx="23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8055000" y="3340000"/>
            <a:ext cx="430000" cy="430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055000" y="343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FFFFFF"/>
                </a:solidFill>
                <a:b/>
              </a:rPr>
              <a:t>6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580000" y="3405000"/>
            <a:ext cx="149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500">
                <a:solidFill>
                  <a:srgbClr val="111827"/>
                </a:solidFill>
                <a:b/>
              </a:rPr>
              <a:t>Final vote</a:t>
            </a:r>
          </a:p>
        </p:txBody>
      </p:sp>
      <p:sp>
        <p:nvSpPr>
          <p:cNvPr id="80" name="Shape 80"/>
          <p:cNvSpPr/>
          <p:nvPr/>
        </p:nvSpPr>
        <p:spPr>
          <a:xfrm>
            <a:off x="2080000" y="4820000"/>
            <a:ext cx="8040000" cy="5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2300000" y="4980000"/>
            <a:ext cx="7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00">
                <a:solidFill>
                  <a:srgbClr val="2563EB"/>
                </a:solidFill>
                <a:b/>
              </a:rPr>
              <a:t>The GUI uses the same preprocessing and saved model files created by the training script.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GUI Features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14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Input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Message text area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Empty input warning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Controls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Process button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Paste support in gui.py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Results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Colored model outputs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Final voting result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Example Test Cases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15</a:t>
            </a:r>
          </a:p>
        </p:txBody>
      </p:sp>
      <p:sp>
        <p:nvSpPr>
          <p:cNvPr id="10" name="Shape 10"/>
          <p:cNvSpPr/>
          <p:nvPr/>
        </p:nvSpPr>
        <p:spPr>
          <a:xfrm>
            <a:off x="1250000" y="1250000"/>
            <a:ext cx="9700000" cy="62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600000" y="1435000"/>
            <a:ext cx="63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>
                <a:solidFill>
                  <a:srgbClr val="111827"/>
                </a:solidFill>
              </a:rPr>
              <a:t>Congratulations! You won $5000</a:t>
            </a:r>
          </a:p>
        </p:txBody>
      </p:sp>
      <p:sp>
        <p:nvSpPr>
          <p:cNvPr id="12" name="Shape 12"/>
          <p:cNvSpPr/>
          <p:nvPr/>
        </p:nvSpPr>
        <p:spPr>
          <a:xfrm>
            <a:off x="8350000" y="1415000"/>
            <a:ext cx="1700000" cy="290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350000" y="1415000"/>
            <a:ext cx="17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200">
                <a:solidFill>
                  <a:srgbClr val="FFFFFF"/>
                </a:solidFill>
                <a:b/>
              </a:rPr>
              <a:t>Spam</a:t>
            </a:r>
          </a:p>
        </p:txBody>
      </p:sp>
      <p:sp>
        <p:nvSpPr>
          <p:cNvPr id="16" name="Shape 16"/>
          <p:cNvSpPr/>
          <p:nvPr/>
        </p:nvSpPr>
        <p:spPr>
          <a:xfrm>
            <a:off x="1250000" y="2220000"/>
            <a:ext cx="9700000" cy="6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1600000" y="2405000"/>
            <a:ext cx="63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>
                <a:solidFill>
                  <a:srgbClr val="111827"/>
                </a:solidFill>
              </a:rPr>
              <a:t>Hi, where are you now?</a:t>
            </a:r>
          </a:p>
        </p:txBody>
      </p:sp>
      <p:sp>
        <p:nvSpPr>
          <p:cNvPr id="18" name="Shape 18"/>
          <p:cNvSpPr/>
          <p:nvPr/>
        </p:nvSpPr>
        <p:spPr>
          <a:xfrm>
            <a:off x="8350000" y="2385000"/>
            <a:ext cx="1700000" cy="29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50000" y="2385000"/>
            <a:ext cx="17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200">
                <a:solidFill>
                  <a:srgbClr val="FFFFFF"/>
                </a:solidFill>
                <a:b/>
              </a:rPr>
              <a:t>Not Spam</a:t>
            </a:r>
          </a:p>
        </p:txBody>
      </p:sp>
      <p:sp>
        <p:nvSpPr>
          <p:cNvPr id="22" name="Shape 22"/>
          <p:cNvSpPr/>
          <p:nvPr/>
        </p:nvSpPr>
        <p:spPr>
          <a:xfrm>
            <a:off x="1250000" y="3190000"/>
            <a:ext cx="9700000" cy="62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600000" y="3375000"/>
            <a:ext cx="63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>
                <a:solidFill>
                  <a:srgbClr val="111827"/>
                </a:solidFill>
              </a:rPr>
              <a:t>Free entry in a contest now</a:t>
            </a:r>
          </a:p>
        </p:txBody>
      </p:sp>
      <p:sp>
        <p:nvSpPr>
          <p:cNvPr id="24" name="Shape 24"/>
          <p:cNvSpPr/>
          <p:nvPr/>
        </p:nvSpPr>
        <p:spPr>
          <a:xfrm>
            <a:off x="8350000" y="3355000"/>
            <a:ext cx="1700000" cy="290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350000" y="3355000"/>
            <a:ext cx="17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200">
                <a:solidFill>
                  <a:srgbClr val="FFFFFF"/>
                </a:solidFill>
                <a:b/>
              </a:rPr>
              <a:t>Spam</a:t>
            </a:r>
          </a:p>
        </p:txBody>
      </p:sp>
      <p:sp>
        <p:nvSpPr>
          <p:cNvPr id="28" name="Shape 28"/>
          <p:cNvSpPr/>
          <p:nvPr/>
        </p:nvSpPr>
        <p:spPr>
          <a:xfrm>
            <a:off x="1250000" y="4160000"/>
            <a:ext cx="9700000" cy="6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1600000" y="4345000"/>
            <a:ext cx="63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>
                <a:solidFill>
                  <a:srgbClr val="111827"/>
                </a:solidFill>
              </a:rPr>
              <a:t>Let's meet tomorrow</a:t>
            </a:r>
          </a:p>
        </p:txBody>
      </p:sp>
      <p:sp>
        <p:nvSpPr>
          <p:cNvPr id="30" name="Shape 30"/>
          <p:cNvSpPr/>
          <p:nvPr/>
        </p:nvSpPr>
        <p:spPr>
          <a:xfrm>
            <a:off x="8350000" y="4325000"/>
            <a:ext cx="1700000" cy="29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350000" y="4325000"/>
            <a:ext cx="17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1200">
                <a:solidFill>
                  <a:srgbClr val="FFFFFF"/>
                </a:solidFill>
                <a:b/>
              </a:rPr>
              <a:t>Not Spam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Future Improvements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16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0000" y="1600000"/>
            <a:ext cx="3200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1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0F766E"/>
                </a:solidFill>
                <a:b/>
              </a:rPr>
              <a:t>Language</a:t>
            </a:r>
          </a:p>
        </p:txBody>
      </p:sp>
      <p:sp>
        <p:nvSpPr>
          <p:cNvPr id="13" name="Paragraphs 13"/>
          <p:cNvSpPr txBox="1"/>
          <p:nvPr/>
        </p:nvSpPr>
        <p:spPr>
          <a:xfrm>
            <a:off x="113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Arabic spam detection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Multilingual preprocessing</a:t>
            </a:r>
          </a:p>
        </p:txBody>
      </p:sp>
      <p:sp>
        <p:nvSpPr>
          <p:cNvPr id="20" name="Shape 20"/>
          <p:cNvSpPr/>
          <p:nvPr/>
        </p:nvSpPr>
        <p:spPr>
          <a:xfrm>
            <a:off x="449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90000" y="1600000"/>
            <a:ext cx="3200000" cy="11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5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2563EB"/>
                </a:solidFill>
                <a:b/>
              </a:rPr>
              <a:t>Deployment</a:t>
            </a:r>
          </a:p>
        </p:txBody>
      </p:sp>
      <p:sp>
        <p:nvSpPr>
          <p:cNvPr id="23" name="Paragraphs 23"/>
          <p:cNvSpPr txBox="1"/>
          <p:nvPr/>
        </p:nvSpPr>
        <p:spPr>
          <a:xfrm>
            <a:off x="477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Web version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Live email integration</a:t>
            </a:r>
          </a:p>
        </p:txBody>
      </p:sp>
      <p:sp>
        <p:nvSpPr>
          <p:cNvPr id="30" name="Shape 30"/>
          <p:cNvSpPr/>
          <p:nvPr/>
        </p:nvSpPr>
        <p:spPr>
          <a:xfrm>
            <a:off x="8130000" y="1600000"/>
            <a:ext cx="3200000" cy="3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0000" y="1600000"/>
            <a:ext cx="3200000" cy="11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90000" y="186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800">
                <a:solidFill>
                  <a:srgbClr val="F59E0B"/>
                </a:solidFill>
                <a:b/>
              </a:rPr>
              <a:t>Modeling</a:t>
            </a:r>
          </a:p>
        </p:txBody>
      </p:sp>
      <p:sp>
        <p:nvSpPr>
          <p:cNvPr id="33" name="Paragraphs 33"/>
          <p:cNvSpPr txBox="1"/>
          <p:nvPr/>
        </p:nvSpPr>
        <p:spPr>
          <a:xfrm>
            <a:off x="8410000" y="2300000"/>
            <a:ext cx="264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>
                <a:solidFill>
                  <a:srgbClr val="334155"/>
                </a:solidFill>
              </a:rPr>
              <a:t>Deep learning</a:t>
            </a:r>
          </a:p>
          <a:p>
            <a:pPr algn="ctr"/>
            <a:r>
              <a:rPr lang="en-US" sz="1500">
                <a:solidFill>
                  <a:srgbClr val="334155"/>
                </a:solidFill>
              </a:rPr>
              <a:t>More tuning and validation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20000"/>
            <a:ext cx="12192000" cy="7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0000" y="155000"/>
            <a:ext cx="8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550">
                <a:solidFill>
                  <a:srgbClr val="FFFFFF"/>
                </a:solidFill>
                <a:b/>
              </a:rPr>
              <a:t>Conclusion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150000" y="168000"/>
            <a:ext cx="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500">
                <a:solidFill>
                  <a:srgbClr val="D1FAE5"/>
                </a:solidFill>
                <a:b/>
              </a:rPr>
              <a:t>17</a:t>
            </a:r>
          </a:p>
        </p:txBody>
      </p:sp>
      <p:sp>
        <p:nvSpPr>
          <p:cNvPr id="10" name="Shape 10"/>
          <p:cNvSpPr/>
          <p:nvPr/>
        </p:nvSpPr>
        <p:spPr>
          <a:xfrm>
            <a:off x="1850000" y="1450000"/>
            <a:ext cx="8500000" cy="3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Paragraphs 11"/>
          <p:cNvSpPr txBox="1"/>
          <p:nvPr/>
        </p:nvSpPr>
        <p:spPr>
          <a:xfrm>
            <a:off x="2450000" y="2100000"/>
            <a:ext cx="7300000" cy="1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750">
                <a:solidFill>
                  <a:srgbClr val="334155"/>
                </a:solidFill>
              </a:rPr>
              <a:t>The project combines NLP preprocessing, TF-IDF, and machine learning.</a:t>
            </a:r>
          </a:p>
          <a:p>
            <a:pPr algn="ctr"/>
            <a:r>
              <a:rPr lang="en-US" sz="1750">
                <a:solidFill>
                  <a:srgbClr val="334155"/>
                </a:solidFill>
              </a:rPr>
              <a:t>Five classifiers are trained, evaluated, saved, and reused in the GUI.</a:t>
            </a:r>
          </a:p>
          <a:p>
            <a:pPr algn="ctr"/>
            <a:r>
              <a:rPr lang="en-US" sz="1750">
                <a:solidFill>
                  <a:srgbClr val="334155"/>
                </a:solidFill>
              </a:rPr>
              <a:t>The system gives both individual model predictions and a final vote.</a:t>
            </a:r>
          </a:p>
        </p:txBody>
      </p:sp>
      <p:sp>
        <p:nvSpPr>
          <p:cNvPr id="12" name="Shape 12"/>
          <p:cNvSpPr/>
          <p:nvPr/>
        </p:nvSpPr>
        <p:spPr>
          <a:xfrm>
            <a:off x="4050000" y="5080000"/>
            <a:ext cx="4100000" cy="45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050000" y="5190000"/>
            <a:ext cx="41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2100">
                <a:solidFill>
                  <a:srgbClr val="0F766E"/>
                </a:solidFill>
                <a:b/>
              </a:rPr>
              <a:t>Thank You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650000" y="6250000"/>
            <a:ext cx="10900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50000" y="638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64748B"/>
                </a:solidFill>
              </a:rPr>
              <a:t>Spam Detection System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0880000" y="6380000"/>
            <a:ext cx="7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050">
                <a:solidFill>
                  <a:srgbClr val="64748B"/>
                </a:solidFill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mDetectionPolished">
  <a:themeElements>
    <a:clrScheme name="Clean">
      <a:dk1>
        <a:srgbClr val="111827"/>
      </a:dk1>
      <a:lt1>
        <a:srgbClr val="FFFFFF"/>
      </a:lt1>
      <a:dk2>
        <a:srgbClr val="334155"/>
      </a:dk2>
      <a:lt2>
        <a:srgbClr val="F7FAFC"/>
      </a:lt2>
      <a:accent1>
        <a:srgbClr val="0F766E"/>
      </a:accent1>
      <a:accent2>
        <a:srgbClr val="F59E0B"/>
      </a:accent2>
      <a:accent3>
        <a:srgbClr val="2563EB"/>
      </a:accent3>
      <a:accent4>
        <a:srgbClr val="16A34A"/>
      </a:accent4>
      <a:accent5>
        <a:srgbClr val="DC2626"/>
      </a:accent5>
      <a:accent6>
        <a:srgbClr val="14B8A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Detection System Documentation</dc:title>
  <dc:creator>Codex</dc:creator>
  <cp:lastModifiedBy>Codex</cp:lastModifiedBy>
  <dcterms:created xsi:type="dcterms:W3CDTF">2026-04-30T18:48:30Z</dcterms:created>
  <dcterms:modified xsi:type="dcterms:W3CDTF">2026-04-30T18:48:30Z</dcterms:modified>
</cp:coreProperties>
</file>